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5765800" cy="3238500"/>
  <p:notesSz cx="5765800" cy="3238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3935"/>
            <a:ext cx="4900930" cy="68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FAFAF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3560"/>
            <a:ext cx="4036060" cy="809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AFAF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AFAF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4855"/>
            <a:ext cx="2508123" cy="2137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4855"/>
            <a:ext cx="2508123" cy="2137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AFAF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51421"/>
            <a:ext cx="5759450" cy="2885440"/>
          </a:xfrm>
          <a:custGeom>
            <a:avLst/>
            <a:gdLst/>
            <a:ahLst/>
            <a:cxnLst/>
            <a:rect l="l" t="t" r="r" b="b"/>
            <a:pathLst>
              <a:path w="5759450" h="2885440">
                <a:moveTo>
                  <a:pt x="0" y="2885296"/>
                </a:moveTo>
                <a:lnTo>
                  <a:pt x="5759455" y="2885296"/>
                </a:lnTo>
                <a:lnTo>
                  <a:pt x="5759455" y="0"/>
                </a:lnTo>
                <a:lnTo>
                  <a:pt x="0" y="0"/>
                </a:lnTo>
                <a:lnTo>
                  <a:pt x="0" y="2885296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28"/>
            <a:ext cx="5756910" cy="351790"/>
          </a:xfrm>
          <a:custGeom>
            <a:avLst/>
            <a:gdLst/>
            <a:ahLst/>
            <a:cxnLst/>
            <a:rect l="l" t="t" r="r" b="b"/>
            <a:pathLst>
              <a:path w="5756910" h="351790">
                <a:moveTo>
                  <a:pt x="5756812" y="351393"/>
                </a:moveTo>
                <a:lnTo>
                  <a:pt x="0" y="351393"/>
                </a:lnTo>
                <a:lnTo>
                  <a:pt x="0" y="0"/>
                </a:lnTo>
                <a:lnTo>
                  <a:pt x="5756812" y="0"/>
                </a:lnTo>
                <a:lnTo>
                  <a:pt x="5756812" y="351393"/>
                </a:lnTo>
                <a:close/>
              </a:path>
            </a:pathLst>
          </a:custGeom>
          <a:solidFill>
            <a:srgbClr val="23373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42" y="862381"/>
            <a:ext cx="3284317" cy="85677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1764" y="862381"/>
            <a:ext cx="1580280" cy="129468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51421"/>
            <a:ext cx="5759450" cy="2885440"/>
          </a:xfrm>
          <a:custGeom>
            <a:avLst/>
            <a:gdLst/>
            <a:ahLst/>
            <a:cxnLst/>
            <a:rect l="l" t="t" r="r" b="b"/>
            <a:pathLst>
              <a:path w="5759450" h="2885440">
                <a:moveTo>
                  <a:pt x="0" y="2885296"/>
                </a:moveTo>
                <a:lnTo>
                  <a:pt x="5759455" y="2885296"/>
                </a:lnTo>
                <a:lnTo>
                  <a:pt x="5759455" y="0"/>
                </a:lnTo>
                <a:lnTo>
                  <a:pt x="0" y="0"/>
                </a:lnTo>
                <a:lnTo>
                  <a:pt x="0" y="2885296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28"/>
            <a:ext cx="5756910" cy="351790"/>
          </a:xfrm>
          <a:custGeom>
            <a:avLst/>
            <a:gdLst/>
            <a:ahLst/>
            <a:cxnLst/>
            <a:rect l="l" t="t" r="r" b="b"/>
            <a:pathLst>
              <a:path w="5756910" h="351790">
                <a:moveTo>
                  <a:pt x="5756812" y="351393"/>
                </a:moveTo>
                <a:lnTo>
                  <a:pt x="0" y="351393"/>
                </a:lnTo>
                <a:lnTo>
                  <a:pt x="0" y="0"/>
                </a:lnTo>
                <a:lnTo>
                  <a:pt x="5756812" y="0"/>
                </a:lnTo>
                <a:lnTo>
                  <a:pt x="5756812" y="351393"/>
                </a:lnTo>
                <a:close/>
              </a:path>
            </a:pathLst>
          </a:custGeom>
          <a:solidFill>
            <a:srgbClr val="2337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942" y="-26074"/>
            <a:ext cx="5045499" cy="2745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FAFAF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6551" y="742570"/>
            <a:ext cx="5072696" cy="21774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1805"/>
            <a:ext cx="1845056" cy="161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1805"/>
            <a:ext cx="1326134" cy="161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151376" y="3011805"/>
            <a:ext cx="1326134" cy="161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616585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dirty="0" sz="13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000000"/>
                </a:solidFill>
                <a:latin typeface="Times New Roman"/>
                <a:cs typeface="Times New Roman"/>
              </a:rPr>
              <a:t>Economic</a:t>
            </a:r>
            <a:r>
              <a:rPr dirty="0" sz="13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000000"/>
                </a:solidFill>
                <a:latin typeface="Times New Roman"/>
                <a:cs typeface="Times New Roman"/>
              </a:rPr>
              <a:t>Impacts</a:t>
            </a:r>
            <a:r>
              <a:rPr dirty="0" sz="13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dirty="0" sz="13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000000"/>
                </a:solidFill>
                <a:latin typeface="Times New Roman"/>
                <a:cs typeface="Times New Roman"/>
              </a:rPr>
              <a:t>Flood</a:t>
            </a:r>
            <a:r>
              <a:rPr dirty="0" sz="13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r>
              <a:rPr dirty="0" sz="13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000000"/>
                </a:solidFill>
                <a:latin typeface="Times New Roman"/>
                <a:cs typeface="Times New Roman"/>
              </a:rPr>
              <a:t>Evidence</a:t>
            </a:r>
            <a:r>
              <a:rPr dirty="0" sz="13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000000"/>
                </a:solidFill>
                <a:latin typeface="Times New Roman"/>
                <a:cs typeface="Times New Roman"/>
              </a:rPr>
              <a:t>from</a:t>
            </a:r>
            <a:r>
              <a:rPr dirty="0" sz="13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000000"/>
                </a:solidFill>
                <a:latin typeface="Times New Roman"/>
                <a:cs typeface="Times New Roman"/>
              </a:rPr>
              <a:t>Eastern</a:t>
            </a:r>
            <a:r>
              <a:rPr dirty="0" sz="13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000000"/>
                </a:solidFill>
                <a:latin typeface="Times New Roman"/>
                <a:cs typeface="Times New Roman"/>
              </a:rPr>
              <a:t>India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9701" y="348502"/>
            <a:ext cx="4483100" cy="14020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000" spc="-10" b="1" i="1">
                <a:latin typeface="Times New Roman"/>
                <a:cs typeface="Times New Roman"/>
              </a:rPr>
              <a:t>ED300</a:t>
            </a: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0" b="1" i="1">
                <a:latin typeface="Times New Roman"/>
                <a:cs typeface="Times New Roman"/>
              </a:rPr>
              <a:t>Submitted</a:t>
            </a:r>
            <a:r>
              <a:rPr dirty="0" sz="1000" spc="55" b="1" i="1">
                <a:latin typeface="Times New Roman"/>
                <a:cs typeface="Times New Roman"/>
              </a:rPr>
              <a:t> </a:t>
            </a:r>
            <a:r>
              <a:rPr dirty="0" sz="1000" b="1" i="1">
                <a:latin typeface="Times New Roman"/>
                <a:cs typeface="Times New Roman"/>
              </a:rPr>
              <a:t>in</a:t>
            </a:r>
            <a:r>
              <a:rPr dirty="0" sz="1000" spc="60" b="1" i="1">
                <a:latin typeface="Times New Roman"/>
                <a:cs typeface="Times New Roman"/>
              </a:rPr>
              <a:t> </a:t>
            </a:r>
            <a:r>
              <a:rPr dirty="0" sz="1000" b="1" i="1">
                <a:latin typeface="Times New Roman"/>
                <a:cs typeface="Times New Roman"/>
              </a:rPr>
              <a:t>partial</a:t>
            </a:r>
            <a:r>
              <a:rPr dirty="0" sz="1000" spc="60" b="1" i="1">
                <a:latin typeface="Times New Roman"/>
                <a:cs typeface="Times New Roman"/>
              </a:rPr>
              <a:t> </a:t>
            </a:r>
            <a:r>
              <a:rPr dirty="0" sz="1000" b="1" i="1">
                <a:latin typeface="Times New Roman"/>
                <a:cs typeface="Times New Roman"/>
              </a:rPr>
              <a:t>fulfillment</a:t>
            </a:r>
            <a:r>
              <a:rPr dirty="0" sz="1000" spc="60" b="1" i="1">
                <a:latin typeface="Times New Roman"/>
                <a:cs typeface="Times New Roman"/>
              </a:rPr>
              <a:t> </a:t>
            </a:r>
            <a:r>
              <a:rPr dirty="0" sz="1000" b="1" i="1">
                <a:latin typeface="Times New Roman"/>
                <a:cs typeface="Times New Roman"/>
              </a:rPr>
              <a:t>of</a:t>
            </a:r>
            <a:r>
              <a:rPr dirty="0" sz="1000" spc="60" b="1" i="1">
                <a:latin typeface="Times New Roman"/>
                <a:cs typeface="Times New Roman"/>
              </a:rPr>
              <a:t> </a:t>
            </a:r>
            <a:r>
              <a:rPr dirty="0" sz="1000" b="1" i="1">
                <a:latin typeface="Times New Roman"/>
                <a:cs typeface="Times New Roman"/>
              </a:rPr>
              <a:t>the</a:t>
            </a:r>
            <a:r>
              <a:rPr dirty="0" sz="1000" spc="60" b="1" i="1">
                <a:latin typeface="Times New Roman"/>
                <a:cs typeface="Times New Roman"/>
              </a:rPr>
              <a:t> </a:t>
            </a:r>
            <a:r>
              <a:rPr dirty="0" sz="1000" b="1" i="1">
                <a:latin typeface="Times New Roman"/>
                <a:cs typeface="Times New Roman"/>
              </a:rPr>
              <a:t>requirements</a:t>
            </a:r>
            <a:r>
              <a:rPr dirty="0" sz="1000" spc="60" b="1" i="1">
                <a:latin typeface="Times New Roman"/>
                <a:cs typeface="Times New Roman"/>
              </a:rPr>
              <a:t> </a:t>
            </a:r>
            <a:r>
              <a:rPr dirty="0" sz="1000" b="1" i="1">
                <a:latin typeface="Times New Roman"/>
                <a:cs typeface="Times New Roman"/>
              </a:rPr>
              <a:t>for</a:t>
            </a:r>
            <a:r>
              <a:rPr dirty="0" sz="1000" spc="60" b="1" i="1">
                <a:latin typeface="Times New Roman"/>
                <a:cs typeface="Times New Roman"/>
              </a:rPr>
              <a:t> </a:t>
            </a:r>
            <a:r>
              <a:rPr dirty="0" sz="1000" b="1" i="1">
                <a:latin typeface="Times New Roman"/>
                <a:cs typeface="Times New Roman"/>
              </a:rPr>
              <a:t>the</a:t>
            </a:r>
            <a:r>
              <a:rPr dirty="0" sz="1000" spc="60" b="1" i="1">
                <a:latin typeface="Times New Roman"/>
                <a:cs typeface="Times New Roman"/>
              </a:rPr>
              <a:t> </a:t>
            </a:r>
            <a:r>
              <a:rPr dirty="0" sz="1000" b="1" i="1">
                <a:latin typeface="Times New Roman"/>
                <a:cs typeface="Times New Roman"/>
              </a:rPr>
              <a:t>award</a:t>
            </a:r>
            <a:r>
              <a:rPr dirty="0" sz="1000" spc="60" b="1" i="1">
                <a:latin typeface="Times New Roman"/>
                <a:cs typeface="Times New Roman"/>
              </a:rPr>
              <a:t> </a:t>
            </a:r>
            <a:r>
              <a:rPr dirty="0" sz="1000" b="1" i="1">
                <a:latin typeface="Times New Roman"/>
                <a:cs typeface="Times New Roman"/>
              </a:rPr>
              <a:t>of</a:t>
            </a:r>
            <a:r>
              <a:rPr dirty="0" sz="1000" spc="60" b="1" i="1">
                <a:latin typeface="Times New Roman"/>
                <a:cs typeface="Times New Roman"/>
              </a:rPr>
              <a:t> </a:t>
            </a:r>
            <a:r>
              <a:rPr dirty="0" sz="1000" b="1" i="1">
                <a:latin typeface="Times New Roman"/>
                <a:cs typeface="Times New Roman"/>
              </a:rPr>
              <a:t>the</a:t>
            </a:r>
            <a:r>
              <a:rPr dirty="0" sz="1000" spc="55" b="1" i="1">
                <a:latin typeface="Times New Roman"/>
                <a:cs typeface="Times New Roman"/>
              </a:rPr>
              <a:t> </a:t>
            </a:r>
            <a:r>
              <a:rPr dirty="0" sz="1000" b="1" i="1">
                <a:latin typeface="Times New Roman"/>
                <a:cs typeface="Times New Roman"/>
              </a:rPr>
              <a:t>Degree</a:t>
            </a:r>
            <a:r>
              <a:rPr dirty="0" sz="1000" spc="60" b="1" i="1">
                <a:latin typeface="Times New Roman"/>
                <a:cs typeface="Times New Roman"/>
              </a:rPr>
              <a:t> </a:t>
            </a:r>
            <a:r>
              <a:rPr dirty="0" sz="1000" spc="-25" b="1" i="1">
                <a:latin typeface="Times New Roman"/>
                <a:cs typeface="Times New Roman"/>
              </a:rPr>
              <a:t>of</a:t>
            </a: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0" b="1">
                <a:latin typeface="Times New Roman"/>
                <a:cs typeface="Times New Roman"/>
              </a:rPr>
              <a:t>INTEGRATED</a:t>
            </a:r>
            <a:r>
              <a:rPr dirty="0" sz="1000" spc="1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MASTER</a:t>
            </a:r>
            <a:r>
              <a:rPr dirty="0" sz="1000" spc="1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12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SCIENCE</a:t>
            </a: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0" spc="-25" b="1">
                <a:latin typeface="Times New Roman"/>
                <a:cs typeface="Times New Roman"/>
              </a:rPr>
              <a:t>in</a:t>
            </a:r>
            <a:endParaRPr sz="1000">
              <a:latin typeface="Times New Roman"/>
              <a:cs typeface="Times New Roman"/>
            </a:endParaRPr>
          </a:p>
          <a:p>
            <a:pPr algn="ctr" marL="1067435" marR="1059815">
              <a:lnSpc>
                <a:spcPct val="100000"/>
              </a:lnSpc>
            </a:pPr>
            <a:r>
              <a:rPr dirty="0" sz="1000" b="1">
                <a:latin typeface="Times New Roman"/>
                <a:cs typeface="Times New Roman"/>
              </a:rPr>
              <a:t>Quantitative</a:t>
            </a:r>
            <a:r>
              <a:rPr dirty="0" sz="1000" spc="8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Economics</a:t>
            </a:r>
            <a:r>
              <a:rPr dirty="0" sz="1000" spc="8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and</a:t>
            </a:r>
            <a:r>
              <a:rPr dirty="0" sz="1000" spc="8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Data</a:t>
            </a:r>
            <a:r>
              <a:rPr dirty="0" sz="1000" spc="8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Science </a:t>
            </a:r>
            <a:r>
              <a:rPr dirty="0" sz="1000" spc="-25" b="1">
                <a:latin typeface="Times New Roman"/>
                <a:cs typeface="Times New Roman"/>
              </a:rPr>
              <a:t>by</a:t>
            </a:r>
            <a:endParaRPr sz="1000">
              <a:latin typeface="Times New Roman"/>
              <a:cs typeface="Times New Roman"/>
            </a:endParaRPr>
          </a:p>
          <a:p>
            <a:pPr algn="ctr" marL="1689100" marR="1714500">
              <a:lnSpc>
                <a:spcPts val="1200"/>
              </a:lnSpc>
              <a:spcBef>
                <a:spcPts val="35"/>
              </a:spcBef>
            </a:pPr>
            <a:r>
              <a:rPr dirty="0" sz="1000">
                <a:latin typeface="Times New Roman"/>
                <a:cs typeface="Times New Roman"/>
              </a:rPr>
              <a:t>SHREYA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MISHRA IED/10032/23</a:t>
            </a: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ts val="1160"/>
              </a:lnSpc>
            </a:pPr>
            <a:r>
              <a:rPr dirty="0" sz="1000" b="1">
                <a:latin typeface="Times New Roman"/>
                <a:cs typeface="Times New Roman"/>
              </a:rPr>
              <a:t>Guide:</a:t>
            </a:r>
            <a:r>
              <a:rPr dirty="0" sz="1000" spc="5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Dr.</a:t>
            </a:r>
            <a:r>
              <a:rPr dirty="0" sz="1000" spc="6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Saheli</a:t>
            </a:r>
            <a:r>
              <a:rPr dirty="0" sz="1000" spc="65" b="1">
                <a:latin typeface="Times New Roman"/>
                <a:cs typeface="Times New Roman"/>
              </a:rPr>
              <a:t> </a:t>
            </a:r>
            <a:r>
              <a:rPr dirty="0" sz="1000" spc="-20" b="1">
                <a:latin typeface="Times New Roman"/>
                <a:cs typeface="Times New Roman"/>
              </a:rPr>
              <a:t>Bose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0593" y="2633245"/>
            <a:ext cx="3081655" cy="4883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35"/>
              </a:spcBef>
            </a:pPr>
            <a:r>
              <a:rPr dirty="0" sz="1000">
                <a:latin typeface="Times New Roman"/>
                <a:cs typeface="Times New Roman"/>
              </a:rPr>
              <a:t>Department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Quantitative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Economics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Data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Science </a:t>
            </a:r>
            <a:r>
              <a:rPr dirty="0" sz="1000">
                <a:latin typeface="Times New Roman"/>
                <a:cs typeface="Times New Roman"/>
              </a:rPr>
              <a:t>Birla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Institute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Technology,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Mesra</a:t>
            </a: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ts val="1200"/>
              </a:lnSpc>
            </a:pPr>
            <a:r>
              <a:rPr dirty="0" sz="1000">
                <a:latin typeface="Times New Roman"/>
                <a:cs typeface="Times New Roman"/>
              </a:rPr>
              <a:t>Ranchi-835215,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Jharkhand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8270" y="1849375"/>
            <a:ext cx="745042" cy="7311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8"/>
            <a:ext cx="5756910" cy="351790"/>
          </a:xfrm>
          <a:custGeom>
            <a:avLst/>
            <a:gdLst/>
            <a:ahLst/>
            <a:cxnLst/>
            <a:rect l="l" t="t" r="r" b="b"/>
            <a:pathLst>
              <a:path w="5756910" h="351790">
                <a:moveTo>
                  <a:pt x="5756812" y="351393"/>
                </a:moveTo>
                <a:lnTo>
                  <a:pt x="0" y="351393"/>
                </a:lnTo>
                <a:lnTo>
                  <a:pt x="0" y="0"/>
                </a:lnTo>
                <a:lnTo>
                  <a:pt x="5756812" y="0"/>
                </a:lnTo>
                <a:lnTo>
                  <a:pt x="5756812" y="351393"/>
                </a:lnTo>
                <a:close/>
              </a:path>
            </a:pathLst>
          </a:custGeom>
          <a:solidFill>
            <a:srgbClr val="2337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Introduction</a:t>
            </a:r>
          </a:p>
        </p:txBody>
      </p:sp>
      <p:sp>
        <p:nvSpPr>
          <p:cNvPr id="4" name="object 4"/>
          <p:cNvSpPr/>
          <p:nvPr/>
        </p:nvSpPr>
        <p:spPr>
          <a:xfrm>
            <a:off x="209320" y="82819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26325" y="36629"/>
                </a:lnTo>
                <a:lnTo>
                  <a:pt x="23993" y="37595"/>
                </a:lnTo>
                <a:lnTo>
                  <a:pt x="21564" y="38079"/>
                </a:lnTo>
                <a:lnTo>
                  <a:pt x="19039" y="38079"/>
                </a:lnTo>
                <a:lnTo>
                  <a:pt x="16514" y="38079"/>
                </a:lnTo>
                <a:lnTo>
                  <a:pt x="14086" y="37595"/>
                </a:lnTo>
                <a:lnTo>
                  <a:pt x="11753" y="36629"/>
                </a:lnTo>
                <a:lnTo>
                  <a:pt x="9420" y="35663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23993" y="483"/>
                </a:lnTo>
                <a:lnTo>
                  <a:pt x="26325" y="1449"/>
                </a:lnTo>
                <a:lnTo>
                  <a:pt x="28658" y="2415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9416" y="745717"/>
            <a:ext cx="5462270" cy="2034539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307975">
              <a:lnSpc>
                <a:spcPts val="1120"/>
              </a:lnSpc>
              <a:spcBef>
                <a:spcPts val="200"/>
              </a:spcBef>
            </a:pPr>
            <a:r>
              <a:rPr dirty="0" sz="1000" b="1">
                <a:latin typeface="Times New Roman"/>
                <a:cs typeface="Times New Roman"/>
              </a:rPr>
              <a:t>Increasing</a:t>
            </a:r>
            <a:r>
              <a:rPr dirty="0" sz="1000" spc="-4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Frequency</a:t>
            </a:r>
            <a:r>
              <a:rPr dirty="0" sz="1000" spc="-3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&amp;</a:t>
            </a:r>
            <a:r>
              <a:rPr dirty="0" sz="1000" spc="-4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Intensity:</a:t>
            </a:r>
            <a:r>
              <a:rPr dirty="0" sz="1000" spc="-35" b="1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Natural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disasters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are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becoming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more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frequent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severe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due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to </a:t>
            </a:r>
            <a:r>
              <a:rPr dirty="0" sz="1000">
                <a:latin typeface="Times New Roman"/>
                <a:cs typeface="Times New Roman"/>
              </a:rPr>
              <a:t>climate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change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extreme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weather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variability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065"/>
              </a:lnSpc>
            </a:pPr>
            <a:r>
              <a:rPr dirty="0" sz="1000" spc="-5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12700" marR="272415">
              <a:lnSpc>
                <a:spcPts val="1120"/>
              </a:lnSpc>
              <a:spcBef>
                <a:spcPts val="70"/>
              </a:spcBef>
            </a:pPr>
            <a:r>
              <a:rPr dirty="0" sz="1000" b="1">
                <a:latin typeface="Times New Roman"/>
                <a:cs typeface="Times New Roman"/>
              </a:rPr>
              <a:t>Significant</a:t>
            </a:r>
            <a:r>
              <a:rPr dirty="0" sz="1000" spc="-3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Economic</a:t>
            </a:r>
            <a:r>
              <a:rPr dirty="0" sz="1000" spc="-3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Losses: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Disasters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cause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large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economic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costs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including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infrastructure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damage, agricultural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losses,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population</a:t>
            </a:r>
            <a:r>
              <a:rPr dirty="0" sz="1000" spc="-10">
                <a:latin typeface="Times New Roman"/>
                <a:cs typeface="Times New Roman"/>
              </a:rPr>
              <a:t> displacement.</a:t>
            </a:r>
            <a:endParaRPr sz="1000">
              <a:latin typeface="Times New Roman"/>
              <a:cs typeface="Times New Roman"/>
            </a:endParaRPr>
          </a:p>
          <a:p>
            <a:pPr marL="12700" marR="61594">
              <a:lnSpc>
                <a:spcPts val="1120"/>
              </a:lnSpc>
              <a:spcBef>
                <a:spcPts val="1130"/>
              </a:spcBef>
            </a:pPr>
            <a:r>
              <a:rPr dirty="0" sz="1000" b="1">
                <a:latin typeface="Times New Roman"/>
                <a:cs typeface="Times New Roman"/>
              </a:rPr>
              <a:t>Major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Global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Concern: </a:t>
            </a:r>
            <a:r>
              <a:rPr dirty="0" sz="1000">
                <a:latin typeface="Times New Roman"/>
                <a:cs typeface="Times New Roman"/>
              </a:rPr>
              <a:t>Events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such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floods,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cyclones,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droughts,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cloudbursts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increasingly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threaten </a:t>
            </a:r>
            <a:r>
              <a:rPr dirty="0" sz="1000">
                <a:latin typeface="Times New Roman"/>
                <a:cs typeface="Times New Roman"/>
              </a:rPr>
              <a:t>economic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stability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human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livelihoods.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ts val="1120"/>
              </a:lnSpc>
              <a:spcBef>
                <a:spcPts val="1135"/>
              </a:spcBef>
            </a:pPr>
            <a:r>
              <a:rPr dirty="0" sz="1000" b="1">
                <a:latin typeface="Times New Roman"/>
                <a:cs typeface="Times New Roman"/>
              </a:rPr>
              <a:t>Policy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Relevance: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Understanding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disaster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impacts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crucial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economic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planning,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disaster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risk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reduction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climate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adaptation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policies.</a:t>
            </a:r>
            <a:endParaRPr sz="1000">
              <a:latin typeface="Times New Roman"/>
              <a:cs typeface="Times New Roman"/>
            </a:endParaRPr>
          </a:p>
          <a:p>
            <a:pPr marL="12700" marR="110489">
              <a:lnSpc>
                <a:spcPts val="1120"/>
              </a:lnSpc>
              <a:spcBef>
                <a:spcPts val="1130"/>
              </a:spcBef>
            </a:pPr>
            <a:r>
              <a:rPr dirty="0" sz="1000" b="1">
                <a:latin typeface="Times New Roman"/>
                <a:cs typeface="Times New Roman"/>
              </a:rPr>
              <a:t>Need</a:t>
            </a:r>
            <a:r>
              <a:rPr dirty="0" sz="1000" spc="-3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for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Empirical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Analysis: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Quantitative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analysis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helps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generate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evidence-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insights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effective </a:t>
            </a:r>
            <a:r>
              <a:rPr dirty="0" sz="1000">
                <a:latin typeface="Times New Roman"/>
                <a:cs typeface="Times New Roman"/>
              </a:rPr>
              <a:t>disaster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management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development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planning.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9320" y="1256586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38079" y="21564"/>
                </a:lnTo>
                <a:lnTo>
                  <a:pt x="37595" y="23992"/>
                </a:lnTo>
                <a:lnTo>
                  <a:pt x="36629" y="26325"/>
                </a:lnTo>
                <a:lnTo>
                  <a:pt x="35663" y="28658"/>
                </a:lnTo>
                <a:lnTo>
                  <a:pt x="19039" y="38079"/>
                </a:lnTo>
                <a:lnTo>
                  <a:pt x="16514" y="38079"/>
                </a:lnTo>
                <a:lnTo>
                  <a:pt x="1449" y="26325"/>
                </a:lnTo>
                <a:lnTo>
                  <a:pt x="483" y="23992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483" y="14085"/>
                </a:lnTo>
                <a:lnTo>
                  <a:pt x="1449" y="11753"/>
                </a:lnTo>
                <a:lnTo>
                  <a:pt x="2415" y="9420"/>
                </a:lnTo>
                <a:lnTo>
                  <a:pt x="3791" y="7361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32502" y="5576"/>
                </a:lnTo>
                <a:lnTo>
                  <a:pt x="34287" y="7361"/>
                </a:lnTo>
                <a:lnTo>
                  <a:pt x="35663" y="9420"/>
                </a:lnTo>
                <a:lnTo>
                  <a:pt x="36629" y="11753"/>
                </a:lnTo>
                <a:lnTo>
                  <a:pt x="37595" y="14085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9320" y="16849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26325" y="36629"/>
                </a:lnTo>
                <a:lnTo>
                  <a:pt x="23993" y="37595"/>
                </a:lnTo>
                <a:lnTo>
                  <a:pt x="21564" y="38078"/>
                </a:lnTo>
                <a:lnTo>
                  <a:pt x="19039" y="38079"/>
                </a:lnTo>
                <a:lnTo>
                  <a:pt x="16514" y="38078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483" y="14085"/>
                </a:lnTo>
                <a:lnTo>
                  <a:pt x="1449" y="11753"/>
                </a:lnTo>
                <a:lnTo>
                  <a:pt x="2415" y="9420"/>
                </a:lnTo>
                <a:lnTo>
                  <a:pt x="3791" y="7361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23993" y="483"/>
                </a:lnTo>
                <a:lnTo>
                  <a:pt x="26325" y="1449"/>
                </a:lnTo>
                <a:lnTo>
                  <a:pt x="28658" y="2415"/>
                </a:lnTo>
                <a:lnTo>
                  <a:pt x="30717" y="3791"/>
                </a:lnTo>
                <a:lnTo>
                  <a:pt x="32502" y="5576"/>
                </a:lnTo>
                <a:lnTo>
                  <a:pt x="34287" y="7361"/>
                </a:lnTo>
                <a:lnTo>
                  <a:pt x="35663" y="9420"/>
                </a:lnTo>
                <a:lnTo>
                  <a:pt x="36629" y="11753"/>
                </a:lnTo>
                <a:lnTo>
                  <a:pt x="37595" y="14085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9320" y="211336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38079" y="21564"/>
                </a:lnTo>
                <a:lnTo>
                  <a:pt x="37595" y="23992"/>
                </a:lnTo>
                <a:lnTo>
                  <a:pt x="36629" y="26325"/>
                </a:lnTo>
                <a:lnTo>
                  <a:pt x="35663" y="28657"/>
                </a:lnTo>
                <a:lnTo>
                  <a:pt x="19039" y="38079"/>
                </a:lnTo>
                <a:lnTo>
                  <a:pt x="16514" y="38078"/>
                </a:lnTo>
                <a:lnTo>
                  <a:pt x="1449" y="26325"/>
                </a:lnTo>
                <a:lnTo>
                  <a:pt x="483" y="23992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483" y="14086"/>
                </a:lnTo>
                <a:lnTo>
                  <a:pt x="1449" y="11753"/>
                </a:lnTo>
                <a:lnTo>
                  <a:pt x="2415" y="9420"/>
                </a:lnTo>
                <a:lnTo>
                  <a:pt x="3791" y="7361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2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23993" y="482"/>
                </a:lnTo>
                <a:lnTo>
                  <a:pt x="26325" y="1449"/>
                </a:lnTo>
                <a:lnTo>
                  <a:pt x="28658" y="2415"/>
                </a:lnTo>
                <a:lnTo>
                  <a:pt x="30717" y="3791"/>
                </a:lnTo>
                <a:lnTo>
                  <a:pt x="32502" y="5576"/>
                </a:lnTo>
                <a:lnTo>
                  <a:pt x="34287" y="7361"/>
                </a:lnTo>
                <a:lnTo>
                  <a:pt x="35663" y="9420"/>
                </a:lnTo>
                <a:lnTo>
                  <a:pt x="36629" y="11753"/>
                </a:lnTo>
                <a:lnTo>
                  <a:pt x="37595" y="14086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9320" y="2541753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26325" y="36629"/>
                </a:lnTo>
                <a:lnTo>
                  <a:pt x="23993" y="37595"/>
                </a:lnTo>
                <a:lnTo>
                  <a:pt x="21564" y="38078"/>
                </a:lnTo>
                <a:lnTo>
                  <a:pt x="19039" y="38079"/>
                </a:lnTo>
                <a:lnTo>
                  <a:pt x="16514" y="38078"/>
                </a:lnTo>
                <a:lnTo>
                  <a:pt x="14086" y="37595"/>
                </a:lnTo>
                <a:lnTo>
                  <a:pt x="11753" y="36629"/>
                </a:lnTo>
                <a:lnTo>
                  <a:pt x="9420" y="35663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5576" y="5576"/>
                </a:lnTo>
                <a:lnTo>
                  <a:pt x="7361" y="3790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32502" y="5576"/>
                </a:lnTo>
                <a:lnTo>
                  <a:pt x="34287" y="7361"/>
                </a:lnTo>
                <a:lnTo>
                  <a:pt x="35663" y="9420"/>
                </a:lnTo>
                <a:lnTo>
                  <a:pt x="36629" y="11753"/>
                </a:lnTo>
                <a:lnTo>
                  <a:pt x="37595" y="14085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51421"/>
            <a:ext cx="5759450" cy="2885440"/>
          </a:xfrm>
          <a:custGeom>
            <a:avLst/>
            <a:gdLst/>
            <a:ahLst/>
            <a:cxnLst/>
            <a:rect l="l" t="t" r="r" b="b"/>
            <a:pathLst>
              <a:path w="5759450" h="2885440">
                <a:moveTo>
                  <a:pt x="0" y="2885296"/>
                </a:moveTo>
                <a:lnTo>
                  <a:pt x="5759455" y="2885296"/>
                </a:lnTo>
                <a:lnTo>
                  <a:pt x="5759455" y="0"/>
                </a:lnTo>
                <a:lnTo>
                  <a:pt x="0" y="0"/>
                </a:lnTo>
                <a:lnTo>
                  <a:pt x="0" y="2885296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612012" y="3007150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23373B"/>
                </a:solidFill>
                <a:latin typeface="Microsoft JhengHei UI"/>
                <a:cs typeface="Microsoft JhengHei UI"/>
              </a:rPr>
              <a:t>2</a:t>
            </a:r>
            <a:endParaRPr sz="700">
              <a:latin typeface="Microsoft JhengHei UI"/>
              <a:cs typeface="Microsoft JhengHei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9506" y="9857"/>
            <a:ext cx="800100" cy="143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75"/>
              </a:lnSpc>
            </a:pPr>
            <a:r>
              <a:rPr dirty="0" sz="900" b="1" i="1">
                <a:latin typeface="Verdana"/>
                <a:cs typeface="Verdana"/>
              </a:rPr>
              <a:t>Why</a:t>
            </a:r>
            <a:r>
              <a:rPr dirty="0" sz="900" spc="-30" b="1" i="1">
                <a:latin typeface="Verdana"/>
                <a:cs typeface="Verdana"/>
              </a:rPr>
              <a:t> </a:t>
            </a:r>
            <a:r>
              <a:rPr dirty="0" sz="900" spc="-25" b="1" i="1">
                <a:latin typeface="Verdana"/>
                <a:cs typeface="Verdana"/>
              </a:rPr>
              <a:t>Floods?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880" y="933226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9"/>
                </a:moveTo>
                <a:lnTo>
                  <a:pt x="16514" y="38079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0880" y="137113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9"/>
                </a:moveTo>
                <a:lnTo>
                  <a:pt x="16514" y="38079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0880" y="180904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0880" y="2246953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7704" y="850746"/>
            <a:ext cx="4871085" cy="1644014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7620">
              <a:lnSpc>
                <a:spcPts val="1120"/>
              </a:lnSpc>
              <a:spcBef>
                <a:spcPts val="200"/>
              </a:spcBef>
            </a:pPr>
            <a:r>
              <a:rPr dirty="0" sz="1000" b="1">
                <a:latin typeface="Times New Roman"/>
                <a:cs typeface="Times New Roman"/>
              </a:rPr>
              <a:t>Most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frequent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natural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disaster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in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India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(National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Disaster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Management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Authority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–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NDMA, Government</a:t>
            </a:r>
            <a:r>
              <a:rPr dirty="0" sz="1000">
                <a:latin typeface="Times New Roman"/>
                <a:cs typeface="Times New Roman"/>
              </a:rPr>
              <a:t> of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India)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 marR="66040" indent="31750">
              <a:lnSpc>
                <a:spcPts val="1120"/>
              </a:lnSpc>
            </a:pPr>
            <a:r>
              <a:rPr dirty="0" sz="1000" b="1">
                <a:latin typeface="Times New Roman"/>
                <a:cs typeface="Times New Roman"/>
              </a:rPr>
              <a:t>~40</a:t>
            </a:r>
            <a:r>
              <a:rPr dirty="0" sz="1000" spc="-1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million</a:t>
            </a:r>
            <a:r>
              <a:rPr dirty="0" sz="1000" spc="-10" b="1">
                <a:latin typeface="Times New Roman"/>
                <a:cs typeface="Times New Roman"/>
              </a:rPr>
              <a:t> hectares flood-</a:t>
            </a:r>
            <a:r>
              <a:rPr dirty="0" sz="1000" b="1">
                <a:latin typeface="Times New Roman"/>
                <a:cs typeface="Times New Roman"/>
              </a:rPr>
              <a:t>prone;</a:t>
            </a:r>
            <a:r>
              <a:rPr dirty="0" sz="1000" spc="-1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~7.2</a:t>
            </a:r>
            <a:r>
              <a:rPr dirty="0" sz="1000" spc="-1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million</a:t>
            </a:r>
            <a:r>
              <a:rPr dirty="0" sz="1000" spc="-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hectares affected </a:t>
            </a:r>
            <a:r>
              <a:rPr dirty="0" sz="1000" b="1">
                <a:latin typeface="Times New Roman"/>
                <a:cs typeface="Times New Roman"/>
              </a:rPr>
              <a:t>annually</a:t>
            </a:r>
            <a:r>
              <a:rPr dirty="0" sz="1000" spc="-5" b="1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(National</a:t>
            </a:r>
            <a:r>
              <a:rPr dirty="0" sz="1000" spc="-10">
                <a:latin typeface="Times New Roman"/>
                <a:cs typeface="Times New Roman"/>
              </a:rPr>
              <a:t> Flood </a:t>
            </a:r>
            <a:r>
              <a:rPr dirty="0" sz="1000">
                <a:latin typeface="Times New Roman"/>
                <a:cs typeface="Times New Roman"/>
              </a:rPr>
              <a:t>Commission,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Government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10">
                <a:latin typeface="Times New Roman"/>
                <a:cs typeface="Times New Roman"/>
              </a:rPr>
              <a:t> India)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 marR="312420" indent="31750">
              <a:lnSpc>
                <a:spcPts val="1120"/>
              </a:lnSpc>
              <a:spcBef>
                <a:spcPts val="5"/>
              </a:spcBef>
            </a:pPr>
            <a:r>
              <a:rPr dirty="0" sz="1000" spc="-10" b="1">
                <a:latin typeface="Times New Roman"/>
                <a:cs typeface="Times New Roman"/>
              </a:rPr>
              <a:t>Average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annual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damage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~₹1,805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crore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to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crops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and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infrastructure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(Central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Water </a:t>
            </a:r>
            <a:r>
              <a:rPr dirty="0" sz="1000">
                <a:latin typeface="Times New Roman"/>
                <a:cs typeface="Times New Roman"/>
              </a:rPr>
              <a:t>Commission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–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CWC,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Government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10">
                <a:latin typeface="Times New Roman"/>
                <a:cs typeface="Times New Roman"/>
              </a:rPr>
              <a:t> India)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100"/>
              </a:spcBef>
            </a:pPr>
            <a:r>
              <a:rPr dirty="0" sz="1000" b="1">
                <a:latin typeface="Times New Roman"/>
                <a:cs typeface="Times New Roman"/>
              </a:rPr>
              <a:t>Limited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empirical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research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on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the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economic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impacts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floods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at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the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regional/state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level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spc="-25" b="1">
                <a:latin typeface="Times New Roman"/>
                <a:cs typeface="Times New Roman"/>
              </a:rPr>
              <a:t>in </a:t>
            </a:r>
            <a:r>
              <a:rPr dirty="0" sz="1000" b="1">
                <a:latin typeface="Times New Roman"/>
                <a:cs typeface="Times New Roman"/>
              </a:rPr>
              <a:t>India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(NDMA;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National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Institute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Disaster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Management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–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NIDM)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28"/>
            <a:ext cx="5756910" cy="351790"/>
          </a:xfrm>
          <a:custGeom>
            <a:avLst/>
            <a:gdLst/>
            <a:ahLst/>
            <a:cxnLst/>
            <a:rect l="l" t="t" r="r" b="b"/>
            <a:pathLst>
              <a:path w="5756910" h="351790">
                <a:moveTo>
                  <a:pt x="5756812" y="351393"/>
                </a:moveTo>
                <a:lnTo>
                  <a:pt x="0" y="351393"/>
                </a:lnTo>
                <a:lnTo>
                  <a:pt x="0" y="0"/>
                </a:lnTo>
                <a:lnTo>
                  <a:pt x="5756812" y="0"/>
                </a:lnTo>
                <a:lnTo>
                  <a:pt x="5756812" y="351393"/>
                </a:lnTo>
                <a:close/>
              </a:path>
            </a:pathLst>
          </a:custGeom>
          <a:solidFill>
            <a:srgbClr val="2337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216806" y="40791"/>
            <a:ext cx="136461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dirty="0" spc="-15"/>
              <a:t> </a:t>
            </a:r>
            <a:r>
              <a:rPr dirty="0"/>
              <a:t>study</a:t>
            </a:r>
            <a:r>
              <a:rPr dirty="0" spc="-15"/>
              <a:t> </a:t>
            </a:r>
            <a:r>
              <a:rPr dirty="0"/>
              <a:t>floods</a:t>
            </a:r>
            <a:r>
              <a:rPr dirty="0" spc="-15"/>
              <a:t> </a:t>
            </a:r>
            <a:r>
              <a:rPr dirty="0" spc="15"/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51421"/>
            <a:ext cx="5759450" cy="2885440"/>
          </a:xfrm>
          <a:custGeom>
            <a:avLst/>
            <a:gdLst/>
            <a:ahLst/>
            <a:cxnLst/>
            <a:rect l="l" t="t" r="r" b="b"/>
            <a:pathLst>
              <a:path w="5759450" h="2885440">
                <a:moveTo>
                  <a:pt x="0" y="2885296"/>
                </a:moveTo>
                <a:lnTo>
                  <a:pt x="5759455" y="2885296"/>
                </a:lnTo>
                <a:lnTo>
                  <a:pt x="5759455" y="0"/>
                </a:lnTo>
                <a:lnTo>
                  <a:pt x="0" y="0"/>
                </a:lnTo>
                <a:lnTo>
                  <a:pt x="0" y="2885296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612012" y="3007150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23373B"/>
                </a:solidFill>
                <a:latin typeface="Microsoft JhengHei UI"/>
                <a:cs typeface="Microsoft JhengHei UI"/>
              </a:rPr>
              <a:t>2</a:t>
            </a:r>
            <a:endParaRPr sz="700">
              <a:latin typeface="Microsoft JhengHei UI"/>
              <a:cs typeface="Microsoft JhengHei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9256" y="78301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9"/>
                </a:moveTo>
                <a:lnTo>
                  <a:pt x="16514" y="38079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69256" y="1211408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9"/>
                </a:moveTo>
                <a:lnTo>
                  <a:pt x="16514" y="38079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9256" y="163979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9256" y="2068186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9256" y="2496576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95634" y="700824"/>
            <a:ext cx="4805680" cy="203390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6515">
              <a:lnSpc>
                <a:spcPts val="1120"/>
              </a:lnSpc>
              <a:spcBef>
                <a:spcPts val="200"/>
              </a:spcBef>
            </a:pPr>
            <a:r>
              <a:rPr dirty="0" sz="1000">
                <a:latin typeface="Times New Roman"/>
                <a:cs typeface="Times New Roman"/>
              </a:rPr>
              <a:t>Bihar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accounts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17.2%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India's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flood-</a:t>
            </a:r>
            <a:r>
              <a:rPr dirty="0" sz="1000" b="1">
                <a:latin typeface="Times New Roman"/>
                <a:cs typeface="Times New Roman"/>
              </a:rPr>
              <a:t>prone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area</a:t>
            </a:r>
            <a:r>
              <a:rPr dirty="0" sz="1000">
                <a:latin typeface="Times New Roman"/>
                <a:cs typeface="Times New Roman"/>
              </a:rPr>
              <a:t>;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Odisha,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West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Bengal,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Jharkhand </a:t>
            </a:r>
            <a:r>
              <a:rPr dirty="0" sz="1000">
                <a:latin typeface="Times New Roman"/>
                <a:cs typeface="Times New Roman"/>
              </a:rPr>
              <a:t>face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recurring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inundation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across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their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own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basins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(NIDM/NRSC)</a:t>
            </a:r>
            <a:endParaRPr sz="1000">
              <a:latin typeface="Times New Roman"/>
              <a:cs typeface="Times New Roman"/>
            </a:endParaRPr>
          </a:p>
          <a:p>
            <a:pPr marL="12700" marR="429895">
              <a:lnSpc>
                <a:spcPts val="1120"/>
              </a:lnSpc>
              <a:spcBef>
                <a:spcPts val="1135"/>
              </a:spcBef>
            </a:pPr>
            <a:r>
              <a:rPr dirty="0" sz="1000" spc="-10" b="1">
                <a:latin typeface="Times New Roman"/>
                <a:cs typeface="Times New Roman"/>
              </a:rPr>
              <a:t>Transboundary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rivers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—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Kosi,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Gandak,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Bagmati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(Nepal-</a:t>
            </a:r>
            <a:r>
              <a:rPr dirty="0" sz="1000">
                <a:latin typeface="Times New Roman"/>
                <a:cs typeface="Times New Roman"/>
              </a:rPr>
              <a:t>origin,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Bihar)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Ganga-Brahmaputra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tributaries </a:t>
            </a:r>
            <a:r>
              <a:rPr dirty="0" sz="1000">
                <a:latin typeface="Times New Roman"/>
                <a:cs typeface="Times New Roman"/>
              </a:rPr>
              <a:t>(West</a:t>
            </a:r>
            <a:r>
              <a:rPr dirty="0" sz="1000" spc="-10">
                <a:latin typeface="Times New Roman"/>
                <a:cs typeface="Times New Roman"/>
              </a:rPr>
              <a:t> Bengal) </a:t>
            </a:r>
            <a:r>
              <a:rPr dirty="0" sz="1000">
                <a:latin typeface="Times New Roman"/>
                <a:cs typeface="Times New Roman"/>
              </a:rPr>
              <a:t>—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drive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large-</a:t>
            </a:r>
            <a:r>
              <a:rPr dirty="0" sz="1000">
                <a:latin typeface="Times New Roman"/>
                <a:cs typeface="Times New Roman"/>
              </a:rPr>
              <a:t>scale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Gangetic flooding (CWC)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ts val="1120"/>
              </a:lnSpc>
              <a:spcBef>
                <a:spcPts val="1130"/>
              </a:spcBef>
            </a:pPr>
            <a:r>
              <a:rPr dirty="0" sz="1000">
                <a:latin typeface="Times New Roman"/>
                <a:cs typeface="Times New Roman"/>
              </a:rPr>
              <a:t>Odisha's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Mahanadi,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Brahmani,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Baitarani;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West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Bengal's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Damodar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Hooghly;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 spc="-10">
                <a:latin typeface="Times New Roman"/>
                <a:cs typeface="Times New Roman"/>
              </a:rPr>
              <a:t>Jharkhand's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Subarnarekha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routinely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breach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embankments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during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monsoon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(CWC/NDMA)</a:t>
            </a:r>
            <a:endParaRPr sz="1000">
              <a:latin typeface="Times New Roman"/>
              <a:cs typeface="Times New Roman"/>
            </a:endParaRPr>
          </a:p>
          <a:p>
            <a:pPr marL="12700" marR="231775">
              <a:lnSpc>
                <a:spcPts val="1120"/>
              </a:lnSpc>
              <a:spcBef>
                <a:spcPts val="1135"/>
              </a:spcBef>
            </a:pPr>
            <a:r>
              <a:rPr dirty="0" sz="1000" spc="-10" b="1">
                <a:latin typeface="Times New Roman"/>
                <a:cs typeface="Times New Roman"/>
              </a:rPr>
              <a:t>Floodplain-dependent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agriculture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across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all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four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states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magnifies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economic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losses</a:t>
            </a:r>
            <a:r>
              <a:rPr dirty="0" sz="1000" spc="-20">
                <a:latin typeface="Times New Roman"/>
                <a:cs typeface="Times New Roman"/>
              </a:rPr>
              <a:t> from </a:t>
            </a:r>
            <a:r>
              <a:rPr dirty="0" sz="1000" spc="-10">
                <a:latin typeface="Times New Roman"/>
                <a:cs typeface="Times New Roman"/>
              </a:rPr>
              <a:t>annual</a:t>
            </a:r>
            <a:r>
              <a:rPr dirty="0" sz="10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inundation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(CSO/RBI)</a:t>
            </a:r>
            <a:endParaRPr sz="1000">
              <a:latin typeface="Times New Roman"/>
              <a:cs typeface="Times New Roman"/>
            </a:endParaRPr>
          </a:p>
          <a:p>
            <a:pPr marL="12700" marR="99060">
              <a:lnSpc>
                <a:spcPts val="1120"/>
              </a:lnSpc>
              <a:spcBef>
                <a:spcPts val="1130"/>
              </a:spcBef>
            </a:pPr>
            <a:r>
              <a:rPr dirty="0" sz="1000">
                <a:latin typeface="Times New Roman"/>
                <a:cs typeface="Times New Roman"/>
              </a:rPr>
              <a:t>All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four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states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fall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below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national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per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capita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NSDP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averag</a:t>
            </a:r>
            <a:r>
              <a:rPr dirty="0" sz="1000" spc="-10" b="1">
                <a:latin typeface="Times New Roman"/>
                <a:cs typeface="Times New Roman"/>
              </a:rPr>
              <a:t>e</a:t>
            </a:r>
            <a:r>
              <a:rPr dirty="0" sz="1000" spc="-10">
                <a:latin typeface="Times New Roman"/>
                <a:cs typeface="Times New Roman"/>
              </a:rPr>
              <a:t>,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limiting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flood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resilience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and </a:t>
            </a:r>
            <a:r>
              <a:rPr dirty="0" sz="1000" spc="-10">
                <a:latin typeface="Times New Roman"/>
                <a:cs typeface="Times New Roman"/>
              </a:rPr>
              <a:t>recovery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capacity (MoSPI)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28"/>
            <a:ext cx="5756910" cy="351790"/>
          </a:xfrm>
          <a:custGeom>
            <a:avLst/>
            <a:gdLst/>
            <a:ahLst/>
            <a:cxnLst/>
            <a:rect l="l" t="t" r="r" b="b"/>
            <a:pathLst>
              <a:path w="5756910" h="351790">
                <a:moveTo>
                  <a:pt x="5756812" y="351393"/>
                </a:moveTo>
                <a:lnTo>
                  <a:pt x="0" y="351393"/>
                </a:lnTo>
                <a:lnTo>
                  <a:pt x="0" y="0"/>
                </a:lnTo>
                <a:lnTo>
                  <a:pt x="5756812" y="0"/>
                </a:lnTo>
                <a:lnTo>
                  <a:pt x="5756812" y="351393"/>
                </a:lnTo>
                <a:close/>
              </a:path>
            </a:pathLst>
          </a:custGeom>
          <a:solidFill>
            <a:srgbClr val="2337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1811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dirty="0" spc="20"/>
              <a:t> </a:t>
            </a:r>
            <a:r>
              <a:rPr dirty="0"/>
              <a:t>Eastern</a:t>
            </a:r>
            <a:r>
              <a:rPr dirty="0" spc="20"/>
              <a:t> </a:t>
            </a:r>
            <a:r>
              <a:rPr dirty="0"/>
              <a:t>India</a:t>
            </a:r>
            <a:r>
              <a:rPr dirty="0" spc="20"/>
              <a:t> </a:t>
            </a:r>
            <a:r>
              <a:rPr dirty="0" spc="15"/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Conceptual</a:t>
            </a:r>
            <a:r>
              <a:rPr dirty="0" spc="-90"/>
              <a:t> </a:t>
            </a:r>
            <a:r>
              <a:rPr dirty="0" spc="-10"/>
              <a:t>Framework</a:t>
            </a:r>
          </a:p>
        </p:txBody>
      </p:sp>
      <p:sp>
        <p:nvSpPr>
          <p:cNvPr id="3" name="object 3"/>
          <p:cNvSpPr/>
          <p:nvPr/>
        </p:nvSpPr>
        <p:spPr>
          <a:xfrm>
            <a:off x="216455" y="8250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26325" y="36629"/>
                </a:lnTo>
                <a:lnTo>
                  <a:pt x="23993" y="37595"/>
                </a:lnTo>
                <a:lnTo>
                  <a:pt x="21564" y="38079"/>
                </a:lnTo>
                <a:lnTo>
                  <a:pt x="19039" y="38079"/>
                </a:lnTo>
                <a:lnTo>
                  <a:pt x="16514" y="38079"/>
                </a:lnTo>
                <a:lnTo>
                  <a:pt x="14086" y="37595"/>
                </a:lnTo>
                <a:lnTo>
                  <a:pt x="11753" y="36629"/>
                </a:lnTo>
                <a:lnTo>
                  <a:pt x="9420" y="35663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23993" y="483"/>
                </a:lnTo>
                <a:lnTo>
                  <a:pt x="26325" y="1449"/>
                </a:lnTo>
                <a:lnTo>
                  <a:pt x="28658" y="2415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6455" y="125343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38079" y="21564"/>
                </a:lnTo>
                <a:lnTo>
                  <a:pt x="37595" y="23992"/>
                </a:lnTo>
                <a:lnTo>
                  <a:pt x="36629" y="26325"/>
                </a:lnTo>
                <a:lnTo>
                  <a:pt x="35663" y="28658"/>
                </a:lnTo>
                <a:lnTo>
                  <a:pt x="19039" y="38079"/>
                </a:lnTo>
                <a:lnTo>
                  <a:pt x="16514" y="38079"/>
                </a:lnTo>
                <a:lnTo>
                  <a:pt x="1449" y="26325"/>
                </a:lnTo>
                <a:lnTo>
                  <a:pt x="483" y="23992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483" y="14085"/>
                </a:lnTo>
                <a:lnTo>
                  <a:pt x="1449" y="11753"/>
                </a:lnTo>
                <a:lnTo>
                  <a:pt x="2415" y="9420"/>
                </a:lnTo>
                <a:lnTo>
                  <a:pt x="3791" y="7361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32502" y="5576"/>
                </a:lnTo>
                <a:lnTo>
                  <a:pt x="34287" y="7361"/>
                </a:lnTo>
                <a:lnTo>
                  <a:pt x="35663" y="9420"/>
                </a:lnTo>
                <a:lnTo>
                  <a:pt x="36629" y="11753"/>
                </a:lnTo>
                <a:lnTo>
                  <a:pt x="37595" y="14085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6455" y="1681828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26325" y="36629"/>
                </a:lnTo>
                <a:lnTo>
                  <a:pt x="23993" y="37595"/>
                </a:lnTo>
                <a:lnTo>
                  <a:pt x="21564" y="38078"/>
                </a:lnTo>
                <a:lnTo>
                  <a:pt x="19039" y="38079"/>
                </a:lnTo>
                <a:lnTo>
                  <a:pt x="16514" y="38078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483" y="14085"/>
                </a:lnTo>
                <a:lnTo>
                  <a:pt x="1449" y="11753"/>
                </a:lnTo>
                <a:lnTo>
                  <a:pt x="2415" y="9420"/>
                </a:lnTo>
                <a:lnTo>
                  <a:pt x="3791" y="7361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23993" y="483"/>
                </a:lnTo>
                <a:lnTo>
                  <a:pt x="26325" y="1449"/>
                </a:lnTo>
                <a:lnTo>
                  <a:pt x="28658" y="2415"/>
                </a:lnTo>
                <a:lnTo>
                  <a:pt x="30717" y="3791"/>
                </a:lnTo>
                <a:lnTo>
                  <a:pt x="32502" y="5576"/>
                </a:lnTo>
                <a:lnTo>
                  <a:pt x="34287" y="7361"/>
                </a:lnTo>
                <a:lnTo>
                  <a:pt x="35663" y="9420"/>
                </a:lnTo>
                <a:lnTo>
                  <a:pt x="36629" y="11753"/>
                </a:lnTo>
                <a:lnTo>
                  <a:pt x="37595" y="14085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6455" y="211021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38079" y="21564"/>
                </a:lnTo>
                <a:lnTo>
                  <a:pt x="37595" y="23992"/>
                </a:lnTo>
                <a:lnTo>
                  <a:pt x="36629" y="26325"/>
                </a:lnTo>
                <a:lnTo>
                  <a:pt x="35663" y="28657"/>
                </a:lnTo>
                <a:lnTo>
                  <a:pt x="19039" y="38079"/>
                </a:lnTo>
                <a:lnTo>
                  <a:pt x="16514" y="38078"/>
                </a:lnTo>
                <a:lnTo>
                  <a:pt x="1449" y="26325"/>
                </a:lnTo>
                <a:lnTo>
                  <a:pt x="483" y="23992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483" y="14086"/>
                </a:lnTo>
                <a:lnTo>
                  <a:pt x="1449" y="11753"/>
                </a:lnTo>
                <a:lnTo>
                  <a:pt x="2415" y="9420"/>
                </a:lnTo>
                <a:lnTo>
                  <a:pt x="3791" y="7361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2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23993" y="482"/>
                </a:lnTo>
                <a:lnTo>
                  <a:pt x="26325" y="1449"/>
                </a:lnTo>
                <a:lnTo>
                  <a:pt x="28658" y="2415"/>
                </a:lnTo>
                <a:lnTo>
                  <a:pt x="30717" y="3791"/>
                </a:lnTo>
                <a:lnTo>
                  <a:pt x="32502" y="5576"/>
                </a:lnTo>
                <a:lnTo>
                  <a:pt x="34287" y="7361"/>
                </a:lnTo>
                <a:lnTo>
                  <a:pt x="35663" y="9420"/>
                </a:lnTo>
                <a:lnTo>
                  <a:pt x="36629" y="11753"/>
                </a:lnTo>
                <a:lnTo>
                  <a:pt x="37595" y="14086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6455" y="253860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26325" y="36629"/>
                </a:lnTo>
                <a:lnTo>
                  <a:pt x="23993" y="37595"/>
                </a:lnTo>
                <a:lnTo>
                  <a:pt x="21564" y="38078"/>
                </a:lnTo>
                <a:lnTo>
                  <a:pt x="19039" y="38079"/>
                </a:lnTo>
                <a:lnTo>
                  <a:pt x="16514" y="38078"/>
                </a:lnTo>
                <a:lnTo>
                  <a:pt x="14086" y="37595"/>
                </a:lnTo>
                <a:lnTo>
                  <a:pt x="11753" y="36629"/>
                </a:lnTo>
                <a:lnTo>
                  <a:pt x="9420" y="35663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5576" y="5576"/>
                </a:lnTo>
                <a:lnTo>
                  <a:pt x="7361" y="3790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32502" y="5576"/>
                </a:lnTo>
                <a:lnTo>
                  <a:pt x="34287" y="7361"/>
                </a:lnTo>
                <a:lnTo>
                  <a:pt x="35663" y="9420"/>
                </a:lnTo>
                <a:lnTo>
                  <a:pt x="36629" y="11753"/>
                </a:lnTo>
                <a:lnTo>
                  <a:pt x="37595" y="14085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5400" rIns="0" bIns="0" rtlCol="0" vert="horz">
            <a:spAutoFit/>
          </a:bodyPr>
          <a:lstStyle/>
          <a:p>
            <a:pPr marL="12700" marR="469900">
              <a:lnSpc>
                <a:spcPts val="1120"/>
              </a:lnSpc>
              <a:spcBef>
                <a:spcPts val="200"/>
              </a:spcBef>
            </a:pPr>
            <a:r>
              <a:rPr dirty="0" spc="-10" b="1">
                <a:latin typeface="Times New Roman"/>
                <a:cs typeface="Times New Roman"/>
              </a:rPr>
              <a:t>Short-</a:t>
            </a:r>
            <a:r>
              <a:rPr dirty="0" b="1">
                <a:latin typeface="Times New Roman"/>
                <a:cs typeface="Times New Roman"/>
              </a:rPr>
              <a:t>Run</a:t>
            </a:r>
            <a:r>
              <a:rPr dirty="0" spc="-3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Economic</a:t>
            </a:r>
            <a:r>
              <a:rPr dirty="0" spc="-3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Damage</a:t>
            </a:r>
            <a:r>
              <a:rPr dirty="0"/>
              <a:t>:</a:t>
            </a:r>
            <a:r>
              <a:rPr dirty="0" spc="-30"/>
              <a:t> </a:t>
            </a:r>
            <a:r>
              <a:rPr dirty="0"/>
              <a:t>Floods</a:t>
            </a:r>
            <a:r>
              <a:rPr dirty="0" spc="-35"/>
              <a:t> </a:t>
            </a:r>
            <a:r>
              <a:rPr dirty="0"/>
              <a:t>cause</a:t>
            </a:r>
            <a:r>
              <a:rPr dirty="0" spc="-30"/>
              <a:t> </a:t>
            </a:r>
            <a:r>
              <a:rPr dirty="0"/>
              <a:t>immediate</a:t>
            </a:r>
            <a:r>
              <a:rPr dirty="0" spc="-35"/>
              <a:t> </a:t>
            </a:r>
            <a:r>
              <a:rPr dirty="0"/>
              <a:t>losses</a:t>
            </a:r>
            <a:r>
              <a:rPr dirty="0" spc="-35"/>
              <a:t> </a:t>
            </a:r>
            <a:r>
              <a:rPr dirty="0"/>
              <a:t>through</a:t>
            </a:r>
            <a:r>
              <a:rPr dirty="0" spc="-30"/>
              <a:t> </a:t>
            </a:r>
            <a:r>
              <a:rPr dirty="0"/>
              <a:t>crop</a:t>
            </a:r>
            <a:r>
              <a:rPr dirty="0" spc="-35"/>
              <a:t> </a:t>
            </a:r>
            <a:r>
              <a:rPr dirty="0" spc="-10"/>
              <a:t>destruction, infrastructure</a:t>
            </a:r>
            <a:r>
              <a:rPr dirty="0" spc="-20"/>
              <a:t> </a:t>
            </a:r>
            <a:r>
              <a:rPr dirty="0"/>
              <a:t>damage,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population</a:t>
            </a:r>
            <a:r>
              <a:rPr dirty="0" spc="-15"/>
              <a:t> </a:t>
            </a:r>
            <a:r>
              <a:rPr dirty="0" spc="-10"/>
              <a:t>displacement.</a:t>
            </a:r>
          </a:p>
          <a:p>
            <a:pPr marL="12700" marR="163195">
              <a:lnSpc>
                <a:spcPts val="1120"/>
              </a:lnSpc>
              <a:spcBef>
                <a:spcPts val="1135"/>
              </a:spcBef>
            </a:pPr>
            <a:r>
              <a:rPr dirty="0" spc="-10" b="1">
                <a:latin typeface="Times New Roman"/>
                <a:cs typeface="Times New Roman"/>
              </a:rPr>
              <a:t>Long-</a:t>
            </a:r>
            <a:r>
              <a:rPr dirty="0" b="1">
                <a:latin typeface="Times New Roman"/>
                <a:cs typeface="Times New Roman"/>
              </a:rPr>
              <a:t>Run</a:t>
            </a:r>
            <a:r>
              <a:rPr dirty="0" spc="-2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Economic</a:t>
            </a:r>
            <a:r>
              <a:rPr dirty="0" spc="-15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Consequences</a:t>
            </a:r>
            <a:r>
              <a:rPr dirty="0" spc="-10"/>
              <a:t>:</a:t>
            </a:r>
            <a:r>
              <a:rPr dirty="0" spc="-15"/>
              <a:t> </a:t>
            </a:r>
            <a:r>
              <a:rPr dirty="0" spc="-10"/>
              <a:t>Recurrent</a:t>
            </a:r>
            <a:r>
              <a:rPr dirty="0" spc="-15"/>
              <a:t> </a:t>
            </a:r>
            <a:r>
              <a:rPr dirty="0"/>
              <a:t>flooding</a:t>
            </a:r>
            <a:r>
              <a:rPr dirty="0" spc="-15"/>
              <a:t> </a:t>
            </a:r>
            <a:r>
              <a:rPr dirty="0"/>
              <a:t>can</a:t>
            </a:r>
            <a:r>
              <a:rPr dirty="0" spc="-15"/>
              <a:t> </a:t>
            </a:r>
            <a:r>
              <a:rPr dirty="0"/>
              <a:t>lead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persistent</a:t>
            </a:r>
            <a:r>
              <a:rPr dirty="0" spc="-15"/>
              <a:t> </a:t>
            </a:r>
            <a:r>
              <a:rPr dirty="0"/>
              <a:t>poverty,</a:t>
            </a:r>
            <a:r>
              <a:rPr dirty="0" spc="-15"/>
              <a:t> </a:t>
            </a:r>
            <a:r>
              <a:rPr dirty="0" spc="-10"/>
              <a:t>slower </a:t>
            </a:r>
            <a:r>
              <a:rPr dirty="0"/>
              <a:t>economic</a:t>
            </a:r>
            <a:r>
              <a:rPr dirty="0" spc="-35"/>
              <a:t> </a:t>
            </a:r>
            <a:r>
              <a:rPr dirty="0"/>
              <a:t>growth,</a:t>
            </a:r>
            <a:r>
              <a:rPr dirty="0" spc="-35"/>
              <a:t> </a:t>
            </a:r>
            <a:r>
              <a:rPr dirty="0"/>
              <a:t>livelihood</a:t>
            </a:r>
            <a:r>
              <a:rPr dirty="0" spc="-35"/>
              <a:t> </a:t>
            </a:r>
            <a:r>
              <a:rPr dirty="0"/>
              <a:t>shifts,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 spc="-10"/>
              <a:t>migration.</a:t>
            </a:r>
          </a:p>
          <a:p>
            <a:pPr marL="12700" marR="163195" indent="31750">
              <a:lnSpc>
                <a:spcPts val="1120"/>
              </a:lnSpc>
              <a:spcBef>
                <a:spcPts val="1135"/>
              </a:spcBef>
            </a:pPr>
            <a:r>
              <a:rPr dirty="0" b="1">
                <a:latin typeface="Times New Roman"/>
                <a:cs typeface="Times New Roman"/>
              </a:rPr>
              <a:t>Agrarian</a:t>
            </a:r>
            <a:r>
              <a:rPr dirty="0" spc="-4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Multiplier</a:t>
            </a:r>
            <a:r>
              <a:rPr dirty="0" spc="-3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Effect</a:t>
            </a:r>
            <a:r>
              <a:rPr dirty="0"/>
              <a:t>:</a:t>
            </a:r>
            <a:r>
              <a:rPr dirty="0" spc="-40"/>
              <a:t> </a:t>
            </a:r>
            <a:r>
              <a:rPr dirty="0"/>
              <a:t>Flood</a:t>
            </a:r>
            <a:r>
              <a:rPr dirty="0" spc="-35"/>
              <a:t> </a:t>
            </a:r>
            <a:r>
              <a:rPr dirty="0"/>
              <a:t>shocks</a:t>
            </a:r>
            <a:r>
              <a:rPr dirty="0" spc="-35"/>
              <a:t> </a:t>
            </a:r>
            <a:r>
              <a:rPr dirty="0"/>
              <a:t>spread</a:t>
            </a:r>
            <a:r>
              <a:rPr dirty="0" spc="-40"/>
              <a:t> </a:t>
            </a:r>
            <a:r>
              <a:rPr dirty="0"/>
              <a:t>through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rural</a:t>
            </a:r>
            <a:r>
              <a:rPr dirty="0" spc="-40"/>
              <a:t> </a:t>
            </a:r>
            <a:r>
              <a:rPr dirty="0"/>
              <a:t>economy</a:t>
            </a:r>
            <a:r>
              <a:rPr dirty="0" spc="-35"/>
              <a:t> </a:t>
            </a:r>
            <a:r>
              <a:rPr dirty="0"/>
              <a:t>by</a:t>
            </a:r>
            <a:r>
              <a:rPr dirty="0" spc="-35"/>
              <a:t> </a:t>
            </a:r>
            <a:r>
              <a:rPr dirty="0"/>
              <a:t>reducing</a:t>
            </a:r>
            <a:r>
              <a:rPr dirty="0" spc="-40"/>
              <a:t> </a:t>
            </a:r>
            <a:r>
              <a:rPr dirty="0" spc="-20"/>
              <a:t>farm </a:t>
            </a:r>
            <a:r>
              <a:rPr dirty="0"/>
              <a:t>incomes,</a:t>
            </a:r>
            <a:r>
              <a:rPr dirty="0" spc="-40"/>
              <a:t> </a:t>
            </a:r>
            <a:r>
              <a:rPr dirty="0"/>
              <a:t>affecting</a:t>
            </a:r>
            <a:r>
              <a:rPr dirty="0" spc="-35"/>
              <a:t> </a:t>
            </a:r>
            <a:r>
              <a:rPr dirty="0"/>
              <a:t>food</a:t>
            </a:r>
            <a:r>
              <a:rPr dirty="0" spc="-35"/>
              <a:t> </a:t>
            </a:r>
            <a:r>
              <a:rPr dirty="0"/>
              <a:t>supply</a:t>
            </a:r>
            <a:r>
              <a:rPr dirty="0" spc="-35"/>
              <a:t> </a:t>
            </a:r>
            <a:r>
              <a:rPr dirty="0"/>
              <a:t>chains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regional</a:t>
            </a:r>
            <a:r>
              <a:rPr dirty="0" spc="-35"/>
              <a:t> </a:t>
            </a:r>
            <a:r>
              <a:rPr dirty="0"/>
              <a:t>food</a:t>
            </a:r>
            <a:r>
              <a:rPr dirty="0" spc="-35"/>
              <a:t> </a:t>
            </a:r>
            <a:r>
              <a:rPr dirty="0" spc="-10"/>
              <a:t>security.</a:t>
            </a:r>
          </a:p>
          <a:p>
            <a:pPr marL="12700" marR="139065">
              <a:lnSpc>
                <a:spcPts val="1120"/>
              </a:lnSpc>
              <a:spcBef>
                <a:spcPts val="1130"/>
              </a:spcBef>
            </a:pPr>
            <a:r>
              <a:rPr dirty="0" b="1">
                <a:latin typeface="Times New Roman"/>
                <a:cs typeface="Times New Roman"/>
              </a:rPr>
              <a:t>Positive</a:t>
            </a:r>
            <a:r>
              <a:rPr dirty="0" spc="-10" b="1">
                <a:latin typeface="Times New Roman"/>
                <a:cs typeface="Times New Roman"/>
              </a:rPr>
              <a:t> Externalities</a:t>
            </a:r>
            <a:r>
              <a:rPr dirty="0" spc="-10"/>
              <a:t>: </a:t>
            </a:r>
            <a:r>
              <a:rPr dirty="0"/>
              <a:t>Floodwaters</a:t>
            </a:r>
            <a:r>
              <a:rPr dirty="0" spc="-10"/>
              <a:t> </a:t>
            </a:r>
            <a:r>
              <a:rPr dirty="0"/>
              <a:t>deposit</a:t>
            </a:r>
            <a:r>
              <a:rPr dirty="0" spc="-10"/>
              <a:t> nutrient-</a:t>
            </a:r>
            <a:r>
              <a:rPr dirty="0"/>
              <a:t>rich</a:t>
            </a:r>
            <a:r>
              <a:rPr dirty="0" spc="-10"/>
              <a:t> </a:t>
            </a:r>
            <a:r>
              <a:rPr dirty="0"/>
              <a:t>alluvial</a:t>
            </a:r>
            <a:r>
              <a:rPr dirty="0" spc="-10"/>
              <a:t> </a:t>
            </a:r>
            <a:r>
              <a:rPr dirty="0"/>
              <a:t>silt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 spc="-10"/>
              <a:t>recharge groundwater, </a:t>
            </a:r>
            <a:r>
              <a:rPr dirty="0"/>
              <a:t>improving</a:t>
            </a:r>
            <a:r>
              <a:rPr dirty="0" spc="-10"/>
              <a:t> </a:t>
            </a:r>
            <a:r>
              <a:rPr dirty="0"/>
              <a:t>soil</a:t>
            </a:r>
            <a:r>
              <a:rPr dirty="0" spc="-5"/>
              <a:t> </a:t>
            </a:r>
            <a:r>
              <a:rPr dirty="0"/>
              <a:t>fertility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supporting</a:t>
            </a:r>
            <a:r>
              <a:rPr dirty="0" spc="-10"/>
              <a:t> post-</a:t>
            </a:r>
            <a:r>
              <a:rPr dirty="0"/>
              <a:t>flood</a:t>
            </a:r>
            <a:r>
              <a:rPr dirty="0" spc="-5"/>
              <a:t> </a:t>
            </a:r>
            <a:r>
              <a:rPr dirty="0" spc="-10"/>
              <a:t>agricultural productivity.</a:t>
            </a:r>
          </a:p>
          <a:p>
            <a:pPr marL="12700" marR="5080">
              <a:lnSpc>
                <a:spcPts val="1120"/>
              </a:lnSpc>
              <a:spcBef>
                <a:spcPts val="1135"/>
              </a:spcBef>
            </a:pPr>
            <a:r>
              <a:rPr dirty="0" b="1">
                <a:latin typeface="Times New Roman"/>
                <a:cs typeface="Times New Roman"/>
              </a:rPr>
              <a:t>Policy</a:t>
            </a:r>
            <a:r>
              <a:rPr dirty="0" spc="-2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&amp;</a:t>
            </a:r>
            <a:r>
              <a:rPr dirty="0" spc="-15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Infrastructure</a:t>
            </a:r>
            <a:r>
              <a:rPr dirty="0" spc="-1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Response</a:t>
            </a:r>
            <a:r>
              <a:rPr dirty="0"/>
              <a:t>:</a:t>
            </a:r>
            <a:r>
              <a:rPr dirty="0" spc="-15"/>
              <a:t> </a:t>
            </a:r>
            <a:r>
              <a:rPr dirty="0"/>
              <a:t>Due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recurring</a:t>
            </a:r>
            <a:r>
              <a:rPr dirty="0" spc="-15"/>
              <a:t> </a:t>
            </a:r>
            <a:r>
              <a:rPr dirty="0"/>
              <a:t>floods</a:t>
            </a:r>
            <a:r>
              <a:rPr dirty="0" spc="-15"/>
              <a:t> </a:t>
            </a:r>
            <a:r>
              <a:rPr dirty="0" spc="-10"/>
              <a:t>Governments</a:t>
            </a:r>
            <a:r>
              <a:rPr dirty="0" spc="-20"/>
              <a:t> </a:t>
            </a:r>
            <a:r>
              <a:rPr dirty="0"/>
              <a:t>invest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 spc="-10"/>
              <a:t>embankments, </a:t>
            </a:r>
            <a:r>
              <a:rPr dirty="0"/>
              <a:t>drainage</a:t>
            </a:r>
            <a:r>
              <a:rPr dirty="0" spc="-30"/>
              <a:t> </a:t>
            </a:r>
            <a:r>
              <a:rPr dirty="0"/>
              <a:t>systems,</a:t>
            </a:r>
            <a:r>
              <a:rPr dirty="0" spc="-25"/>
              <a:t> </a:t>
            </a:r>
            <a:r>
              <a:rPr dirty="0"/>
              <a:t>early</a:t>
            </a:r>
            <a:r>
              <a:rPr dirty="0" spc="-30"/>
              <a:t> </a:t>
            </a:r>
            <a:r>
              <a:rPr dirty="0"/>
              <a:t>warning</a:t>
            </a:r>
            <a:r>
              <a:rPr dirty="0" spc="-25"/>
              <a:t> </a:t>
            </a:r>
            <a:r>
              <a:rPr dirty="0"/>
              <a:t>networks,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10"/>
              <a:t>climate-</a:t>
            </a:r>
            <a:r>
              <a:rPr dirty="0"/>
              <a:t>resilient</a:t>
            </a:r>
            <a:r>
              <a:rPr dirty="0" spc="-25"/>
              <a:t> </a:t>
            </a:r>
            <a:r>
              <a:rPr dirty="0" spc="-10"/>
              <a:t>infrastructure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/>
              <a:t>reduce</a:t>
            </a:r>
            <a:r>
              <a:rPr dirty="0" spc="-25"/>
              <a:t> </a:t>
            </a:r>
            <a:r>
              <a:rPr dirty="0" spc="-10"/>
              <a:t>flood </a:t>
            </a:r>
            <a:r>
              <a:rPr dirty="0"/>
              <a:t>vulnerability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/>
              <a:t>strengthen</a:t>
            </a:r>
            <a:r>
              <a:rPr dirty="0" spc="-45"/>
              <a:t> </a:t>
            </a:r>
            <a:r>
              <a:rPr dirty="0"/>
              <a:t>disaster</a:t>
            </a:r>
            <a:r>
              <a:rPr dirty="0" spc="-40"/>
              <a:t> </a:t>
            </a:r>
            <a:r>
              <a:rPr dirty="0" spc="-10"/>
              <a:t>resilience.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8621"/>
            <a:ext cx="5759450" cy="2588260"/>
          </a:xfrm>
          <a:custGeom>
            <a:avLst/>
            <a:gdLst/>
            <a:ahLst/>
            <a:cxnLst/>
            <a:rect l="l" t="t" r="r" b="b"/>
            <a:pathLst>
              <a:path w="5759450" h="2588260">
                <a:moveTo>
                  <a:pt x="0" y="2588097"/>
                </a:moveTo>
                <a:lnTo>
                  <a:pt x="5759455" y="2588097"/>
                </a:lnTo>
                <a:lnTo>
                  <a:pt x="5759455" y="0"/>
                </a:lnTo>
                <a:lnTo>
                  <a:pt x="0" y="0"/>
                </a:lnTo>
                <a:lnTo>
                  <a:pt x="0" y="2588097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28"/>
            <a:ext cx="5759450" cy="358775"/>
            <a:chOff x="0" y="28"/>
            <a:chExt cx="5759450" cy="358775"/>
          </a:xfrm>
        </p:grpSpPr>
        <p:sp>
          <p:nvSpPr>
            <p:cNvPr id="4" name="object 4"/>
            <p:cNvSpPr/>
            <p:nvPr/>
          </p:nvSpPr>
          <p:spPr>
            <a:xfrm>
              <a:off x="0" y="351421"/>
              <a:ext cx="5759450" cy="7620"/>
            </a:xfrm>
            <a:custGeom>
              <a:avLst/>
              <a:gdLst/>
              <a:ahLst/>
              <a:cxnLst/>
              <a:rect l="l" t="t" r="r" b="b"/>
              <a:pathLst>
                <a:path w="5759450" h="7620">
                  <a:moveTo>
                    <a:pt x="0" y="7122"/>
                  </a:moveTo>
                  <a:lnTo>
                    <a:pt x="5759455" y="7122"/>
                  </a:lnTo>
                  <a:lnTo>
                    <a:pt x="5759455" y="0"/>
                  </a:lnTo>
                  <a:lnTo>
                    <a:pt x="0" y="0"/>
                  </a:lnTo>
                  <a:lnTo>
                    <a:pt x="0" y="7122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28"/>
              <a:ext cx="5756910" cy="351790"/>
            </a:xfrm>
            <a:custGeom>
              <a:avLst/>
              <a:gdLst/>
              <a:ahLst/>
              <a:cxnLst/>
              <a:rect l="l" t="t" r="r" b="b"/>
              <a:pathLst>
                <a:path w="5756910" h="351790">
                  <a:moveTo>
                    <a:pt x="5756812" y="351393"/>
                  </a:moveTo>
                  <a:lnTo>
                    <a:pt x="0" y="351393"/>
                  </a:lnTo>
                  <a:lnTo>
                    <a:pt x="0" y="0"/>
                  </a:lnTo>
                  <a:lnTo>
                    <a:pt x="5756812" y="0"/>
                  </a:lnTo>
                  <a:lnTo>
                    <a:pt x="5756812" y="351393"/>
                  </a:lnTo>
                  <a:close/>
                </a:path>
              </a:pathLst>
            </a:custGeom>
            <a:solidFill>
              <a:srgbClr val="23373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Literature</a:t>
            </a:r>
            <a:r>
              <a:rPr dirty="0"/>
              <a:t> </a:t>
            </a:r>
            <a:r>
              <a:rPr dirty="0" spc="-10"/>
              <a:t>Review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24712" y="3020909"/>
            <a:ext cx="50165" cy="107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15"/>
              </a:lnSpc>
            </a:pPr>
            <a:r>
              <a:rPr dirty="0" sz="700" spc="-55">
                <a:solidFill>
                  <a:srgbClr val="23373B"/>
                </a:solidFill>
                <a:latin typeface="Microsoft JhengHei UI"/>
                <a:cs typeface="Microsoft JhengHei UI"/>
              </a:rPr>
              <a:t>5</a:t>
            </a:r>
            <a:endParaRPr sz="700">
              <a:latin typeface="Microsoft JhengHei UI"/>
              <a:cs typeface="Microsoft JhengHei U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54662"/>
            <a:ext cx="5760720" cy="304165"/>
            <a:chOff x="0" y="354662"/>
            <a:chExt cx="5760720" cy="304165"/>
          </a:xfrm>
        </p:grpSpPr>
        <p:sp>
          <p:nvSpPr>
            <p:cNvPr id="9" name="object 9"/>
            <p:cNvSpPr/>
            <p:nvPr/>
          </p:nvSpPr>
          <p:spPr>
            <a:xfrm>
              <a:off x="5228" y="358544"/>
              <a:ext cx="5752465" cy="290195"/>
            </a:xfrm>
            <a:custGeom>
              <a:avLst/>
              <a:gdLst/>
              <a:ahLst/>
              <a:cxnLst/>
              <a:rect l="l" t="t" r="r" b="b"/>
              <a:pathLst>
                <a:path w="5752465" h="290195">
                  <a:moveTo>
                    <a:pt x="5752383" y="290076"/>
                  </a:moveTo>
                  <a:lnTo>
                    <a:pt x="0" y="290076"/>
                  </a:lnTo>
                  <a:lnTo>
                    <a:pt x="0" y="0"/>
                  </a:lnTo>
                  <a:lnTo>
                    <a:pt x="5752383" y="0"/>
                  </a:lnTo>
                  <a:lnTo>
                    <a:pt x="5752383" y="290076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354672"/>
              <a:ext cx="5760720" cy="304165"/>
            </a:xfrm>
            <a:custGeom>
              <a:avLst/>
              <a:gdLst/>
              <a:ahLst/>
              <a:cxnLst/>
              <a:rect l="l" t="t" r="r" b="b"/>
              <a:pathLst>
                <a:path w="5760720" h="304165">
                  <a:moveTo>
                    <a:pt x="5760148" y="2628"/>
                  </a:moveTo>
                  <a:lnTo>
                    <a:pt x="5759640" y="2628"/>
                  </a:lnTo>
                  <a:lnTo>
                    <a:pt x="5759640" y="1358"/>
                  </a:lnTo>
                  <a:lnTo>
                    <a:pt x="5755068" y="1358"/>
                  </a:lnTo>
                  <a:lnTo>
                    <a:pt x="5755068" y="6400"/>
                  </a:lnTo>
                  <a:lnTo>
                    <a:pt x="5755068" y="290982"/>
                  </a:lnTo>
                  <a:lnTo>
                    <a:pt x="5755068" y="291439"/>
                  </a:lnTo>
                  <a:lnTo>
                    <a:pt x="19037" y="291439"/>
                  </a:lnTo>
                  <a:lnTo>
                    <a:pt x="19037" y="8559"/>
                  </a:lnTo>
                  <a:lnTo>
                    <a:pt x="19037" y="6400"/>
                  </a:lnTo>
                  <a:lnTo>
                    <a:pt x="5755068" y="6400"/>
                  </a:lnTo>
                  <a:lnTo>
                    <a:pt x="5755068" y="1358"/>
                  </a:lnTo>
                  <a:lnTo>
                    <a:pt x="18440" y="1358"/>
                  </a:lnTo>
                  <a:lnTo>
                    <a:pt x="17005" y="0"/>
                  </a:lnTo>
                  <a:lnTo>
                    <a:pt x="2057" y="0"/>
                  </a:lnTo>
                  <a:lnTo>
                    <a:pt x="0" y="1917"/>
                  </a:lnTo>
                  <a:lnTo>
                    <a:pt x="0" y="302082"/>
                  </a:lnTo>
                  <a:lnTo>
                    <a:pt x="2019" y="303974"/>
                  </a:lnTo>
                  <a:lnTo>
                    <a:pt x="16967" y="303974"/>
                  </a:lnTo>
                  <a:lnTo>
                    <a:pt x="19037" y="302082"/>
                  </a:lnTo>
                  <a:lnTo>
                    <a:pt x="19037" y="299707"/>
                  </a:lnTo>
                  <a:lnTo>
                    <a:pt x="19037" y="296037"/>
                  </a:lnTo>
                  <a:lnTo>
                    <a:pt x="5760072" y="296037"/>
                  </a:lnTo>
                  <a:lnTo>
                    <a:pt x="5760072" y="294779"/>
                  </a:lnTo>
                  <a:lnTo>
                    <a:pt x="5760148" y="293954"/>
                  </a:lnTo>
                  <a:lnTo>
                    <a:pt x="5760148" y="293509"/>
                  </a:lnTo>
                  <a:lnTo>
                    <a:pt x="5760148" y="291439"/>
                  </a:lnTo>
                  <a:lnTo>
                    <a:pt x="5757608" y="291439"/>
                  </a:lnTo>
                  <a:lnTo>
                    <a:pt x="5757608" y="290982"/>
                  </a:lnTo>
                  <a:lnTo>
                    <a:pt x="5760148" y="290982"/>
                  </a:lnTo>
                  <a:lnTo>
                    <a:pt x="5760148" y="6413"/>
                  </a:lnTo>
                  <a:lnTo>
                    <a:pt x="5757608" y="6413"/>
                  </a:lnTo>
                  <a:lnTo>
                    <a:pt x="5760148" y="6400"/>
                  </a:lnTo>
                  <a:lnTo>
                    <a:pt x="5760148" y="3886"/>
                  </a:lnTo>
                  <a:lnTo>
                    <a:pt x="5760148" y="2628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7829" y="356146"/>
            <a:ext cx="885190" cy="26162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96850" marR="5080" indent="-184785">
              <a:lnSpc>
                <a:spcPts val="900"/>
              </a:lnSpc>
              <a:spcBef>
                <a:spcPts val="180"/>
              </a:spcBef>
            </a:pPr>
            <a:r>
              <a:rPr dirty="0" sz="800" spc="-10" b="1">
                <a:latin typeface="Times New Roman"/>
                <a:cs typeface="Times New Roman"/>
              </a:rPr>
              <a:t>Author(s)</a:t>
            </a:r>
            <a:r>
              <a:rPr dirty="0" sz="800" spc="5" b="1">
                <a:latin typeface="Times New Roman"/>
                <a:cs typeface="Times New Roman"/>
              </a:rPr>
              <a:t> </a:t>
            </a:r>
            <a:r>
              <a:rPr dirty="0" sz="800" b="1">
                <a:latin typeface="Times New Roman"/>
                <a:cs typeface="Times New Roman"/>
              </a:rPr>
              <a:t>&amp;</a:t>
            </a:r>
            <a:r>
              <a:rPr dirty="0" sz="800" spc="5" b="1">
                <a:latin typeface="Times New Roman"/>
                <a:cs typeface="Times New Roman"/>
              </a:rPr>
              <a:t> </a:t>
            </a:r>
            <a:r>
              <a:rPr dirty="0" sz="800" b="1">
                <a:latin typeface="Times New Roman"/>
                <a:cs typeface="Times New Roman"/>
              </a:rPr>
              <a:t>year</a:t>
            </a:r>
            <a:r>
              <a:rPr dirty="0" sz="800" spc="5" b="1">
                <a:latin typeface="Times New Roman"/>
                <a:cs typeface="Times New Roman"/>
              </a:rPr>
              <a:t> </a:t>
            </a:r>
            <a:r>
              <a:rPr dirty="0" sz="800" spc="-25" b="1">
                <a:latin typeface="Times New Roman"/>
                <a:cs typeface="Times New Roman"/>
              </a:rPr>
              <a:t>of</a:t>
            </a:r>
            <a:r>
              <a:rPr dirty="0" sz="800" spc="500" b="1">
                <a:latin typeface="Times New Roman"/>
                <a:cs typeface="Times New Roman"/>
              </a:rPr>
              <a:t> </a:t>
            </a:r>
            <a:r>
              <a:rPr dirty="0" sz="800" spc="-10" b="1">
                <a:latin typeface="Times New Roman"/>
                <a:cs typeface="Times New Roman"/>
              </a:rPr>
              <a:t>publication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65" y="354662"/>
            <a:ext cx="5759450" cy="1633220"/>
            <a:chOff x="1865" y="354662"/>
            <a:chExt cx="5759450" cy="1633220"/>
          </a:xfrm>
        </p:grpSpPr>
        <p:sp>
          <p:nvSpPr>
            <p:cNvPr id="13" name="object 13"/>
            <p:cNvSpPr/>
            <p:nvPr/>
          </p:nvSpPr>
          <p:spPr>
            <a:xfrm>
              <a:off x="975563" y="354672"/>
              <a:ext cx="2458085" cy="304165"/>
            </a:xfrm>
            <a:custGeom>
              <a:avLst/>
              <a:gdLst/>
              <a:ahLst/>
              <a:cxnLst/>
              <a:rect l="l" t="t" r="r" b="b"/>
              <a:pathLst>
                <a:path w="2458085" h="304165">
                  <a:moveTo>
                    <a:pt x="19037" y="1917"/>
                  </a:moveTo>
                  <a:lnTo>
                    <a:pt x="17005" y="0"/>
                  </a:lnTo>
                  <a:lnTo>
                    <a:pt x="2057" y="0"/>
                  </a:lnTo>
                  <a:lnTo>
                    <a:pt x="0" y="1917"/>
                  </a:lnTo>
                  <a:lnTo>
                    <a:pt x="0" y="302082"/>
                  </a:lnTo>
                  <a:lnTo>
                    <a:pt x="2032" y="303974"/>
                  </a:lnTo>
                  <a:lnTo>
                    <a:pt x="16979" y="303974"/>
                  </a:lnTo>
                  <a:lnTo>
                    <a:pt x="19037" y="302082"/>
                  </a:lnTo>
                  <a:lnTo>
                    <a:pt x="19037" y="299707"/>
                  </a:lnTo>
                  <a:lnTo>
                    <a:pt x="19037" y="295440"/>
                  </a:lnTo>
                  <a:lnTo>
                    <a:pt x="19037" y="8559"/>
                  </a:lnTo>
                  <a:lnTo>
                    <a:pt x="19037" y="4254"/>
                  </a:lnTo>
                  <a:lnTo>
                    <a:pt x="19037" y="1917"/>
                  </a:lnTo>
                  <a:close/>
                </a:path>
                <a:path w="2458085" h="304165">
                  <a:moveTo>
                    <a:pt x="1055573" y="1917"/>
                  </a:moveTo>
                  <a:lnTo>
                    <a:pt x="1053553" y="0"/>
                  </a:lnTo>
                  <a:lnTo>
                    <a:pt x="1038606" y="0"/>
                  </a:lnTo>
                  <a:lnTo>
                    <a:pt x="1036535" y="1917"/>
                  </a:lnTo>
                  <a:lnTo>
                    <a:pt x="1036535" y="302082"/>
                  </a:lnTo>
                  <a:lnTo>
                    <a:pt x="1038567" y="303974"/>
                  </a:lnTo>
                  <a:lnTo>
                    <a:pt x="1053515" y="303974"/>
                  </a:lnTo>
                  <a:lnTo>
                    <a:pt x="1055573" y="302082"/>
                  </a:lnTo>
                  <a:lnTo>
                    <a:pt x="1055573" y="299707"/>
                  </a:lnTo>
                  <a:lnTo>
                    <a:pt x="1055573" y="295440"/>
                  </a:lnTo>
                  <a:lnTo>
                    <a:pt x="1055573" y="8559"/>
                  </a:lnTo>
                  <a:lnTo>
                    <a:pt x="1055573" y="4254"/>
                  </a:lnTo>
                  <a:lnTo>
                    <a:pt x="1055573" y="1917"/>
                  </a:lnTo>
                  <a:close/>
                </a:path>
                <a:path w="2458085" h="304165">
                  <a:moveTo>
                    <a:pt x="2457958" y="1917"/>
                  </a:moveTo>
                  <a:lnTo>
                    <a:pt x="2455926" y="0"/>
                  </a:lnTo>
                  <a:lnTo>
                    <a:pt x="2440978" y="0"/>
                  </a:lnTo>
                  <a:lnTo>
                    <a:pt x="2438920" y="1917"/>
                  </a:lnTo>
                  <a:lnTo>
                    <a:pt x="2438920" y="302082"/>
                  </a:lnTo>
                  <a:lnTo>
                    <a:pt x="2440940" y="303974"/>
                  </a:lnTo>
                  <a:lnTo>
                    <a:pt x="2455900" y="303974"/>
                  </a:lnTo>
                  <a:lnTo>
                    <a:pt x="2457958" y="302082"/>
                  </a:lnTo>
                  <a:lnTo>
                    <a:pt x="2457958" y="299707"/>
                  </a:lnTo>
                  <a:lnTo>
                    <a:pt x="2457958" y="295440"/>
                  </a:lnTo>
                  <a:lnTo>
                    <a:pt x="2457958" y="8559"/>
                  </a:lnTo>
                  <a:lnTo>
                    <a:pt x="2457958" y="4254"/>
                  </a:lnTo>
                  <a:lnTo>
                    <a:pt x="2457958" y="191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405" y="651228"/>
              <a:ext cx="5754370" cy="1327785"/>
            </a:xfrm>
            <a:custGeom>
              <a:avLst/>
              <a:gdLst/>
              <a:ahLst/>
              <a:cxnLst/>
              <a:rect l="l" t="t" r="r" b="b"/>
              <a:pathLst>
                <a:path w="5754370" h="1327785">
                  <a:moveTo>
                    <a:pt x="5754030" y="1327702"/>
                  </a:moveTo>
                  <a:lnTo>
                    <a:pt x="0" y="1327702"/>
                  </a:lnTo>
                  <a:lnTo>
                    <a:pt x="0" y="0"/>
                  </a:lnTo>
                  <a:lnTo>
                    <a:pt x="5754030" y="0"/>
                  </a:lnTo>
                  <a:lnTo>
                    <a:pt x="5754030" y="13277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54" y="648550"/>
              <a:ext cx="5759450" cy="1339215"/>
            </a:xfrm>
            <a:custGeom>
              <a:avLst/>
              <a:gdLst/>
              <a:ahLst/>
              <a:cxnLst/>
              <a:rect l="l" t="t" r="r" b="b"/>
              <a:pathLst>
                <a:path w="5759450" h="1339214">
                  <a:moveTo>
                    <a:pt x="5759120" y="1422"/>
                  </a:moveTo>
                  <a:lnTo>
                    <a:pt x="5758612" y="1422"/>
                  </a:lnTo>
                  <a:lnTo>
                    <a:pt x="5758612" y="152"/>
                  </a:lnTo>
                  <a:lnTo>
                    <a:pt x="5754040" y="152"/>
                  </a:lnTo>
                  <a:lnTo>
                    <a:pt x="5754040" y="5219"/>
                  </a:lnTo>
                  <a:lnTo>
                    <a:pt x="5754040" y="1327772"/>
                  </a:lnTo>
                  <a:lnTo>
                    <a:pt x="3431667" y="1327861"/>
                  </a:lnTo>
                  <a:lnTo>
                    <a:pt x="3431667" y="8470"/>
                  </a:lnTo>
                  <a:lnTo>
                    <a:pt x="3431667" y="5219"/>
                  </a:lnTo>
                  <a:lnTo>
                    <a:pt x="5754040" y="5219"/>
                  </a:lnTo>
                  <a:lnTo>
                    <a:pt x="5754040" y="152"/>
                  </a:lnTo>
                  <a:lnTo>
                    <a:pt x="3429787" y="152"/>
                  </a:lnTo>
                  <a:lnTo>
                    <a:pt x="3429635" y="0"/>
                  </a:lnTo>
                  <a:lnTo>
                    <a:pt x="3414687" y="0"/>
                  </a:lnTo>
                  <a:lnTo>
                    <a:pt x="3414522" y="152"/>
                  </a:lnTo>
                  <a:lnTo>
                    <a:pt x="3412629" y="152"/>
                  </a:lnTo>
                  <a:lnTo>
                    <a:pt x="3412629" y="5219"/>
                  </a:lnTo>
                  <a:lnTo>
                    <a:pt x="3412629" y="1327861"/>
                  </a:lnTo>
                  <a:lnTo>
                    <a:pt x="2029282" y="1327861"/>
                  </a:lnTo>
                  <a:lnTo>
                    <a:pt x="2029282" y="8470"/>
                  </a:lnTo>
                  <a:lnTo>
                    <a:pt x="2029282" y="5219"/>
                  </a:lnTo>
                  <a:lnTo>
                    <a:pt x="3412629" y="5219"/>
                  </a:lnTo>
                  <a:lnTo>
                    <a:pt x="3412629" y="152"/>
                  </a:lnTo>
                  <a:lnTo>
                    <a:pt x="2027415" y="152"/>
                  </a:lnTo>
                  <a:lnTo>
                    <a:pt x="2027262" y="0"/>
                  </a:lnTo>
                  <a:lnTo>
                    <a:pt x="2012315" y="0"/>
                  </a:lnTo>
                  <a:lnTo>
                    <a:pt x="2012137" y="152"/>
                  </a:lnTo>
                  <a:lnTo>
                    <a:pt x="2010244" y="152"/>
                  </a:lnTo>
                  <a:lnTo>
                    <a:pt x="2010244" y="5219"/>
                  </a:lnTo>
                  <a:lnTo>
                    <a:pt x="2010244" y="1327861"/>
                  </a:lnTo>
                  <a:lnTo>
                    <a:pt x="992746" y="1327861"/>
                  </a:lnTo>
                  <a:lnTo>
                    <a:pt x="992746" y="8470"/>
                  </a:lnTo>
                  <a:lnTo>
                    <a:pt x="992746" y="5219"/>
                  </a:lnTo>
                  <a:lnTo>
                    <a:pt x="2010244" y="5219"/>
                  </a:lnTo>
                  <a:lnTo>
                    <a:pt x="2010244" y="152"/>
                  </a:lnTo>
                  <a:lnTo>
                    <a:pt x="990866" y="152"/>
                  </a:lnTo>
                  <a:lnTo>
                    <a:pt x="990714" y="0"/>
                  </a:lnTo>
                  <a:lnTo>
                    <a:pt x="975766" y="0"/>
                  </a:lnTo>
                  <a:lnTo>
                    <a:pt x="975601" y="152"/>
                  </a:lnTo>
                  <a:lnTo>
                    <a:pt x="973709" y="152"/>
                  </a:lnTo>
                  <a:lnTo>
                    <a:pt x="973709" y="5219"/>
                  </a:lnTo>
                  <a:lnTo>
                    <a:pt x="973709" y="1327861"/>
                  </a:lnTo>
                  <a:lnTo>
                    <a:pt x="5080" y="1327861"/>
                  </a:lnTo>
                  <a:lnTo>
                    <a:pt x="2540" y="1327861"/>
                  </a:lnTo>
                  <a:lnTo>
                    <a:pt x="5080" y="1327772"/>
                  </a:lnTo>
                  <a:lnTo>
                    <a:pt x="5080" y="5219"/>
                  </a:lnTo>
                  <a:lnTo>
                    <a:pt x="973709" y="5219"/>
                  </a:lnTo>
                  <a:lnTo>
                    <a:pt x="973709" y="152"/>
                  </a:lnTo>
                  <a:lnTo>
                    <a:pt x="508" y="152"/>
                  </a:lnTo>
                  <a:lnTo>
                    <a:pt x="508" y="1422"/>
                  </a:lnTo>
                  <a:lnTo>
                    <a:pt x="0" y="1422"/>
                  </a:lnTo>
                  <a:lnTo>
                    <a:pt x="0" y="1331582"/>
                  </a:lnTo>
                  <a:lnTo>
                    <a:pt x="444" y="1331582"/>
                  </a:lnTo>
                  <a:lnTo>
                    <a:pt x="444" y="1332852"/>
                  </a:lnTo>
                  <a:lnTo>
                    <a:pt x="973709" y="1332852"/>
                  </a:lnTo>
                  <a:lnTo>
                    <a:pt x="973709" y="1337297"/>
                  </a:lnTo>
                  <a:lnTo>
                    <a:pt x="975741" y="1339202"/>
                  </a:lnTo>
                  <a:lnTo>
                    <a:pt x="990688" y="1339202"/>
                  </a:lnTo>
                  <a:lnTo>
                    <a:pt x="992746" y="1337297"/>
                  </a:lnTo>
                  <a:lnTo>
                    <a:pt x="992746" y="1334985"/>
                  </a:lnTo>
                  <a:lnTo>
                    <a:pt x="992746" y="1332852"/>
                  </a:lnTo>
                  <a:lnTo>
                    <a:pt x="2010244" y="1332852"/>
                  </a:lnTo>
                  <a:lnTo>
                    <a:pt x="2010244" y="1337297"/>
                  </a:lnTo>
                  <a:lnTo>
                    <a:pt x="2012276" y="1339202"/>
                  </a:lnTo>
                  <a:lnTo>
                    <a:pt x="2027224" y="1339202"/>
                  </a:lnTo>
                  <a:lnTo>
                    <a:pt x="2029282" y="1337297"/>
                  </a:lnTo>
                  <a:lnTo>
                    <a:pt x="2029282" y="1334985"/>
                  </a:lnTo>
                  <a:lnTo>
                    <a:pt x="2029282" y="1332852"/>
                  </a:lnTo>
                  <a:lnTo>
                    <a:pt x="3412629" y="1332852"/>
                  </a:lnTo>
                  <a:lnTo>
                    <a:pt x="3412629" y="1337297"/>
                  </a:lnTo>
                  <a:lnTo>
                    <a:pt x="3414649" y="1339202"/>
                  </a:lnTo>
                  <a:lnTo>
                    <a:pt x="3429609" y="1339202"/>
                  </a:lnTo>
                  <a:lnTo>
                    <a:pt x="3431667" y="1337297"/>
                  </a:lnTo>
                  <a:lnTo>
                    <a:pt x="3431667" y="1334985"/>
                  </a:lnTo>
                  <a:lnTo>
                    <a:pt x="3431667" y="1332852"/>
                  </a:lnTo>
                  <a:lnTo>
                    <a:pt x="5758675" y="1332852"/>
                  </a:lnTo>
                  <a:lnTo>
                    <a:pt x="5758675" y="1331582"/>
                  </a:lnTo>
                  <a:lnTo>
                    <a:pt x="5759120" y="1331582"/>
                  </a:lnTo>
                  <a:lnTo>
                    <a:pt x="5759120" y="1330388"/>
                  </a:lnTo>
                  <a:lnTo>
                    <a:pt x="5759120" y="1327861"/>
                  </a:lnTo>
                  <a:lnTo>
                    <a:pt x="5756580" y="1327861"/>
                  </a:lnTo>
                  <a:lnTo>
                    <a:pt x="5759120" y="1327772"/>
                  </a:lnTo>
                  <a:lnTo>
                    <a:pt x="5759120" y="5219"/>
                  </a:lnTo>
                  <a:lnTo>
                    <a:pt x="5759120" y="2692"/>
                  </a:lnTo>
                  <a:lnTo>
                    <a:pt x="5759120" y="1422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277970" y="384226"/>
            <a:ext cx="476884" cy="187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10" b="1">
                <a:latin typeface="Times New Roman"/>
                <a:cs typeface="Times New Roman"/>
              </a:rPr>
              <a:t>Journal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79279" y="387655"/>
            <a:ext cx="31305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10" b="1">
                <a:latin typeface="Times New Roman"/>
                <a:cs typeface="Times New Roman"/>
              </a:rPr>
              <a:t>Title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56138" y="397934"/>
            <a:ext cx="902969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b="1">
                <a:latin typeface="Times New Roman"/>
                <a:cs typeface="Times New Roman"/>
              </a:rPr>
              <a:t>Major</a:t>
            </a:r>
            <a:r>
              <a:rPr dirty="0" sz="1000" spc="4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Findings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008" y="1063409"/>
            <a:ext cx="927735" cy="56261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ts val="1050"/>
              </a:lnSpc>
              <a:spcBef>
                <a:spcPts val="160"/>
              </a:spcBef>
            </a:pPr>
            <a:r>
              <a:rPr dirty="0" sz="900">
                <a:latin typeface="Times New Roman"/>
                <a:cs typeface="Times New Roman"/>
              </a:rPr>
              <a:t>Sinha,</a:t>
            </a:r>
            <a:r>
              <a:rPr dirty="0" sz="900" spc="27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R.,</a:t>
            </a:r>
            <a:r>
              <a:rPr dirty="0" sz="900" spc="27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Bapalu, </a:t>
            </a:r>
            <a:r>
              <a:rPr dirty="0" sz="900">
                <a:latin typeface="Times New Roman"/>
                <a:cs typeface="Times New Roman"/>
              </a:rPr>
              <a:t>G.V.,</a:t>
            </a:r>
            <a:r>
              <a:rPr dirty="0" sz="900" spc="3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Singh,</a:t>
            </a:r>
            <a:r>
              <a:rPr dirty="0" sz="900" spc="340">
                <a:latin typeface="Times New Roman"/>
                <a:cs typeface="Times New Roman"/>
              </a:rPr>
              <a:t> </a:t>
            </a:r>
            <a:r>
              <a:rPr dirty="0" sz="900" spc="-20">
                <a:latin typeface="Times New Roman"/>
                <a:cs typeface="Times New Roman"/>
              </a:rPr>
              <a:t>L.K.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ts val="1005"/>
              </a:lnSpc>
            </a:pPr>
            <a:r>
              <a:rPr dirty="0" sz="900">
                <a:latin typeface="Times New Roman"/>
                <a:cs typeface="Times New Roman"/>
              </a:rPr>
              <a:t>&amp;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Rath,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25">
                <a:latin typeface="Times New Roman"/>
                <a:cs typeface="Times New Roman"/>
              </a:rPr>
              <a:t>B.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ts val="1065"/>
              </a:lnSpc>
            </a:pPr>
            <a:r>
              <a:rPr dirty="0" sz="900" spc="-10">
                <a:latin typeface="Times New Roman"/>
                <a:cs typeface="Times New Roman"/>
              </a:rPr>
              <a:t>(2008)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15879" y="1113790"/>
            <a:ext cx="913130" cy="37592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180"/>
              </a:spcBef>
            </a:pPr>
            <a:r>
              <a:rPr dirty="0" sz="800" i="1">
                <a:latin typeface="Times New Roman"/>
                <a:cs typeface="Times New Roman"/>
              </a:rPr>
              <a:t>J.</a:t>
            </a:r>
            <a:r>
              <a:rPr dirty="0" sz="800" spc="-20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Indian</a:t>
            </a:r>
            <a:r>
              <a:rPr dirty="0" sz="800" spc="-20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Soc.</a:t>
            </a:r>
            <a:r>
              <a:rPr dirty="0" sz="800" spc="-15" i="1">
                <a:latin typeface="Times New Roman"/>
                <a:cs typeface="Times New Roman"/>
              </a:rPr>
              <a:t> </a:t>
            </a:r>
            <a:r>
              <a:rPr dirty="0" sz="800" spc="-10" i="1">
                <a:latin typeface="Times New Roman"/>
                <a:cs typeface="Times New Roman"/>
              </a:rPr>
              <a:t>Remote</a:t>
            </a:r>
            <a:r>
              <a:rPr dirty="0" sz="800" spc="500" i="1">
                <a:latin typeface="Times New Roman"/>
                <a:cs typeface="Times New Roman"/>
              </a:rPr>
              <a:t> </a:t>
            </a:r>
            <a:r>
              <a:rPr dirty="0" sz="800" spc="-10" i="1">
                <a:latin typeface="Times New Roman"/>
                <a:cs typeface="Times New Roman"/>
              </a:rPr>
              <a:t>Sens.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880"/>
              </a:lnSpc>
            </a:pPr>
            <a:r>
              <a:rPr dirty="0" sz="800" i="1">
                <a:latin typeface="Times New Roman"/>
                <a:cs typeface="Times New Roman"/>
              </a:rPr>
              <a:t>36:</a:t>
            </a:r>
            <a:r>
              <a:rPr dirty="0" sz="800" spc="5" i="1">
                <a:latin typeface="Times New Roman"/>
                <a:cs typeface="Times New Roman"/>
              </a:rPr>
              <a:t> </a:t>
            </a:r>
            <a:r>
              <a:rPr dirty="0" sz="800" spc="-10" i="1">
                <a:latin typeface="Times New Roman"/>
                <a:cs typeface="Times New Roman"/>
              </a:rPr>
              <a:t>293–</a:t>
            </a:r>
            <a:r>
              <a:rPr dirty="0" sz="800" spc="-25" i="1">
                <a:latin typeface="Times New Roman"/>
                <a:cs typeface="Times New Roman"/>
              </a:rPr>
              <a:t>307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52420" y="999553"/>
            <a:ext cx="1324610" cy="60452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180"/>
              </a:spcBef>
            </a:pPr>
            <a:r>
              <a:rPr dirty="0" sz="800">
                <a:latin typeface="Times New Roman"/>
                <a:cs typeface="Times New Roman"/>
              </a:rPr>
              <a:t>Flood</a:t>
            </a:r>
            <a:r>
              <a:rPr dirty="0" sz="800" spc="-1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Risk</a:t>
            </a:r>
            <a:r>
              <a:rPr dirty="0" sz="800" spc="-15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Times New Roman"/>
                <a:cs typeface="Times New Roman"/>
              </a:rPr>
              <a:t>Analysis</a:t>
            </a:r>
            <a:r>
              <a:rPr dirty="0" sz="800" spc="-1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in</a:t>
            </a:r>
            <a:r>
              <a:rPr dirty="0" sz="800" spc="-1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the</a:t>
            </a:r>
            <a:r>
              <a:rPr dirty="0" sz="800" spc="-15">
                <a:latin typeface="Times New Roman"/>
                <a:cs typeface="Times New Roman"/>
              </a:rPr>
              <a:t> </a:t>
            </a:r>
            <a:r>
              <a:rPr dirty="0" sz="800" spc="-20">
                <a:latin typeface="Times New Roman"/>
                <a:cs typeface="Times New Roman"/>
              </a:rPr>
              <a:t>Kosi</a:t>
            </a:r>
            <a:r>
              <a:rPr dirty="0" sz="800" spc="50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River</a:t>
            </a:r>
            <a:r>
              <a:rPr dirty="0" sz="800" spc="-3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Basin,</a:t>
            </a:r>
            <a:r>
              <a:rPr dirty="0" sz="800" spc="-3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North</a:t>
            </a:r>
            <a:r>
              <a:rPr dirty="0" sz="800" spc="-3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Bihar</a:t>
            </a:r>
            <a:r>
              <a:rPr dirty="0" sz="800" spc="-30">
                <a:latin typeface="Times New Roman"/>
                <a:cs typeface="Times New Roman"/>
              </a:rPr>
              <a:t> </a:t>
            </a:r>
            <a:r>
              <a:rPr dirty="0" sz="800" spc="-20">
                <a:latin typeface="Times New Roman"/>
                <a:cs typeface="Times New Roman"/>
              </a:rPr>
              <a:t>Using</a:t>
            </a:r>
            <a:r>
              <a:rPr dirty="0" sz="800" spc="50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Times New Roman"/>
                <a:cs typeface="Times New Roman"/>
              </a:rPr>
              <a:t>Multi-Parametric</a:t>
            </a:r>
            <a:r>
              <a:rPr dirty="0" sz="800" spc="1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Approach</a:t>
            </a:r>
            <a:r>
              <a:rPr dirty="0" sz="800" spc="15">
                <a:latin typeface="Times New Roman"/>
                <a:cs typeface="Times New Roman"/>
              </a:rPr>
              <a:t> </a:t>
            </a:r>
            <a:r>
              <a:rPr dirty="0" sz="800" spc="-25">
                <a:latin typeface="Times New Roman"/>
                <a:cs typeface="Times New Roman"/>
              </a:rPr>
              <a:t>of</a:t>
            </a:r>
            <a:r>
              <a:rPr dirty="0" sz="800" spc="50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Times New Roman"/>
                <a:cs typeface="Times New Roman"/>
              </a:rPr>
              <a:t>Analytical</a:t>
            </a:r>
            <a:r>
              <a:rPr dirty="0" sz="800">
                <a:latin typeface="Times New Roman"/>
                <a:cs typeface="Times New Roman"/>
              </a:rPr>
              <a:t> Hierarchy</a:t>
            </a:r>
            <a:r>
              <a:rPr dirty="0" sz="800" spc="5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Times New Roman"/>
                <a:cs typeface="Times New Roman"/>
              </a:rPr>
              <a:t>Process</a:t>
            </a:r>
            <a:r>
              <a:rPr dirty="0" sz="800" spc="50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Times New Roman"/>
                <a:cs typeface="Times New Roman"/>
              </a:rPr>
              <a:t>(AHP)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549009" y="747099"/>
            <a:ext cx="33020" cy="714375"/>
          </a:xfrm>
          <a:custGeom>
            <a:avLst/>
            <a:gdLst/>
            <a:ahLst/>
            <a:cxnLst/>
            <a:rect l="l" t="t" r="r" b="b"/>
            <a:pathLst>
              <a:path w="33020" h="714375">
                <a:moveTo>
                  <a:pt x="32462" y="16231"/>
                </a:moveTo>
                <a:lnTo>
                  <a:pt x="22442" y="31226"/>
                </a:lnTo>
                <a:lnTo>
                  <a:pt x="20454" y="32050"/>
                </a:lnTo>
                <a:lnTo>
                  <a:pt x="18383" y="32462"/>
                </a:lnTo>
                <a:lnTo>
                  <a:pt x="16231" y="32462"/>
                </a:lnTo>
                <a:lnTo>
                  <a:pt x="14078" y="32462"/>
                </a:lnTo>
                <a:lnTo>
                  <a:pt x="12008" y="32050"/>
                </a:lnTo>
                <a:lnTo>
                  <a:pt x="10019" y="31226"/>
                </a:lnTo>
                <a:lnTo>
                  <a:pt x="8031" y="30403"/>
                </a:lnTo>
                <a:lnTo>
                  <a:pt x="0" y="18383"/>
                </a:lnTo>
                <a:lnTo>
                  <a:pt x="0" y="16231"/>
                </a:lnTo>
                <a:lnTo>
                  <a:pt x="0" y="14078"/>
                </a:lnTo>
                <a:lnTo>
                  <a:pt x="4754" y="4754"/>
                </a:lnTo>
                <a:lnTo>
                  <a:pt x="6275" y="3232"/>
                </a:lnTo>
                <a:lnTo>
                  <a:pt x="8031" y="2059"/>
                </a:lnTo>
                <a:lnTo>
                  <a:pt x="10019" y="1235"/>
                </a:lnTo>
                <a:lnTo>
                  <a:pt x="12008" y="411"/>
                </a:lnTo>
                <a:lnTo>
                  <a:pt x="14078" y="0"/>
                </a:lnTo>
                <a:lnTo>
                  <a:pt x="16231" y="0"/>
                </a:lnTo>
                <a:lnTo>
                  <a:pt x="18383" y="0"/>
                </a:lnTo>
                <a:lnTo>
                  <a:pt x="20454" y="411"/>
                </a:lnTo>
                <a:lnTo>
                  <a:pt x="22442" y="1235"/>
                </a:lnTo>
                <a:lnTo>
                  <a:pt x="24431" y="2059"/>
                </a:lnTo>
                <a:lnTo>
                  <a:pt x="32462" y="14078"/>
                </a:lnTo>
                <a:lnTo>
                  <a:pt x="32462" y="16231"/>
                </a:lnTo>
                <a:close/>
              </a:path>
              <a:path w="33020" h="714375">
                <a:moveTo>
                  <a:pt x="32462" y="697943"/>
                </a:moveTo>
                <a:lnTo>
                  <a:pt x="22442" y="712938"/>
                </a:lnTo>
                <a:lnTo>
                  <a:pt x="20454" y="713762"/>
                </a:lnTo>
                <a:lnTo>
                  <a:pt x="18383" y="714174"/>
                </a:lnTo>
                <a:lnTo>
                  <a:pt x="16231" y="714174"/>
                </a:lnTo>
                <a:lnTo>
                  <a:pt x="14078" y="714174"/>
                </a:lnTo>
                <a:lnTo>
                  <a:pt x="12008" y="713762"/>
                </a:lnTo>
                <a:lnTo>
                  <a:pt x="10019" y="712938"/>
                </a:lnTo>
                <a:lnTo>
                  <a:pt x="8031" y="712115"/>
                </a:lnTo>
                <a:lnTo>
                  <a:pt x="0" y="700095"/>
                </a:lnTo>
                <a:lnTo>
                  <a:pt x="0" y="697943"/>
                </a:lnTo>
                <a:lnTo>
                  <a:pt x="0" y="695790"/>
                </a:lnTo>
                <a:lnTo>
                  <a:pt x="411" y="693720"/>
                </a:lnTo>
                <a:lnTo>
                  <a:pt x="1235" y="691731"/>
                </a:lnTo>
                <a:lnTo>
                  <a:pt x="2059" y="689743"/>
                </a:lnTo>
                <a:lnTo>
                  <a:pt x="3232" y="687987"/>
                </a:lnTo>
                <a:lnTo>
                  <a:pt x="4754" y="686465"/>
                </a:lnTo>
                <a:lnTo>
                  <a:pt x="6275" y="684943"/>
                </a:lnTo>
                <a:lnTo>
                  <a:pt x="8031" y="683771"/>
                </a:lnTo>
                <a:lnTo>
                  <a:pt x="10019" y="682947"/>
                </a:lnTo>
                <a:lnTo>
                  <a:pt x="12008" y="682123"/>
                </a:lnTo>
                <a:lnTo>
                  <a:pt x="14078" y="681711"/>
                </a:lnTo>
                <a:lnTo>
                  <a:pt x="16231" y="681711"/>
                </a:lnTo>
                <a:lnTo>
                  <a:pt x="18383" y="681711"/>
                </a:lnTo>
                <a:lnTo>
                  <a:pt x="20454" y="682123"/>
                </a:lnTo>
                <a:lnTo>
                  <a:pt x="22442" y="682947"/>
                </a:lnTo>
                <a:lnTo>
                  <a:pt x="24431" y="683771"/>
                </a:lnTo>
                <a:lnTo>
                  <a:pt x="26186" y="684943"/>
                </a:lnTo>
                <a:lnTo>
                  <a:pt x="27708" y="686465"/>
                </a:lnTo>
                <a:lnTo>
                  <a:pt x="29230" y="687987"/>
                </a:lnTo>
                <a:lnTo>
                  <a:pt x="30403" y="689743"/>
                </a:lnTo>
                <a:lnTo>
                  <a:pt x="31226" y="691731"/>
                </a:lnTo>
                <a:lnTo>
                  <a:pt x="32050" y="693720"/>
                </a:lnTo>
                <a:lnTo>
                  <a:pt x="32462" y="695790"/>
                </a:lnTo>
                <a:lnTo>
                  <a:pt x="32462" y="697943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648279" y="677590"/>
            <a:ext cx="1884045" cy="596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4"/>
              </a:spcBef>
            </a:pPr>
            <a:r>
              <a:rPr dirty="0" sz="750">
                <a:latin typeface="Times New Roman"/>
                <a:cs typeface="Times New Roman"/>
              </a:rPr>
              <a:t>Constructed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GIS-based</a:t>
            </a:r>
            <a:r>
              <a:rPr dirty="0" sz="750" spc="3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Flood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Risk</a:t>
            </a:r>
            <a:r>
              <a:rPr dirty="0" sz="750" spc="3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Index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(FRI)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via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AHP,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integrating</a:t>
            </a:r>
            <a:r>
              <a:rPr dirty="0" sz="750" spc="3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geomorphological,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land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cover,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topographic,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and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population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density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parameters;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validated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against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MODIS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inundation</a:t>
            </a:r>
            <a:r>
              <a:rPr dirty="0" sz="750" spc="4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maps</a:t>
            </a:r>
            <a:r>
              <a:rPr dirty="0" sz="750" spc="4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(1988–</a:t>
            </a:r>
            <a:r>
              <a:rPr dirty="0" sz="750" spc="-10">
                <a:latin typeface="Times New Roman"/>
                <a:cs typeface="Times New Roman"/>
              </a:rPr>
              <a:t>2006).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48279" y="1359302"/>
            <a:ext cx="1721485" cy="596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4"/>
              </a:spcBef>
            </a:pPr>
            <a:r>
              <a:rPr dirty="0" sz="750">
                <a:latin typeface="Times New Roman"/>
                <a:cs typeface="Times New Roman"/>
              </a:rPr>
              <a:t>Embankment-based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flood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control</a:t>
            </a:r>
            <a:r>
              <a:rPr dirty="0" sz="750" spc="35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is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insufficient;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sediment</a:t>
            </a:r>
            <a:r>
              <a:rPr dirty="0" sz="750" spc="3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aggradation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raises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riverbed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levels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over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time,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increasing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flood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severity — relevant to Bihar’s </a:t>
            </a:r>
            <a:r>
              <a:rPr dirty="0" sz="750" spc="-10">
                <a:latin typeface="Times New Roman"/>
                <a:cs typeface="Times New Roman"/>
              </a:rPr>
              <a:t>engineering-</a:t>
            </a:r>
            <a:r>
              <a:rPr dirty="0" sz="750">
                <a:latin typeface="Times New Roman"/>
                <a:cs typeface="Times New Roman"/>
              </a:rPr>
              <a:t>dependent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flood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management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approach.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865" y="1980807"/>
            <a:ext cx="5759450" cy="1258570"/>
            <a:chOff x="1865" y="1980807"/>
            <a:chExt cx="5759450" cy="1258570"/>
          </a:xfrm>
        </p:grpSpPr>
        <p:sp>
          <p:nvSpPr>
            <p:cNvPr id="26" name="object 26"/>
            <p:cNvSpPr/>
            <p:nvPr/>
          </p:nvSpPr>
          <p:spPr>
            <a:xfrm>
              <a:off x="4405" y="1983489"/>
              <a:ext cx="5754370" cy="1255395"/>
            </a:xfrm>
            <a:custGeom>
              <a:avLst/>
              <a:gdLst/>
              <a:ahLst/>
              <a:cxnLst/>
              <a:rect l="l" t="t" r="r" b="b"/>
              <a:pathLst>
                <a:path w="5754370" h="1255395">
                  <a:moveTo>
                    <a:pt x="5754029" y="1255010"/>
                  </a:moveTo>
                  <a:lnTo>
                    <a:pt x="0" y="1255010"/>
                  </a:lnTo>
                  <a:lnTo>
                    <a:pt x="0" y="0"/>
                  </a:lnTo>
                  <a:lnTo>
                    <a:pt x="5754029" y="0"/>
                  </a:lnTo>
                  <a:lnTo>
                    <a:pt x="5754029" y="125501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854" y="1980819"/>
              <a:ext cx="5759450" cy="1258570"/>
            </a:xfrm>
            <a:custGeom>
              <a:avLst/>
              <a:gdLst/>
              <a:ahLst/>
              <a:cxnLst/>
              <a:rect l="l" t="t" r="r" b="b"/>
              <a:pathLst>
                <a:path w="5759450" h="1258570">
                  <a:moveTo>
                    <a:pt x="5759120" y="1409"/>
                  </a:moveTo>
                  <a:lnTo>
                    <a:pt x="5758612" y="1409"/>
                  </a:lnTo>
                  <a:lnTo>
                    <a:pt x="5758612" y="139"/>
                  </a:lnTo>
                  <a:lnTo>
                    <a:pt x="3430943" y="139"/>
                  </a:lnTo>
                  <a:lnTo>
                    <a:pt x="3430943" y="0"/>
                  </a:lnTo>
                  <a:lnTo>
                    <a:pt x="3413366" y="0"/>
                  </a:lnTo>
                  <a:lnTo>
                    <a:pt x="3413366" y="139"/>
                  </a:lnTo>
                  <a:lnTo>
                    <a:pt x="2028558" y="139"/>
                  </a:lnTo>
                  <a:lnTo>
                    <a:pt x="2028558" y="0"/>
                  </a:lnTo>
                  <a:lnTo>
                    <a:pt x="2010994" y="0"/>
                  </a:lnTo>
                  <a:lnTo>
                    <a:pt x="2010994" y="139"/>
                  </a:lnTo>
                  <a:lnTo>
                    <a:pt x="992022" y="139"/>
                  </a:lnTo>
                  <a:lnTo>
                    <a:pt x="992022" y="0"/>
                  </a:lnTo>
                  <a:lnTo>
                    <a:pt x="974445" y="0"/>
                  </a:lnTo>
                  <a:lnTo>
                    <a:pt x="974445" y="139"/>
                  </a:lnTo>
                  <a:lnTo>
                    <a:pt x="508" y="139"/>
                  </a:lnTo>
                  <a:lnTo>
                    <a:pt x="508" y="1409"/>
                  </a:lnTo>
                  <a:lnTo>
                    <a:pt x="0" y="1409"/>
                  </a:lnTo>
                  <a:lnTo>
                    <a:pt x="0" y="2679"/>
                  </a:lnTo>
                  <a:lnTo>
                    <a:pt x="0" y="5219"/>
                  </a:lnTo>
                  <a:lnTo>
                    <a:pt x="0" y="1258023"/>
                  </a:lnTo>
                  <a:lnTo>
                    <a:pt x="5080" y="1258023"/>
                  </a:lnTo>
                  <a:lnTo>
                    <a:pt x="5080" y="5219"/>
                  </a:lnTo>
                  <a:lnTo>
                    <a:pt x="2540" y="5219"/>
                  </a:lnTo>
                  <a:lnTo>
                    <a:pt x="5080" y="5207"/>
                  </a:lnTo>
                  <a:lnTo>
                    <a:pt x="973709" y="5207"/>
                  </a:lnTo>
                  <a:lnTo>
                    <a:pt x="973709" y="8534"/>
                  </a:lnTo>
                  <a:lnTo>
                    <a:pt x="973721" y="1258150"/>
                  </a:lnTo>
                  <a:lnTo>
                    <a:pt x="982878" y="1258150"/>
                  </a:lnTo>
                  <a:lnTo>
                    <a:pt x="982878" y="1257681"/>
                  </a:lnTo>
                  <a:lnTo>
                    <a:pt x="983602" y="1257681"/>
                  </a:lnTo>
                  <a:lnTo>
                    <a:pt x="983602" y="1258150"/>
                  </a:lnTo>
                  <a:lnTo>
                    <a:pt x="992746" y="1258150"/>
                  </a:lnTo>
                  <a:lnTo>
                    <a:pt x="992746" y="8534"/>
                  </a:lnTo>
                  <a:lnTo>
                    <a:pt x="988174" y="8534"/>
                  </a:lnTo>
                  <a:lnTo>
                    <a:pt x="992746" y="8458"/>
                  </a:lnTo>
                  <a:lnTo>
                    <a:pt x="992746" y="5207"/>
                  </a:lnTo>
                  <a:lnTo>
                    <a:pt x="2010244" y="5207"/>
                  </a:lnTo>
                  <a:lnTo>
                    <a:pt x="2010244" y="8534"/>
                  </a:lnTo>
                  <a:lnTo>
                    <a:pt x="2010270" y="1258150"/>
                  </a:lnTo>
                  <a:lnTo>
                    <a:pt x="2019427" y="1258150"/>
                  </a:lnTo>
                  <a:lnTo>
                    <a:pt x="2019427" y="1257681"/>
                  </a:lnTo>
                  <a:lnTo>
                    <a:pt x="2020150" y="1257681"/>
                  </a:lnTo>
                  <a:lnTo>
                    <a:pt x="2020150" y="1258150"/>
                  </a:lnTo>
                  <a:lnTo>
                    <a:pt x="2029282" y="1258150"/>
                  </a:lnTo>
                  <a:lnTo>
                    <a:pt x="2029282" y="8534"/>
                  </a:lnTo>
                  <a:lnTo>
                    <a:pt x="2024722" y="8534"/>
                  </a:lnTo>
                  <a:lnTo>
                    <a:pt x="2029282" y="8458"/>
                  </a:lnTo>
                  <a:lnTo>
                    <a:pt x="2029282" y="5207"/>
                  </a:lnTo>
                  <a:lnTo>
                    <a:pt x="3412629" y="5207"/>
                  </a:lnTo>
                  <a:lnTo>
                    <a:pt x="3412629" y="8534"/>
                  </a:lnTo>
                  <a:lnTo>
                    <a:pt x="3412642" y="1258150"/>
                  </a:lnTo>
                  <a:lnTo>
                    <a:pt x="3421799" y="1258150"/>
                  </a:lnTo>
                  <a:lnTo>
                    <a:pt x="3421799" y="1257681"/>
                  </a:lnTo>
                  <a:lnTo>
                    <a:pt x="3422523" y="1257681"/>
                  </a:lnTo>
                  <a:lnTo>
                    <a:pt x="3422523" y="1258150"/>
                  </a:lnTo>
                  <a:lnTo>
                    <a:pt x="3431667" y="1258150"/>
                  </a:lnTo>
                  <a:lnTo>
                    <a:pt x="3431667" y="8534"/>
                  </a:lnTo>
                  <a:lnTo>
                    <a:pt x="3427095" y="8534"/>
                  </a:lnTo>
                  <a:lnTo>
                    <a:pt x="3431667" y="8458"/>
                  </a:lnTo>
                  <a:lnTo>
                    <a:pt x="3431667" y="5207"/>
                  </a:lnTo>
                  <a:lnTo>
                    <a:pt x="5754040" y="5207"/>
                  </a:lnTo>
                  <a:lnTo>
                    <a:pt x="5754040" y="1258023"/>
                  </a:lnTo>
                  <a:lnTo>
                    <a:pt x="5759120" y="1258023"/>
                  </a:lnTo>
                  <a:lnTo>
                    <a:pt x="5759120" y="5219"/>
                  </a:lnTo>
                  <a:lnTo>
                    <a:pt x="5756580" y="5219"/>
                  </a:lnTo>
                  <a:lnTo>
                    <a:pt x="5759120" y="5207"/>
                  </a:lnTo>
                  <a:lnTo>
                    <a:pt x="5759120" y="2679"/>
                  </a:lnTo>
                  <a:lnTo>
                    <a:pt x="5759120" y="1409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0311" y="2274694"/>
            <a:ext cx="752475" cy="71882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41275">
              <a:lnSpc>
                <a:spcPts val="900"/>
              </a:lnSpc>
              <a:spcBef>
                <a:spcPts val="180"/>
              </a:spcBef>
            </a:pPr>
            <a:r>
              <a:rPr dirty="0" sz="800">
                <a:latin typeface="Times New Roman"/>
                <a:cs typeface="Times New Roman"/>
              </a:rPr>
              <a:t>National</a:t>
            </a:r>
            <a:r>
              <a:rPr dirty="0" sz="800" spc="-5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Times New Roman"/>
                <a:cs typeface="Times New Roman"/>
              </a:rPr>
              <a:t>Remote</a:t>
            </a:r>
            <a:r>
              <a:rPr dirty="0" sz="800" spc="50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Sensing</a:t>
            </a:r>
            <a:r>
              <a:rPr dirty="0" sz="800" spc="-5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Times New Roman"/>
                <a:cs typeface="Times New Roman"/>
              </a:rPr>
              <a:t>Centre</a:t>
            </a:r>
            <a:r>
              <a:rPr dirty="0" sz="800" spc="50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(NRSC),</a:t>
            </a:r>
            <a:r>
              <a:rPr dirty="0" sz="800" spc="-4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ISRO</a:t>
            </a:r>
            <a:r>
              <a:rPr dirty="0" sz="800" spc="-40">
                <a:latin typeface="Times New Roman"/>
                <a:cs typeface="Times New Roman"/>
              </a:rPr>
              <a:t> </a:t>
            </a:r>
            <a:r>
              <a:rPr dirty="0" sz="800" spc="-50">
                <a:latin typeface="Times New Roman"/>
                <a:cs typeface="Times New Roman"/>
              </a:rPr>
              <a:t>/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850"/>
              </a:lnSpc>
            </a:pPr>
            <a:r>
              <a:rPr dirty="0" sz="800">
                <a:latin typeface="Times New Roman"/>
                <a:cs typeface="Times New Roman"/>
              </a:rPr>
              <a:t>NDMA</a:t>
            </a:r>
            <a:r>
              <a:rPr dirty="0" sz="800" spc="-2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/</a:t>
            </a:r>
            <a:r>
              <a:rPr dirty="0" sz="800" spc="-2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Govt.</a:t>
            </a:r>
            <a:r>
              <a:rPr dirty="0" sz="800" spc="-25">
                <a:latin typeface="Times New Roman"/>
                <a:cs typeface="Times New Roman"/>
              </a:rPr>
              <a:t> of</a:t>
            </a:r>
            <a:endParaRPr sz="800">
              <a:latin typeface="Times New Roman"/>
              <a:cs typeface="Times New Roman"/>
            </a:endParaRPr>
          </a:p>
          <a:p>
            <a:pPr marL="12700" marR="461009">
              <a:lnSpc>
                <a:spcPts val="900"/>
              </a:lnSpc>
              <a:spcBef>
                <a:spcPts val="50"/>
              </a:spcBef>
            </a:pPr>
            <a:r>
              <a:rPr dirty="0" sz="800" spc="-10">
                <a:latin typeface="Times New Roman"/>
                <a:cs typeface="Times New Roman"/>
              </a:rPr>
              <a:t>Bihar</a:t>
            </a:r>
            <a:r>
              <a:rPr dirty="0" sz="800" spc="50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Times New Roman"/>
                <a:cs typeface="Times New Roman"/>
              </a:rPr>
              <a:t>(2010)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15879" y="2331813"/>
            <a:ext cx="947419" cy="26162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180"/>
              </a:spcBef>
            </a:pPr>
            <a:r>
              <a:rPr dirty="0" sz="800" i="1">
                <a:latin typeface="Times New Roman"/>
                <a:cs typeface="Times New Roman"/>
              </a:rPr>
              <a:t>Flood</a:t>
            </a:r>
            <a:r>
              <a:rPr dirty="0" sz="800" spc="-35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Hazard</a:t>
            </a:r>
            <a:r>
              <a:rPr dirty="0" sz="800" spc="-35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Atlas</a:t>
            </a:r>
            <a:r>
              <a:rPr dirty="0" sz="800" spc="-35" i="1">
                <a:latin typeface="Times New Roman"/>
                <a:cs typeface="Times New Roman"/>
              </a:rPr>
              <a:t> </a:t>
            </a:r>
            <a:r>
              <a:rPr dirty="0" sz="800" spc="-50" i="1">
                <a:latin typeface="Times New Roman"/>
                <a:cs typeface="Times New Roman"/>
              </a:rPr>
              <a:t>—</a:t>
            </a:r>
            <a:r>
              <a:rPr dirty="0" sz="800" spc="500" i="1">
                <a:latin typeface="Times New Roman"/>
                <a:cs typeface="Times New Roman"/>
              </a:rPr>
              <a:t> </a:t>
            </a:r>
            <a:r>
              <a:rPr dirty="0" sz="800" spc="-10" i="1">
                <a:latin typeface="Times New Roman"/>
                <a:cs typeface="Times New Roman"/>
              </a:rPr>
              <a:t>Bihar: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15879" y="2674524"/>
            <a:ext cx="944244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30"/>
              </a:lnSpc>
              <a:spcBef>
                <a:spcPts val="100"/>
              </a:spcBef>
            </a:pPr>
            <a:r>
              <a:rPr dirty="0" sz="800" spc="-10" i="1">
                <a:latin typeface="Times New Roman"/>
                <a:cs typeface="Times New Roman"/>
              </a:rPr>
              <a:t>(NRSC–</a:t>
            </a:r>
            <a:r>
              <a:rPr dirty="0" sz="800" i="1">
                <a:latin typeface="Times New Roman"/>
                <a:cs typeface="Times New Roman"/>
              </a:rPr>
              <a:t>ISRO</a:t>
            </a:r>
            <a:r>
              <a:rPr dirty="0" sz="800" spc="-5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/ </a:t>
            </a:r>
            <a:r>
              <a:rPr dirty="0" sz="800" spc="-20" i="1">
                <a:latin typeface="Times New Roman"/>
                <a:cs typeface="Times New Roman"/>
              </a:rPr>
              <a:t>NDMA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930"/>
              </a:lnSpc>
            </a:pPr>
            <a:r>
              <a:rPr dirty="0" sz="800" i="1">
                <a:latin typeface="Times New Roman"/>
                <a:cs typeface="Times New Roman"/>
              </a:rPr>
              <a:t>/</a:t>
            </a:r>
            <a:r>
              <a:rPr dirty="0" sz="800" spc="-10" i="1">
                <a:latin typeface="Times New Roman"/>
                <a:cs typeface="Times New Roman"/>
              </a:rPr>
              <a:t> </a:t>
            </a:r>
            <a:r>
              <a:rPr dirty="0" sz="800" spc="-20" i="1">
                <a:latin typeface="Times New Roman"/>
                <a:cs typeface="Times New Roman"/>
              </a:rPr>
              <a:t>GoB)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52420" y="2503168"/>
            <a:ext cx="13074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Times New Roman"/>
                <a:cs typeface="Times New Roman"/>
              </a:rPr>
              <a:t>Flood</a:t>
            </a:r>
            <a:r>
              <a:rPr dirty="0" sz="800" spc="-2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Hazard</a:t>
            </a:r>
            <a:r>
              <a:rPr dirty="0" sz="800" spc="-2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Atlas</a:t>
            </a:r>
            <a:r>
              <a:rPr dirty="0" sz="800" spc="-3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of</a:t>
            </a:r>
            <a:r>
              <a:rPr dirty="0" sz="800" spc="-2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Bihar</a:t>
            </a:r>
            <a:r>
              <a:rPr dirty="0" sz="800" spc="-25">
                <a:latin typeface="Times New Roman"/>
                <a:cs typeface="Times New Roman"/>
              </a:rPr>
              <a:t> </a:t>
            </a:r>
            <a:r>
              <a:rPr dirty="0" sz="800" spc="-50">
                <a:latin typeface="Times New Roman"/>
                <a:cs typeface="Times New Roman"/>
              </a:rPr>
              <a:t>—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90479" y="2560287"/>
            <a:ext cx="20707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latin typeface="Times New Roman"/>
                <a:cs typeface="Times New Roman"/>
              </a:rPr>
              <a:t>A </a:t>
            </a:r>
            <a:r>
              <a:rPr dirty="0" sz="800" spc="-10" i="1">
                <a:latin typeface="Times New Roman"/>
                <a:cs typeface="Times New Roman"/>
              </a:rPr>
              <a:t>Geospatial</a:t>
            </a:r>
            <a:r>
              <a:rPr dirty="0" sz="800" spc="5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Approach</a:t>
            </a:r>
            <a:r>
              <a:rPr dirty="0" sz="800" spc="440" i="1">
                <a:latin typeface="Times New Roman"/>
                <a:cs typeface="Times New Roman"/>
              </a:rPr>
              <a:t> </a:t>
            </a:r>
            <a:r>
              <a:rPr dirty="0" baseline="-31250" sz="1200">
                <a:latin typeface="Times New Roman"/>
                <a:cs typeface="Times New Roman"/>
              </a:rPr>
              <a:t>A </a:t>
            </a:r>
            <a:r>
              <a:rPr dirty="0" baseline="-31250" sz="1200" spc="-15">
                <a:latin typeface="Times New Roman"/>
                <a:cs typeface="Times New Roman"/>
              </a:rPr>
              <a:t>Geospatial</a:t>
            </a:r>
            <a:r>
              <a:rPr dirty="0" baseline="-31250" sz="1200" spc="7">
                <a:latin typeface="Times New Roman"/>
                <a:cs typeface="Times New Roman"/>
              </a:rPr>
              <a:t> </a:t>
            </a:r>
            <a:r>
              <a:rPr dirty="0" baseline="-31250" sz="1200" spc="-15">
                <a:latin typeface="Times New Roman"/>
                <a:cs typeface="Times New Roman"/>
              </a:rPr>
              <a:t>Approach</a:t>
            </a:r>
            <a:endParaRPr baseline="-31250" sz="1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549009" y="2166818"/>
            <a:ext cx="33020" cy="714375"/>
          </a:xfrm>
          <a:custGeom>
            <a:avLst/>
            <a:gdLst/>
            <a:ahLst/>
            <a:cxnLst/>
            <a:rect l="l" t="t" r="r" b="b"/>
            <a:pathLst>
              <a:path w="33020" h="714375">
                <a:moveTo>
                  <a:pt x="32462" y="16231"/>
                </a:moveTo>
                <a:lnTo>
                  <a:pt x="22442" y="31226"/>
                </a:lnTo>
                <a:lnTo>
                  <a:pt x="20454" y="32050"/>
                </a:lnTo>
                <a:lnTo>
                  <a:pt x="18383" y="32462"/>
                </a:lnTo>
                <a:lnTo>
                  <a:pt x="16231" y="32462"/>
                </a:lnTo>
                <a:lnTo>
                  <a:pt x="14078" y="32462"/>
                </a:lnTo>
                <a:lnTo>
                  <a:pt x="12008" y="32050"/>
                </a:lnTo>
                <a:lnTo>
                  <a:pt x="10019" y="31226"/>
                </a:lnTo>
                <a:lnTo>
                  <a:pt x="8031" y="30403"/>
                </a:lnTo>
                <a:lnTo>
                  <a:pt x="0" y="18383"/>
                </a:lnTo>
                <a:lnTo>
                  <a:pt x="0" y="16231"/>
                </a:lnTo>
                <a:lnTo>
                  <a:pt x="0" y="14078"/>
                </a:lnTo>
                <a:lnTo>
                  <a:pt x="4754" y="4754"/>
                </a:lnTo>
                <a:lnTo>
                  <a:pt x="6275" y="3232"/>
                </a:lnTo>
                <a:lnTo>
                  <a:pt x="8031" y="2059"/>
                </a:lnTo>
                <a:lnTo>
                  <a:pt x="10019" y="1235"/>
                </a:lnTo>
                <a:lnTo>
                  <a:pt x="12008" y="411"/>
                </a:lnTo>
                <a:lnTo>
                  <a:pt x="14078" y="0"/>
                </a:lnTo>
                <a:lnTo>
                  <a:pt x="16231" y="0"/>
                </a:lnTo>
                <a:lnTo>
                  <a:pt x="18383" y="0"/>
                </a:lnTo>
                <a:lnTo>
                  <a:pt x="20454" y="411"/>
                </a:lnTo>
                <a:lnTo>
                  <a:pt x="22442" y="1235"/>
                </a:lnTo>
                <a:lnTo>
                  <a:pt x="24431" y="2059"/>
                </a:lnTo>
                <a:lnTo>
                  <a:pt x="32462" y="14078"/>
                </a:lnTo>
                <a:lnTo>
                  <a:pt x="32462" y="16231"/>
                </a:lnTo>
                <a:close/>
              </a:path>
              <a:path w="33020" h="714375">
                <a:moveTo>
                  <a:pt x="32462" y="697943"/>
                </a:moveTo>
                <a:lnTo>
                  <a:pt x="22442" y="712938"/>
                </a:lnTo>
                <a:lnTo>
                  <a:pt x="20454" y="713762"/>
                </a:lnTo>
                <a:lnTo>
                  <a:pt x="18383" y="714174"/>
                </a:lnTo>
                <a:lnTo>
                  <a:pt x="16231" y="714174"/>
                </a:lnTo>
                <a:lnTo>
                  <a:pt x="14078" y="714174"/>
                </a:lnTo>
                <a:lnTo>
                  <a:pt x="12008" y="713762"/>
                </a:lnTo>
                <a:lnTo>
                  <a:pt x="10019" y="712938"/>
                </a:lnTo>
                <a:lnTo>
                  <a:pt x="8031" y="712115"/>
                </a:lnTo>
                <a:lnTo>
                  <a:pt x="0" y="700095"/>
                </a:lnTo>
                <a:lnTo>
                  <a:pt x="0" y="697943"/>
                </a:lnTo>
                <a:lnTo>
                  <a:pt x="0" y="695790"/>
                </a:lnTo>
                <a:lnTo>
                  <a:pt x="411" y="693720"/>
                </a:lnTo>
                <a:lnTo>
                  <a:pt x="1235" y="691731"/>
                </a:lnTo>
                <a:lnTo>
                  <a:pt x="2059" y="689743"/>
                </a:lnTo>
                <a:lnTo>
                  <a:pt x="3232" y="687987"/>
                </a:lnTo>
                <a:lnTo>
                  <a:pt x="4754" y="686465"/>
                </a:lnTo>
                <a:lnTo>
                  <a:pt x="6275" y="684943"/>
                </a:lnTo>
                <a:lnTo>
                  <a:pt x="8031" y="683771"/>
                </a:lnTo>
                <a:lnTo>
                  <a:pt x="10019" y="682947"/>
                </a:lnTo>
                <a:lnTo>
                  <a:pt x="12008" y="682123"/>
                </a:lnTo>
                <a:lnTo>
                  <a:pt x="14078" y="681711"/>
                </a:lnTo>
                <a:lnTo>
                  <a:pt x="16231" y="681711"/>
                </a:lnTo>
                <a:lnTo>
                  <a:pt x="18383" y="681711"/>
                </a:lnTo>
                <a:lnTo>
                  <a:pt x="20454" y="682123"/>
                </a:lnTo>
                <a:lnTo>
                  <a:pt x="22442" y="682947"/>
                </a:lnTo>
                <a:lnTo>
                  <a:pt x="24431" y="683771"/>
                </a:lnTo>
                <a:lnTo>
                  <a:pt x="26186" y="684943"/>
                </a:lnTo>
                <a:lnTo>
                  <a:pt x="27708" y="686465"/>
                </a:lnTo>
                <a:lnTo>
                  <a:pt x="29230" y="687987"/>
                </a:lnTo>
                <a:lnTo>
                  <a:pt x="30403" y="689743"/>
                </a:lnTo>
                <a:lnTo>
                  <a:pt x="31226" y="691731"/>
                </a:lnTo>
                <a:lnTo>
                  <a:pt x="32050" y="693720"/>
                </a:lnTo>
                <a:lnTo>
                  <a:pt x="32462" y="695790"/>
                </a:lnTo>
                <a:lnTo>
                  <a:pt x="32462" y="697943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648279" y="2097309"/>
            <a:ext cx="1764664" cy="596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4"/>
              </a:spcBef>
            </a:pPr>
            <a:r>
              <a:rPr dirty="0" sz="750">
                <a:latin typeface="Times New Roman"/>
                <a:cs typeface="Times New Roman"/>
              </a:rPr>
              <a:t>District-level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flood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hazard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mapping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of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Bihar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using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multi-temporal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satellite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imagery;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delineates</a:t>
            </a:r>
            <a:r>
              <a:rPr dirty="0" sz="750" spc="3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high/moderate/low</a:t>
            </a:r>
            <a:r>
              <a:rPr dirty="0" sz="750" spc="3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hazard</a:t>
            </a:r>
            <a:r>
              <a:rPr dirty="0" sz="750" spc="3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zones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across</a:t>
            </a:r>
            <a:r>
              <a:rPr dirty="0" sz="750" spc="1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all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38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districts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—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Bihar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accounts</a:t>
            </a:r>
            <a:r>
              <a:rPr dirty="0" sz="750" spc="15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for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ts val="880"/>
              </a:lnSpc>
            </a:pPr>
            <a:r>
              <a:rPr dirty="0" sz="750">
                <a:latin typeface="Times New Roman"/>
                <a:cs typeface="Times New Roman"/>
              </a:rPr>
              <a:t>~17.2%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of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India’s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total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flood-prone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area.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48279" y="2779021"/>
            <a:ext cx="1921510" cy="3695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4"/>
              </a:spcBef>
            </a:pPr>
            <a:r>
              <a:rPr dirty="0" sz="750">
                <a:latin typeface="Times New Roman"/>
                <a:cs typeface="Times New Roman"/>
              </a:rPr>
              <a:t>Serves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as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a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foundational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spatial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reference</a:t>
            </a:r>
            <a:r>
              <a:rPr dirty="0" sz="750" spc="2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for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the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present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study’s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flood</a:t>
            </a:r>
            <a:r>
              <a:rPr dirty="0" sz="750" spc="3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exposure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variable</a:t>
            </a:r>
            <a:r>
              <a:rPr dirty="0" sz="750" spc="30">
                <a:latin typeface="Times New Roman"/>
                <a:cs typeface="Times New Roman"/>
              </a:rPr>
              <a:t> </a:t>
            </a:r>
            <a:r>
              <a:rPr dirty="0" sz="750" spc="-25">
                <a:latin typeface="Times New Roman"/>
                <a:cs typeface="Times New Roman"/>
              </a:rPr>
              <a:t>and</a:t>
            </a:r>
            <a:r>
              <a:rPr dirty="0" sz="750" spc="50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village-level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panel</a:t>
            </a:r>
            <a:r>
              <a:rPr dirty="0" sz="750" spc="2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construction.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942" y="40791"/>
            <a:ext cx="129540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Gaps</a:t>
            </a:r>
            <a:r>
              <a:rPr dirty="0" spc="10"/>
              <a:t> </a:t>
            </a:r>
            <a:r>
              <a:rPr dirty="0" spc="-25"/>
              <a:t>in</a:t>
            </a:r>
            <a:r>
              <a:rPr dirty="0" spc="10"/>
              <a:t> </a:t>
            </a:r>
            <a:r>
              <a:rPr dirty="0" spc="-10"/>
              <a:t>Literature</a:t>
            </a:r>
          </a:p>
        </p:txBody>
      </p:sp>
      <p:sp>
        <p:nvSpPr>
          <p:cNvPr id="3" name="object 3"/>
          <p:cNvSpPr/>
          <p:nvPr/>
        </p:nvSpPr>
        <p:spPr>
          <a:xfrm>
            <a:off x="85677" y="824558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26325" y="36629"/>
                </a:lnTo>
                <a:lnTo>
                  <a:pt x="23993" y="37595"/>
                </a:lnTo>
                <a:lnTo>
                  <a:pt x="21564" y="38079"/>
                </a:lnTo>
                <a:lnTo>
                  <a:pt x="19039" y="38079"/>
                </a:lnTo>
                <a:lnTo>
                  <a:pt x="16514" y="38079"/>
                </a:lnTo>
                <a:lnTo>
                  <a:pt x="14086" y="37595"/>
                </a:lnTo>
                <a:lnTo>
                  <a:pt x="11753" y="36629"/>
                </a:lnTo>
                <a:lnTo>
                  <a:pt x="9420" y="35663"/>
                </a:lnTo>
                <a:lnTo>
                  <a:pt x="7361" y="34287"/>
                </a:lnTo>
                <a:lnTo>
                  <a:pt x="5576" y="32502"/>
                </a:lnTo>
                <a:lnTo>
                  <a:pt x="3791" y="30717"/>
                </a:lnTo>
                <a:lnTo>
                  <a:pt x="2415" y="28658"/>
                </a:lnTo>
                <a:lnTo>
                  <a:pt x="1449" y="26325"/>
                </a:lnTo>
                <a:lnTo>
                  <a:pt x="483" y="23992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7457" y="1903416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19039" y="38079"/>
                </a:lnTo>
                <a:lnTo>
                  <a:pt x="16514" y="38079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483" y="14085"/>
                </a:lnTo>
                <a:lnTo>
                  <a:pt x="1449" y="11753"/>
                </a:lnTo>
                <a:lnTo>
                  <a:pt x="2415" y="9420"/>
                </a:lnTo>
                <a:lnTo>
                  <a:pt x="3791" y="7361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23993" y="483"/>
                </a:lnTo>
                <a:lnTo>
                  <a:pt x="26325" y="1449"/>
                </a:lnTo>
                <a:lnTo>
                  <a:pt x="28658" y="2415"/>
                </a:lnTo>
                <a:lnTo>
                  <a:pt x="30717" y="3791"/>
                </a:lnTo>
                <a:lnTo>
                  <a:pt x="32502" y="5576"/>
                </a:lnTo>
                <a:lnTo>
                  <a:pt x="34287" y="7361"/>
                </a:lnTo>
                <a:lnTo>
                  <a:pt x="35663" y="9420"/>
                </a:lnTo>
                <a:lnTo>
                  <a:pt x="36629" y="11753"/>
                </a:lnTo>
                <a:lnTo>
                  <a:pt x="37595" y="14085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5677" y="2499451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26325" y="36629"/>
                </a:lnTo>
                <a:lnTo>
                  <a:pt x="23993" y="37595"/>
                </a:lnTo>
                <a:lnTo>
                  <a:pt x="21564" y="38079"/>
                </a:lnTo>
                <a:lnTo>
                  <a:pt x="19039" y="38079"/>
                </a:lnTo>
                <a:lnTo>
                  <a:pt x="16514" y="38079"/>
                </a:lnTo>
                <a:lnTo>
                  <a:pt x="14086" y="37595"/>
                </a:lnTo>
                <a:lnTo>
                  <a:pt x="11753" y="36629"/>
                </a:lnTo>
                <a:lnTo>
                  <a:pt x="9420" y="35663"/>
                </a:lnTo>
                <a:lnTo>
                  <a:pt x="7361" y="34287"/>
                </a:lnTo>
                <a:lnTo>
                  <a:pt x="5576" y="32502"/>
                </a:lnTo>
                <a:lnTo>
                  <a:pt x="3791" y="30717"/>
                </a:lnTo>
                <a:lnTo>
                  <a:pt x="2415" y="28658"/>
                </a:lnTo>
                <a:lnTo>
                  <a:pt x="1449" y="26325"/>
                </a:lnTo>
                <a:lnTo>
                  <a:pt x="483" y="23992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483" y="14085"/>
                </a:lnTo>
                <a:lnTo>
                  <a:pt x="1449" y="11753"/>
                </a:lnTo>
                <a:lnTo>
                  <a:pt x="2415" y="9420"/>
                </a:lnTo>
                <a:lnTo>
                  <a:pt x="3791" y="7361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457" y="1315916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19039" y="38079"/>
                </a:lnTo>
                <a:lnTo>
                  <a:pt x="16514" y="38079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483" y="14085"/>
                </a:lnTo>
                <a:lnTo>
                  <a:pt x="1449" y="11753"/>
                </a:lnTo>
                <a:lnTo>
                  <a:pt x="2415" y="9420"/>
                </a:lnTo>
                <a:lnTo>
                  <a:pt x="3791" y="7361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23993" y="483"/>
                </a:lnTo>
                <a:lnTo>
                  <a:pt x="26325" y="1449"/>
                </a:lnTo>
                <a:lnTo>
                  <a:pt x="28658" y="2415"/>
                </a:lnTo>
                <a:lnTo>
                  <a:pt x="30717" y="3791"/>
                </a:lnTo>
                <a:lnTo>
                  <a:pt x="32502" y="5576"/>
                </a:lnTo>
                <a:lnTo>
                  <a:pt x="34287" y="7361"/>
                </a:lnTo>
                <a:lnTo>
                  <a:pt x="35663" y="9420"/>
                </a:lnTo>
                <a:lnTo>
                  <a:pt x="36629" y="11753"/>
                </a:lnTo>
                <a:lnTo>
                  <a:pt x="37595" y="14085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97553" y="742078"/>
            <a:ext cx="5188585" cy="2005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480" marR="508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Times New Roman"/>
                <a:cs typeface="Times New Roman"/>
              </a:rPr>
              <a:t>Effect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Floods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on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Land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Use: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Limited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evidence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how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flood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inundation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affects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land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use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change</a:t>
            </a:r>
            <a:r>
              <a:rPr dirty="0" sz="1000" spc="-25">
                <a:latin typeface="Times New Roman"/>
                <a:cs typeface="Times New Roman"/>
              </a:rPr>
              <a:t> at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assembly</a:t>
            </a:r>
            <a:r>
              <a:rPr dirty="0" sz="1000" spc="-10">
                <a:latin typeface="Times New Roman"/>
                <a:cs typeface="Times New Roman"/>
              </a:rPr>
              <a:t> constituencies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Bihar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over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time.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 marR="174625">
              <a:lnSpc>
                <a:spcPct val="100000"/>
              </a:lnSpc>
            </a:pPr>
            <a:r>
              <a:rPr dirty="0" sz="1000" spc="-10" b="1">
                <a:latin typeface="Times New Roman"/>
                <a:cs typeface="Times New Roman"/>
              </a:rPr>
              <a:t>Measurement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Economic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Activity: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Existing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studies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rely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survey-</a:t>
            </a:r>
            <a:r>
              <a:rPr dirty="0" sz="1000">
                <a:latin typeface="Times New Roman"/>
                <a:cs typeface="Times New Roman"/>
              </a:rPr>
              <a:t>based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data;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satellite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proxies </a:t>
            </a:r>
            <a:r>
              <a:rPr dirty="0" sz="1000">
                <a:latin typeface="Times New Roman"/>
                <a:cs typeface="Times New Roman"/>
              </a:rPr>
              <a:t>(Nightlights,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NDBI,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NDVI)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at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granular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geographic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levels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remain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underutilised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Indian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flood literature.</a:t>
            </a:r>
            <a:endParaRPr sz="1000">
              <a:latin typeface="Times New Roman"/>
              <a:cs typeface="Times New Roman"/>
            </a:endParaRPr>
          </a:p>
          <a:p>
            <a:pPr marL="12700" marR="251460">
              <a:lnSpc>
                <a:spcPct val="100000"/>
              </a:lnSpc>
              <a:spcBef>
                <a:spcPts val="1030"/>
              </a:spcBef>
            </a:pPr>
            <a:r>
              <a:rPr dirty="0" sz="1000" b="1">
                <a:latin typeface="Times New Roman"/>
                <a:cs typeface="Times New Roman"/>
              </a:rPr>
              <a:t>Transmission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Mechanisms: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Studies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document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flood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impacts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but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rarely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identify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channels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—</a:t>
            </a:r>
            <a:r>
              <a:rPr dirty="0" sz="1000">
                <a:latin typeface="Times New Roman"/>
                <a:cs typeface="Times New Roman"/>
              </a:rPr>
              <a:t> whether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damage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operates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through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infrastructure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destruction,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agricultural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loss,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or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reduced</a:t>
            </a:r>
            <a:r>
              <a:rPr dirty="0" sz="1000" spc="-20">
                <a:latin typeface="Times New Roman"/>
                <a:cs typeface="Times New Roman"/>
              </a:rPr>
              <a:t> road </a:t>
            </a:r>
            <a:r>
              <a:rPr dirty="0" sz="1000" spc="-10">
                <a:latin typeface="Times New Roman"/>
                <a:cs typeface="Times New Roman"/>
              </a:rPr>
              <a:t>connectivity.</a:t>
            </a:r>
            <a:endParaRPr sz="1000">
              <a:latin typeface="Times New Roman"/>
              <a:cs typeface="Times New Roman"/>
            </a:endParaRPr>
          </a:p>
          <a:p>
            <a:pPr marL="30480" marR="36195">
              <a:lnSpc>
                <a:spcPct val="100000"/>
              </a:lnSpc>
              <a:spcBef>
                <a:spcPts val="1090"/>
              </a:spcBef>
            </a:pPr>
            <a:r>
              <a:rPr dirty="0" sz="1000" b="1">
                <a:latin typeface="Times New Roman"/>
                <a:cs typeface="Times New Roman"/>
              </a:rPr>
              <a:t>Assembly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constituency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level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Empirical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Identification: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Most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India-</a:t>
            </a:r>
            <a:r>
              <a:rPr dirty="0" sz="1000">
                <a:latin typeface="Times New Roman"/>
                <a:cs typeface="Times New Roman"/>
              </a:rPr>
              <a:t>focused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studies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work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at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state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or </a:t>
            </a:r>
            <a:r>
              <a:rPr dirty="0" sz="1000">
                <a:latin typeface="Times New Roman"/>
                <a:cs typeface="Times New Roman"/>
              </a:rPr>
              <a:t>district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level;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rigorous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consituency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panel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estimation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fixed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effects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largely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absent.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Research</a:t>
            </a:r>
            <a:r>
              <a:rPr dirty="0" spc="-15"/>
              <a:t> </a:t>
            </a:r>
            <a:r>
              <a:rPr dirty="0" spc="-10"/>
              <a:t>Questions</a:t>
            </a:r>
          </a:p>
        </p:txBody>
      </p:sp>
      <p:sp>
        <p:nvSpPr>
          <p:cNvPr id="3" name="object 3"/>
          <p:cNvSpPr/>
          <p:nvPr/>
        </p:nvSpPr>
        <p:spPr>
          <a:xfrm>
            <a:off x="1712950" y="0"/>
            <a:ext cx="1615440" cy="19050"/>
          </a:xfrm>
          <a:custGeom>
            <a:avLst/>
            <a:gdLst/>
            <a:ahLst/>
            <a:cxnLst/>
            <a:rect l="l" t="t" r="r" b="b"/>
            <a:pathLst>
              <a:path w="1615439" h="19050">
                <a:moveTo>
                  <a:pt x="1615160" y="1358"/>
                </a:moveTo>
                <a:lnTo>
                  <a:pt x="1613509" y="0"/>
                </a:lnTo>
                <a:lnTo>
                  <a:pt x="1676" y="0"/>
                </a:lnTo>
                <a:lnTo>
                  <a:pt x="0" y="1358"/>
                </a:lnTo>
                <a:lnTo>
                  <a:pt x="0" y="17716"/>
                </a:lnTo>
                <a:lnTo>
                  <a:pt x="1651" y="19050"/>
                </a:lnTo>
                <a:lnTo>
                  <a:pt x="1613484" y="19050"/>
                </a:lnTo>
                <a:lnTo>
                  <a:pt x="1615160" y="17716"/>
                </a:lnTo>
                <a:lnTo>
                  <a:pt x="1615160" y="16040"/>
                </a:lnTo>
                <a:lnTo>
                  <a:pt x="1615160" y="13030"/>
                </a:lnTo>
                <a:lnTo>
                  <a:pt x="1615160" y="6045"/>
                </a:lnTo>
                <a:lnTo>
                  <a:pt x="1615160" y="3009"/>
                </a:lnTo>
                <a:lnTo>
                  <a:pt x="1615160" y="1358"/>
                </a:lnTo>
                <a:close/>
              </a:path>
            </a:pathLst>
          </a:custGeom>
          <a:solidFill>
            <a:srgbClr val="B05E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99800" y="731848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9"/>
                </a:moveTo>
                <a:lnTo>
                  <a:pt x="16514" y="38079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9800" y="87464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9"/>
                </a:moveTo>
                <a:lnTo>
                  <a:pt x="16514" y="38079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9800" y="144583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9800" y="1731423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9800" y="230260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9800" y="2588202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18634" y="506572"/>
            <a:ext cx="5477510" cy="2632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650" indent="-107950">
              <a:lnSpc>
                <a:spcPts val="1160"/>
              </a:lnSpc>
              <a:spcBef>
                <a:spcPts val="100"/>
              </a:spcBef>
              <a:buFont typeface="Times New Roman"/>
              <a:buAutoNum type="arabicPeriod"/>
              <a:tabLst>
                <a:tab pos="120650" algn="l"/>
              </a:tabLst>
            </a:pPr>
            <a:r>
              <a:rPr dirty="0" sz="1000" b="1">
                <a:latin typeface="Times New Roman"/>
                <a:cs typeface="Times New Roman"/>
              </a:rPr>
              <a:t>Do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floods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reduce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economic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activity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in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affected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assembly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constituencies?</a:t>
            </a:r>
            <a:endParaRPr sz="1000">
              <a:latin typeface="Times New Roman"/>
              <a:cs typeface="Times New Roman"/>
            </a:endParaRPr>
          </a:p>
          <a:p>
            <a:pPr marL="120650">
              <a:lnSpc>
                <a:spcPts val="1125"/>
              </a:lnSpc>
            </a:pPr>
            <a:r>
              <a:rPr dirty="0" sz="1000">
                <a:latin typeface="Times New Roman"/>
                <a:cs typeface="Times New Roman"/>
              </a:rPr>
              <a:t>Economic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activity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-10">
                <a:latin typeface="Times New Roman"/>
                <a:cs typeface="Times New Roman"/>
              </a:rPr>
              <a:t> measured </a:t>
            </a:r>
            <a:r>
              <a:rPr dirty="0" sz="1000">
                <a:latin typeface="Times New Roman"/>
                <a:cs typeface="Times New Roman"/>
              </a:rPr>
              <a:t>using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satellite-</a:t>
            </a:r>
            <a:r>
              <a:rPr dirty="0" sz="1000">
                <a:latin typeface="Times New Roman"/>
                <a:cs typeface="Times New Roman"/>
              </a:rPr>
              <a:t>derived</a:t>
            </a:r>
            <a:r>
              <a:rPr dirty="0" sz="1000" spc="-10">
                <a:latin typeface="Times New Roman"/>
                <a:cs typeface="Times New Roman"/>
              </a:rPr>
              <a:t> night-</a:t>
            </a:r>
            <a:r>
              <a:rPr dirty="0" sz="1000">
                <a:latin typeface="Times New Roman"/>
                <a:cs typeface="Times New Roman"/>
              </a:rPr>
              <a:t>lights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data</a:t>
            </a:r>
            <a:r>
              <a:rPr dirty="0" sz="1000" spc="-10">
                <a:latin typeface="Times New Roman"/>
                <a:cs typeface="Times New Roman"/>
              </a:rPr>
              <a:t> (VIIRS/DMSP).</a:t>
            </a:r>
            <a:endParaRPr sz="1000">
              <a:latin typeface="Times New Roman"/>
              <a:cs typeface="Times New Roman"/>
            </a:endParaRPr>
          </a:p>
          <a:p>
            <a:pPr marL="120650" marR="266700">
              <a:lnSpc>
                <a:spcPts val="1120"/>
              </a:lnSpc>
              <a:spcBef>
                <a:spcPts val="65"/>
              </a:spcBef>
            </a:pP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relationship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estimated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using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panel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OLS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regression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models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with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Assembly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Constituency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(AC) </a:t>
            </a:r>
            <a:r>
              <a:rPr dirty="0" sz="1000">
                <a:latin typeface="Times New Roman"/>
                <a:cs typeface="Times New Roman"/>
              </a:rPr>
              <a:t>fixed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effects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year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fixed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effects,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along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district-</a:t>
            </a:r>
            <a:r>
              <a:rPr dirty="0" sz="1000">
                <a:latin typeface="Times New Roman"/>
                <a:cs typeface="Times New Roman"/>
              </a:rPr>
              <a:t>clustered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standard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errors.</a:t>
            </a:r>
            <a:endParaRPr sz="1000">
              <a:latin typeface="Times New Roman"/>
              <a:cs typeface="Times New Roman"/>
            </a:endParaRPr>
          </a:p>
          <a:p>
            <a:pPr marL="120650" indent="-107950">
              <a:lnSpc>
                <a:spcPts val="1160"/>
              </a:lnSpc>
              <a:spcBef>
                <a:spcPts val="1030"/>
              </a:spcBef>
              <a:buAutoNum type="arabicPeriod" startAt="2"/>
              <a:tabLst>
                <a:tab pos="120650" algn="l"/>
              </a:tabLst>
            </a:pPr>
            <a:r>
              <a:rPr dirty="0" sz="1000">
                <a:latin typeface="Times New Roman"/>
                <a:cs typeface="Times New Roman"/>
              </a:rPr>
              <a:t>D</a:t>
            </a:r>
            <a:r>
              <a:rPr dirty="0" sz="1000" b="1">
                <a:latin typeface="Times New Roman"/>
                <a:cs typeface="Times New Roman"/>
              </a:rPr>
              <a:t>oes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the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impact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floods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on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economic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activity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vary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across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states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in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Eastern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India?</a:t>
            </a:r>
            <a:endParaRPr sz="1000">
              <a:latin typeface="Times New Roman"/>
              <a:cs typeface="Times New Roman"/>
            </a:endParaRPr>
          </a:p>
          <a:p>
            <a:pPr marL="120650" marR="331470">
              <a:lnSpc>
                <a:spcPts val="1120"/>
              </a:lnSpc>
              <a:spcBef>
                <a:spcPts val="65"/>
              </a:spcBef>
            </a:pPr>
            <a:r>
              <a:rPr dirty="0" sz="1000" spc="-10">
                <a:latin typeface="Times New Roman"/>
                <a:cs typeface="Times New Roman"/>
              </a:rPr>
              <a:t>Separate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state-</a:t>
            </a:r>
            <a:r>
              <a:rPr dirty="0" sz="1000">
                <a:latin typeface="Times New Roman"/>
                <a:cs typeface="Times New Roman"/>
              </a:rPr>
              <a:t>level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regressions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are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estimated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for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Bihar,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Jharkhand,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Odisha,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West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Bengal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using </a:t>
            </a:r>
            <a:r>
              <a:rPr dirty="0" sz="1000">
                <a:latin typeface="Times New Roman"/>
                <a:cs typeface="Times New Roman"/>
              </a:rPr>
              <a:t>satellite</a:t>
            </a:r>
            <a:r>
              <a:rPr dirty="0" sz="1000" spc="-10">
                <a:latin typeface="Times New Roman"/>
                <a:cs typeface="Times New Roman"/>
              </a:rPr>
              <a:t> night-</a:t>
            </a:r>
            <a:r>
              <a:rPr dirty="0" sz="1000">
                <a:latin typeface="Times New Roman"/>
                <a:cs typeface="Times New Roman"/>
              </a:rPr>
              <a:t>lights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data</a:t>
            </a:r>
            <a:r>
              <a:rPr dirty="0" sz="1000" spc="-10">
                <a:latin typeface="Times New Roman"/>
                <a:cs typeface="Times New Roman"/>
              </a:rPr>
              <a:t> (VIIRS/DMSP).</a:t>
            </a:r>
            <a:endParaRPr sz="1000">
              <a:latin typeface="Times New Roman"/>
              <a:cs typeface="Times New Roman"/>
            </a:endParaRPr>
          </a:p>
          <a:p>
            <a:pPr marL="120650" marR="439420">
              <a:lnSpc>
                <a:spcPts val="1120"/>
              </a:lnSpc>
              <a:spcBef>
                <a:spcPts val="10"/>
              </a:spcBef>
            </a:pP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empirical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specification </a:t>
            </a:r>
            <a:r>
              <a:rPr dirty="0" sz="1000">
                <a:latin typeface="Times New Roman"/>
                <a:cs typeface="Times New Roman"/>
              </a:rPr>
              <a:t>follows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fixed-effects </a:t>
            </a:r>
            <a:r>
              <a:rPr dirty="0" sz="1000">
                <a:latin typeface="Times New Roman"/>
                <a:cs typeface="Times New Roman"/>
              </a:rPr>
              <a:t>OLS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framework with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Assembly</a:t>
            </a:r>
            <a:r>
              <a:rPr dirty="0" sz="1000" spc="-10">
                <a:latin typeface="Times New Roman"/>
                <a:cs typeface="Times New Roman"/>
              </a:rPr>
              <a:t> Constituency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year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fixed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effects.</a:t>
            </a:r>
            <a:endParaRPr sz="1000">
              <a:latin typeface="Times New Roman"/>
              <a:cs typeface="Times New Roman"/>
            </a:endParaRPr>
          </a:p>
          <a:p>
            <a:pPr marL="120650" indent="-107950">
              <a:lnSpc>
                <a:spcPts val="1160"/>
              </a:lnSpc>
              <a:spcBef>
                <a:spcPts val="1025"/>
              </a:spcBef>
              <a:buFont typeface="Times New Roman"/>
              <a:buAutoNum type="arabicPeriod" startAt="3"/>
              <a:tabLst>
                <a:tab pos="120650" algn="l"/>
              </a:tabLst>
            </a:pPr>
            <a:r>
              <a:rPr dirty="0" sz="1000" b="1">
                <a:latin typeface="Times New Roman"/>
                <a:cs typeface="Times New Roman"/>
              </a:rPr>
              <a:t>What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is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the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impact</a:t>
            </a:r>
            <a:r>
              <a:rPr dirty="0" sz="1000" spc="-1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of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flood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inundation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on</a:t>
            </a:r>
            <a:r>
              <a:rPr dirty="0" sz="1000" spc="-10" b="1">
                <a:latin typeface="Times New Roman"/>
                <a:cs typeface="Times New Roman"/>
              </a:rPr>
              <a:t> built-</a:t>
            </a:r>
            <a:r>
              <a:rPr dirty="0" sz="1000" b="1">
                <a:latin typeface="Times New Roman"/>
                <a:cs typeface="Times New Roman"/>
              </a:rPr>
              <a:t>up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areas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and</a:t>
            </a:r>
            <a:r>
              <a:rPr dirty="0" sz="1000" spc="-1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physical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infrastructure?</a:t>
            </a:r>
            <a:endParaRPr sz="1000">
              <a:latin typeface="Times New Roman"/>
              <a:cs typeface="Times New Roman"/>
            </a:endParaRPr>
          </a:p>
          <a:p>
            <a:pPr marL="120650" marR="309245">
              <a:lnSpc>
                <a:spcPts val="1120"/>
              </a:lnSpc>
              <a:spcBef>
                <a:spcPts val="70"/>
              </a:spcBef>
            </a:pPr>
            <a:r>
              <a:rPr dirty="0" sz="1000" spc="-10">
                <a:latin typeface="Times New Roman"/>
                <a:cs typeface="Times New Roman"/>
              </a:rPr>
              <a:t>Built-</a:t>
            </a:r>
            <a:r>
              <a:rPr dirty="0" sz="1000">
                <a:latin typeface="Times New Roman"/>
                <a:cs typeface="Times New Roman"/>
              </a:rPr>
              <a:t>up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intensity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infrastructure </a:t>
            </a:r>
            <a:r>
              <a:rPr dirty="0" sz="1000">
                <a:latin typeface="Times New Roman"/>
                <a:cs typeface="Times New Roman"/>
              </a:rPr>
              <a:t>exposure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are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measured </a:t>
            </a:r>
            <a:r>
              <a:rPr dirty="0" sz="1000">
                <a:latin typeface="Times New Roman"/>
                <a:cs typeface="Times New Roman"/>
              </a:rPr>
              <a:t>using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Normalized Difference Built-</a:t>
            </a:r>
            <a:r>
              <a:rPr dirty="0" sz="1000">
                <a:latin typeface="Times New Roman"/>
                <a:cs typeface="Times New Roman"/>
              </a:rPr>
              <a:t>up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Index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(NDBI)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derived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from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Landsat-</a:t>
            </a:r>
            <a:r>
              <a:rPr dirty="0" sz="1000">
                <a:latin typeface="Times New Roman"/>
                <a:cs typeface="Times New Roman"/>
              </a:rPr>
              <a:t>8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imagery.</a:t>
            </a:r>
            <a:endParaRPr sz="1000">
              <a:latin typeface="Times New Roman"/>
              <a:cs typeface="Times New Roman"/>
            </a:endParaRPr>
          </a:p>
          <a:p>
            <a:pPr marL="120650" marR="443230">
              <a:lnSpc>
                <a:spcPts val="112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relationship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estimated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using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OLS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panel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regressions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with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Assembly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Constituency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0">
                <a:latin typeface="Times New Roman"/>
                <a:cs typeface="Times New Roman"/>
              </a:rPr>
              <a:t> year </a:t>
            </a:r>
            <a:r>
              <a:rPr dirty="0" sz="1000">
                <a:latin typeface="Times New Roman"/>
                <a:cs typeface="Times New Roman"/>
              </a:rPr>
              <a:t>fixed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effects,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including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lagged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NDBI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control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variable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district-</a:t>
            </a:r>
            <a:r>
              <a:rPr dirty="0" sz="1000">
                <a:latin typeface="Times New Roman"/>
                <a:cs typeface="Times New Roman"/>
              </a:rPr>
              <a:t>clustered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standard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errors.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0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700" spc="10">
                <a:solidFill>
                  <a:srgbClr val="23373B"/>
                </a:solidFill>
                <a:latin typeface="Microsoft JhengHei UI"/>
                <a:cs typeface="Microsoft JhengHei UI"/>
              </a:rPr>
              <a:t>4</a:t>
            </a:r>
            <a:endParaRPr sz="70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dirty="0" spc="5"/>
              <a:t> </a:t>
            </a:r>
            <a:r>
              <a:rPr dirty="0" spc="-10"/>
              <a:t>Description</a:t>
            </a:r>
          </a:p>
        </p:txBody>
      </p:sp>
      <p:sp>
        <p:nvSpPr>
          <p:cNvPr id="3" name="object 3"/>
          <p:cNvSpPr/>
          <p:nvPr/>
        </p:nvSpPr>
        <p:spPr>
          <a:xfrm>
            <a:off x="78297" y="1416699"/>
            <a:ext cx="5546725" cy="11430"/>
          </a:xfrm>
          <a:custGeom>
            <a:avLst/>
            <a:gdLst/>
            <a:ahLst/>
            <a:cxnLst/>
            <a:rect l="l" t="t" r="r" b="b"/>
            <a:pathLst>
              <a:path w="5546725" h="11430">
                <a:moveTo>
                  <a:pt x="5546414" y="11138"/>
                </a:moveTo>
                <a:lnTo>
                  <a:pt x="0" y="11138"/>
                </a:lnTo>
                <a:lnTo>
                  <a:pt x="0" y="0"/>
                </a:lnTo>
                <a:lnTo>
                  <a:pt x="5546414" y="0"/>
                </a:lnTo>
                <a:lnTo>
                  <a:pt x="5546414" y="11138"/>
                </a:lnTo>
                <a:close/>
              </a:path>
            </a:pathLst>
          </a:custGeom>
          <a:solidFill>
            <a:srgbClr val="2337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97" y="1662898"/>
            <a:ext cx="5546725" cy="6985"/>
          </a:xfrm>
          <a:custGeom>
            <a:avLst/>
            <a:gdLst/>
            <a:ahLst/>
            <a:cxnLst/>
            <a:rect l="l" t="t" r="r" b="b"/>
            <a:pathLst>
              <a:path w="5546725" h="6985">
                <a:moveTo>
                  <a:pt x="5546402" y="6960"/>
                </a:moveTo>
                <a:lnTo>
                  <a:pt x="0" y="6960"/>
                </a:lnTo>
                <a:lnTo>
                  <a:pt x="0" y="0"/>
                </a:lnTo>
                <a:lnTo>
                  <a:pt x="5546402" y="0"/>
                </a:lnTo>
                <a:lnTo>
                  <a:pt x="5546402" y="6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8297" y="2912013"/>
            <a:ext cx="5546725" cy="11430"/>
          </a:xfrm>
          <a:custGeom>
            <a:avLst/>
            <a:gdLst/>
            <a:ahLst/>
            <a:cxnLst/>
            <a:rect l="l" t="t" r="r" b="b"/>
            <a:pathLst>
              <a:path w="5546725" h="11430">
                <a:moveTo>
                  <a:pt x="5546414" y="11138"/>
                </a:moveTo>
                <a:lnTo>
                  <a:pt x="0" y="11138"/>
                </a:lnTo>
                <a:lnTo>
                  <a:pt x="0" y="0"/>
                </a:lnTo>
                <a:lnTo>
                  <a:pt x="5546414" y="0"/>
                </a:lnTo>
                <a:lnTo>
                  <a:pt x="5546414" y="11138"/>
                </a:lnTo>
                <a:close/>
              </a:path>
            </a:pathLst>
          </a:custGeom>
          <a:solidFill>
            <a:srgbClr val="2337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5597" y="1448062"/>
            <a:ext cx="5187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50" b="1">
                <a:latin typeface="Times New Roman"/>
                <a:cs typeface="Times New Roman"/>
              </a:rPr>
              <a:t>Variable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97" y="1702789"/>
            <a:ext cx="608965" cy="1346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latin typeface="Times New Roman"/>
                <a:cs typeface="Times New Roman"/>
              </a:rPr>
              <a:t>Seasonal_Ratio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597" y="1930933"/>
            <a:ext cx="685800" cy="263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95"/>
              </a:spcBef>
            </a:pPr>
            <a:r>
              <a:rPr dirty="0" sz="700">
                <a:latin typeface="Times New Roman"/>
                <a:cs typeface="Times New Roman"/>
              </a:rPr>
              <a:t>Night</a:t>
            </a:r>
            <a:r>
              <a:rPr dirty="0" sz="700" spc="9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Lights</a:t>
            </a:r>
            <a:r>
              <a:rPr dirty="0" sz="700" spc="50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(mean</a:t>
            </a:r>
            <a:r>
              <a:rPr dirty="0" sz="700" spc="5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&amp;</a:t>
            </a:r>
            <a:r>
              <a:rPr dirty="0" sz="700" spc="5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median)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97" y="2297946"/>
            <a:ext cx="606425" cy="24701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70"/>
              </a:spcBef>
            </a:pPr>
            <a:r>
              <a:rPr dirty="0" sz="700">
                <a:latin typeface="Times New Roman"/>
                <a:cs typeface="Times New Roman"/>
              </a:rPr>
              <a:t>NDBI</a:t>
            </a:r>
            <a:r>
              <a:rPr dirty="0" sz="700" spc="9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(mean</a:t>
            </a:r>
            <a:r>
              <a:rPr dirty="0" sz="700" spc="90">
                <a:latin typeface="Times New Roman"/>
                <a:cs typeface="Times New Roman"/>
              </a:rPr>
              <a:t> </a:t>
            </a:r>
            <a:r>
              <a:rPr dirty="0" sz="700" spc="-50">
                <a:latin typeface="Times New Roman"/>
                <a:cs typeface="Times New Roman"/>
              </a:rPr>
              <a:t>&amp;</a:t>
            </a:r>
            <a:r>
              <a:rPr dirty="0" sz="700" spc="50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median)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97" y="2641814"/>
            <a:ext cx="611505" cy="24701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70"/>
              </a:spcBef>
            </a:pPr>
            <a:r>
              <a:rPr dirty="0" sz="700">
                <a:latin typeface="Times New Roman"/>
                <a:cs typeface="Times New Roman"/>
              </a:rPr>
              <a:t>NDVI</a:t>
            </a:r>
            <a:r>
              <a:rPr dirty="0" sz="700" spc="9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(mean</a:t>
            </a:r>
            <a:r>
              <a:rPr dirty="0" sz="700" spc="90">
                <a:latin typeface="Times New Roman"/>
                <a:cs typeface="Times New Roman"/>
              </a:rPr>
              <a:t> </a:t>
            </a:r>
            <a:r>
              <a:rPr dirty="0" sz="700" spc="-50">
                <a:latin typeface="Times New Roman"/>
                <a:cs typeface="Times New Roman"/>
              </a:rPr>
              <a:t>&amp;</a:t>
            </a:r>
            <a:r>
              <a:rPr dirty="0" sz="700" spc="50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median)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5982" y="1743523"/>
            <a:ext cx="2555875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latin typeface="Times New Roman"/>
                <a:cs typeface="Times New Roman"/>
              </a:rPr>
              <a:t>Proportion</a:t>
            </a:r>
            <a:r>
              <a:rPr dirty="0" sz="800" spc="14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of</a:t>
            </a:r>
            <a:r>
              <a:rPr dirty="0" sz="800" spc="15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AC</a:t>
            </a:r>
            <a:r>
              <a:rPr dirty="0" sz="800" spc="14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area</a:t>
            </a:r>
            <a:r>
              <a:rPr dirty="0" sz="800" spc="15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flooded</a:t>
            </a:r>
            <a:r>
              <a:rPr dirty="0" sz="800" spc="15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—</a:t>
            </a:r>
            <a:r>
              <a:rPr dirty="0" sz="800" spc="14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flood-exposure</a:t>
            </a:r>
            <a:r>
              <a:rPr dirty="0" sz="800" spc="15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Times New Roman"/>
                <a:cs typeface="Times New Roman"/>
              </a:rPr>
              <a:t>measure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5982" y="2014870"/>
            <a:ext cx="2506345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latin typeface="Times New Roman"/>
                <a:cs typeface="Times New Roman"/>
              </a:rPr>
              <a:t>Night-time</a:t>
            </a:r>
            <a:r>
              <a:rPr dirty="0" sz="800" spc="14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radiance</a:t>
            </a:r>
            <a:r>
              <a:rPr dirty="0" sz="800" spc="14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—</a:t>
            </a:r>
            <a:r>
              <a:rPr dirty="0" sz="800" spc="15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proxy</a:t>
            </a:r>
            <a:r>
              <a:rPr dirty="0" sz="800" spc="14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for</a:t>
            </a:r>
            <a:r>
              <a:rPr dirty="0" sz="800" spc="14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local</a:t>
            </a:r>
            <a:r>
              <a:rPr dirty="0" sz="800" spc="15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economic</a:t>
            </a:r>
            <a:r>
              <a:rPr dirty="0" sz="800" spc="145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Times New Roman"/>
                <a:cs typeface="Times New Roman"/>
              </a:rPr>
              <a:t>activity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5982" y="2252389"/>
            <a:ext cx="2602230" cy="63627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800">
                <a:latin typeface="Times New Roman"/>
                <a:cs typeface="Times New Roman"/>
              </a:rPr>
              <a:t>Normalized</a:t>
            </a:r>
            <a:r>
              <a:rPr dirty="0" sz="800" spc="13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Difference</a:t>
            </a:r>
            <a:r>
              <a:rPr dirty="0" sz="800" spc="13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Built-up</a:t>
            </a:r>
            <a:r>
              <a:rPr dirty="0" sz="800" spc="13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Index</a:t>
            </a:r>
            <a:r>
              <a:rPr dirty="0" sz="800" spc="13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—</a:t>
            </a:r>
            <a:r>
              <a:rPr dirty="0" sz="800" spc="13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proxy</a:t>
            </a:r>
            <a:r>
              <a:rPr dirty="0" sz="800" spc="13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for</a:t>
            </a:r>
            <a:r>
              <a:rPr dirty="0" sz="800" spc="13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built-</a:t>
            </a:r>
            <a:r>
              <a:rPr dirty="0" sz="800" spc="-25">
                <a:latin typeface="Times New Roman"/>
                <a:cs typeface="Times New Roman"/>
              </a:rPr>
              <a:t>up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800">
                <a:latin typeface="Times New Roman"/>
                <a:cs typeface="Times New Roman"/>
              </a:rPr>
              <a:t>/urban</a:t>
            </a:r>
            <a:r>
              <a:rPr dirty="0" sz="800" spc="114">
                <a:latin typeface="Times New Roman"/>
                <a:cs typeface="Times New Roman"/>
              </a:rPr>
              <a:t> </a:t>
            </a:r>
            <a:r>
              <a:rPr dirty="0" sz="800" spc="-20">
                <a:latin typeface="Times New Roman"/>
                <a:cs typeface="Times New Roman"/>
              </a:rPr>
              <a:t>land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800">
                <a:latin typeface="Times New Roman"/>
                <a:cs typeface="Times New Roman"/>
              </a:rPr>
              <a:t>Normalized</a:t>
            </a:r>
            <a:r>
              <a:rPr dirty="0" sz="800" spc="14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Difference</a:t>
            </a:r>
            <a:r>
              <a:rPr dirty="0" sz="800" spc="14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Vegetation</a:t>
            </a:r>
            <a:r>
              <a:rPr dirty="0" sz="800" spc="145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Index</a:t>
            </a:r>
            <a:r>
              <a:rPr dirty="0" sz="800" spc="14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—</a:t>
            </a:r>
            <a:r>
              <a:rPr dirty="0" sz="800" spc="145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Times New Roman"/>
                <a:cs typeface="Times New Roman"/>
              </a:rPr>
              <a:t>agriculture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800">
                <a:latin typeface="Times New Roman"/>
                <a:cs typeface="Times New Roman"/>
              </a:rPr>
              <a:t>/</a:t>
            </a:r>
            <a:r>
              <a:rPr dirty="0" sz="800" spc="10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vegetation</a:t>
            </a:r>
            <a:r>
              <a:rPr dirty="0" sz="800" spc="10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Times New Roman"/>
                <a:cs typeface="Times New Roman"/>
              </a:rPr>
              <a:t>proxy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23483" y="1703642"/>
            <a:ext cx="122745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Times New Roman"/>
                <a:cs typeface="Times New Roman"/>
              </a:rPr>
              <a:t>JRC</a:t>
            </a:r>
            <a:r>
              <a:rPr dirty="0" sz="850" spc="7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Global</a:t>
            </a:r>
            <a:r>
              <a:rPr dirty="0" sz="850" spc="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Surface</a:t>
            </a:r>
            <a:r>
              <a:rPr dirty="0" sz="850" spc="80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Water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23483" y="1989456"/>
            <a:ext cx="1358265" cy="2914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Times New Roman"/>
                <a:cs typeface="Times New Roman"/>
              </a:rPr>
              <a:t>VIIRS</a:t>
            </a:r>
            <a:r>
              <a:rPr dirty="0" sz="850" spc="6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DNB</a:t>
            </a:r>
            <a:r>
              <a:rPr dirty="0" sz="850" spc="65">
                <a:latin typeface="Times New Roman"/>
                <a:cs typeface="Times New Roman"/>
              </a:rPr>
              <a:t> </a:t>
            </a:r>
            <a:r>
              <a:rPr dirty="0" sz="850" spc="-10">
                <a:latin typeface="Times New Roman"/>
                <a:cs typeface="Times New Roman"/>
              </a:rPr>
              <a:t>(NOAA),</a:t>
            </a: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850">
                <a:latin typeface="Times New Roman"/>
                <a:cs typeface="Times New Roman"/>
              </a:rPr>
              <a:t>harmonised</a:t>
            </a:r>
            <a:r>
              <a:rPr dirty="0" sz="850" spc="12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with</a:t>
            </a:r>
            <a:r>
              <a:rPr dirty="0" sz="850" spc="12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DMSP-</a:t>
            </a:r>
            <a:r>
              <a:rPr dirty="0" sz="850" spc="-25">
                <a:latin typeface="Times New Roman"/>
                <a:cs typeface="Times New Roman"/>
              </a:rPr>
              <a:t>OLS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23483" y="2402298"/>
            <a:ext cx="142176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Times New Roman"/>
                <a:cs typeface="Times New Roman"/>
              </a:rPr>
              <a:t>Landsat-8</a:t>
            </a:r>
            <a:r>
              <a:rPr dirty="0" sz="850" spc="6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SR</a:t>
            </a:r>
            <a:r>
              <a:rPr dirty="0" sz="850" spc="6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(USGS</a:t>
            </a:r>
            <a:r>
              <a:rPr dirty="0" sz="850" spc="6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/</a:t>
            </a:r>
            <a:r>
              <a:rPr dirty="0" sz="850" spc="65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NASA)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23483" y="2735748"/>
            <a:ext cx="142176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Times New Roman"/>
                <a:cs typeface="Times New Roman"/>
              </a:rPr>
              <a:t>Landsat-8</a:t>
            </a:r>
            <a:r>
              <a:rPr dirty="0" sz="850" spc="6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SR</a:t>
            </a:r>
            <a:r>
              <a:rPr dirty="0" sz="850" spc="6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(USGS</a:t>
            </a:r>
            <a:r>
              <a:rPr dirty="0" sz="850" spc="6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/</a:t>
            </a:r>
            <a:r>
              <a:rPr dirty="0" sz="850" spc="65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NASA)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597" y="2924896"/>
            <a:ext cx="4892675" cy="295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dirty="0" sz="800" i="1">
                <a:latin typeface="Times New Roman"/>
                <a:cs typeface="Times New Roman"/>
              </a:rPr>
              <a:t>All</a:t>
            </a:r>
            <a:r>
              <a:rPr dirty="0" sz="800" spc="90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raster</a:t>
            </a:r>
            <a:r>
              <a:rPr dirty="0" sz="800" spc="90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variables</a:t>
            </a:r>
            <a:r>
              <a:rPr dirty="0" sz="800" spc="90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aggregated</a:t>
            </a:r>
            <a:r>
              <a:rPr dirty="0" sz="800" spc="95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to</a:t>
            </a:r>
            <a:r>
              <a:rPr dirty="0" sz="800" spc="90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AC</a:t>
            </a:r>
            <a:r>
              <a:rPr dirty="0" sz="800" spc="90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polygons</a:t>
            </a:r>
            <a:r>
              <a:rPr dirty="0" sz="800" spc="95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via</a:t>
            </a:r>
            <a:r>
              <a:rPr dirty="0" sz="800" spc="90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zonal</a:t>
            </a:r>
            <a:r>
              <a:rPr dirty="0" sz="800" spc="90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statistics;</a:t>
            </a:r>
            <a:r>
              <a:rPr dirty="0" sz="800" spc="90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lagged</a:t>
            </a:r>
            <a:r>
              <a:rPr dirty="0" sz="800" spc="95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regressors</a:t>
            </a:r>
            <a:r>
              <a:rPr dirty="0" sz="800" spc="90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constructed</a:t>
            </a:r>
            <a:r>
              <a:rPr dirty="0" sz="800" spc="90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within</a:t>
            </a:r>
            <a:r>
              <a:rPr dirty="0" sz="800" spc="95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AC;</a:t>
            </a:r>
            <a:r>
              <a:rPr dirty="0" sz="800" spc="90" i="1">
                <a:latin typeface="Times New Roman"/>
                <a:cs typeface="Times New Roman"/>
              </a:rPr>
              <a:t> </a:t>
            </a:r>
            <a:r>
              <a:rPr dirty="0" sz="800" spc="-25" i="1">
                <a:latin typeface="Times New Roman"/>
                <a:cs typeface="Times New Roman"/>
              </a:rPr>
              <a:t>SEs</a:t>
            </a:r>
            <a:r>
              <a:rPr dirty="0" sz="800" spc="500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clustered</a:t>
            </a:r>
            <a:r>
              <a:rPr dirty="0" sz="800" spc="90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at</a:t>
            </a:r>
            <a:r>
              <a:rPr dirty="0" sz="800" spc="95" i="1">
                <a:latin typeface="Times New Roman"/>
                <a:cs typeface="Times New Roman"/>
              </a:rPr>
              <a:t> </a:t>
            </a:r>
            <a:r>
              <a:rPr dirty="0" sz="800" i="1">
                <a:latin typeface="Times New Roman"/>
                <a:cs typeface="Times New Roman"/>
              </a:rPr>
              <a:t>district</a:t>
            </a:r>
            <a:r>
              <a:rPr dirty="0" sz="800" spc="95" i="1">
                <a:latin typeface="Times New Roman"/>
                <a:cs typeface="Times New Roman"/>
              </a:rPr>
              <a:t> </a:t>
            </a:r>
            <a:r>
              <a:rPr dirty="0" sz="800" spc="-10" i="1">
                <a:latin typeface="Times New Roman"/>
                <a:cs typeface="Times New Roman"/>
              </a:rPr>
              <a:t>level.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9004" y="632179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20322" y="35885"/>
                </a:moveTo>
                <a:lnTo>
                  <a:pt x="15563" y="35885"/>
                </a:lnTo>
                <a:lnTo>
                  <a:pt x="13274" y="35430"/>
                </a:lnTo>
                <a:lnTo>
                  <a:pt x="0" y="20322"/>
                </a:lnTo>
                <a:lnTo>
                  <a:pt x="0" y="15563"/>
                </a:lnTo>
                <a:lnTo>
                  <a:pt x="15563" y="0"/>
                </a:lnTo>
                <a:lnTo>
                  <a:pt x="20322" y="0"/>
                </a:lnTo>
                <a:lnTo>
                  <a:pt x="35885" y="17942"/>
                </a:lnTo>
                <a:lnTo>
                  <a:pt x="35885" y="20322"/>
                </a:lnTo>
                <a:lnTo>
                  <a:pt x="20322" y="35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99004" y="782247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20322" y="35885"/>
                </a:moveTo>
                <a:lnTo>
                  <a:pt x="15563" y="35885"/>
                </a:lnTo>
                <a:lnTo>
                  <a:pt x="13274" y="35430"/>
                </a:lnTo>
                <a:lnTo>
                  <a:pt x="0" y="20322"/>
                </a:lnTo>
                <a:lnTo>
                  <a:pt x="0" y="15563"/>
                </a:lnTo>
                <a:lnTo>
                  <a:pt x="15563" y="0"/>
                </a:lnTo>
                <a:lnTo>
                  <a:pt x="20322" y="0"/>
                </a:lnTo>
                <a:lnTo>
                  <a:pt x="35885" y="17942"/>
                </a:lnTo>
                <a:lnTo>
                  <a:pt x="35885" y="20322"/>
                </a:lnTo>
                <a:lnTo>
                  <a:pt x="20322" y="35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99004" y="932316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20322" y="35885"/>
                </a:moveTo>
                <a:lnTo>
                  <a:pt x="15563" y="35885"/>
                </a:lnTo>
                <a:lnTo>
                  <a:pt x="13274" y="35430"/>
                </a:lnTo>
                <a:lnTo>
                  <a:pt x="0" y="20322"/>
                </a:lnTo>
                <a:lnTo>
                  <a:pt x="0" y="15563"/>
                </a:lnTo>
                <a:lnTo>
                  <a:pt x="15563" y="0"/>
                </a:lnTo>
                <a:lnTo>
                  <a:pt x="20322" y="0"/>
                </a:lnTo>
                <a:lnTo>
                  <a:pt x="35885" y="17942"/>
                </a:lnTo>
                <a:lnTo>
                  <a:pt x="35885" y="20322"/>
                </a:lnTo>
                <a:lnTo>
                  <a:pt x="20322" y="35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99004" y="108238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20322" y="35885"/>
                </a:moveTo>
                <a:lnTo>
                  <a:pt x="15563" y="35885"/>
                </a:lnTo>
                <a:lnTo>
                  <a:pt x="13274" y="35430"/>
                </a:lnTo>
                <a:lnTo>
                  <a:pt x="0" y="20322"/>
                </a:lnTo>
                <a:lnTo>
                  <a:pt x="0" y="15563"/>
                </a:lnTo>
                <a:lnTo>
                  <a:pt x="15563" y="0"/>
                </a:lnTo>
                <a:lnTo>
                  <a:pt x="20322" y="0"/>
                </a:lnTo>
                <a:lnTo>
                  <a:pt x="35885" y="17942"/>
                </a:lnTo>
                <a:lnTo>
                  <a:pt x="35885" y="20322"/>
                </a:lnTo>
                <a:lnTo>
                  <a:pt x="20322" y="35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99004" y="1232452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20322" y="35885"/>
                </a:moveTo>
                <a:lnTo>
                  <a:pt x="15563" y="35885"/>
                </a:lnTo>
                <a:lnTo>
                  <a:pt x="13274" y="35430"/>
                </a:lnTo>
                <a:lnTo>
                  <a:pt x="0" y="20322"/>
                </a:lnTo>
                <a:lnTo>
                  <a:pt x="0" y="15563"/>
                </a:lnTo>
                <a:lnTo>
                  <a:pt x="15563" y="0"/>
                </a:lnTo>
                <a:lnTo>
                  <a:pt x="20322" y="0"/>
                </a:lnTo>
                <a:lnTo>
                  <a:pt x="35885" y="17942"/>
                </a:lnTo>
                <a:lnTo>
                  <a:pt x="35885" y="20322"/>
                </a:lnTo>
                <a:lnTo>
                  <a:pt x="20322" y="35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5597" y="394540"/>
            <a:ext cx="3987165" cy="9283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19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Panel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structure</a:t>
            </a:r>
            <a:endParaRPr sz="1000">
              <a:latin typeface="Times New Roman"/>
              <a:cs typeface="Times New Roman"/>
            </a:endParaRPr>
          </a:p>
          <a:p>
            <a:pPr marL="228600" marR="845819">
              <a:lnSpc>
                <a:spcPts val="1180"/>
              </a:lnSpc>
              <a:spcBef>
                <a:spcPts val="45"/>
              </a:spcBef>
            </a:pPr>
            <a:r>
              <a:rPr dirty="0" sz="1000">
                <a:latin typeface="Times New Roman"/>
                <a:cs typeface="Times New Roman"/>
              </a:rPr>
              <a:t>Unit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observation: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Assembly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Constituency </a:t>
            </a:r>
            <a:r>
              <a:rPr dirty="0" sz="1000">
                <a:latin typeface="Times New Roman"/>
                <a:cs typeface="Times New Roman"/>
              </a:rPr>
              <a:t>(AC)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×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year </a:t>
            </a:r>
            <a:r>
              <a:rPr dirty="0" sz="1000">
                <a:latin typeface="Times New Roman"/>
                <a:cs typeface="Times New Roman"/>
              </a:rPr>
              <a:t>States:</a:t>
            </a:r>
            <a:r>
              <a:rPr dirty="0" sz="1000" spc="-10">
                <a:latin typeface="Times New Roman"/>
                <a:cs typeface="Times New Roman"/>
              </a:rPr>
              <a:t> Bihar,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Jharkhand,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Odisha,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West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Bengal</a:t>
            </a:r>
            <a:endParaRPr sz="1000">
              <a:latin typeface="Times New Roman"/>
              <a:cs typeface="Times New Roman"/>
            </a:endParaRPr>
          </a:p>
          <a:p>
            <a:pPr marL="228600">
              <a:lnSpc>
                <a:spcPts val="1140"/>
              </a:lnSpc>
            </a:pPr>
            <a:r>
              <a:rPr dirty="0" sz="1000">
                <a:latin typeface="Times New Roman"/>
                <a:cs typeface="Times New Roman"/>
              </a:rPr>
              <a:t>Period: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2014–</a:t>
            </a:r>
            <a:r>
              <a:rPr dirty="0" sz="1000">
                <a:latin typeface="Times New Roman"/>
                <a:cs typeface="Times New Roman"/>
              </a:rPr>
              <a:t>2019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(5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usable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years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after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lag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construction)</a:t>
            </a:r>
            <a:endParaRPr sz="1000">
              <a:latin typeface="Times New Roman"/>
              <a:cs typeface="Times New Roman"/>
            </a:endParaRPr>
          </a:p>
          <a:p>
            <a:pPr marL="228600">
              <a:lnSpc>
                <a:spcPts val="1180"/>
              </a:lnSpc>
            </a:pPr>
            <a:r>
              <a:rPr dirty="0" sz="1000" spc="-10">
                <a:latin typeface="Times New Roman"/>
                <a:cs typeface="Times New Roman"/>
              </a:rPr>
              <a:t>~800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ACs;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≈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4,000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AC-</a:t>
            </a:r>
            <a:r>
              <a:rPr dirty="0" sz="1000">
                <a:latin typeface="Times New Roman"/>
                <a:cs typeface="Times New Roman"/>
              </a:rPr>
              <a:t>year</a:t>
            </a:r>
            <a:r>
              <a:rPr dirty="0" sz="1000" spc="-10">
                <a:latin typeface="Times New Roman"/>
                <a:cs typeface="Times New Roman"/>
              </a:rPr>
              <a:t> observations</a:t>
            </a:r>
            <a:endParaRPr sz="1000">
              <a:latin typeface="Times New Roman"/>
              <a:cs typeface="Times New Roman"/>
            </a:endParaRPr>
          </a:p>
          <a:p>
            <a:pPr marL="228600">
              <a:lnSpc>
                <a:spcPts val="1190"/>
              </a:lnSpc>
            </a:pPr>
            <a:r>
              <a:rPr dirty="0" sz="1000">
                <a:latin typeface="Times New Roman"/>
                <a:cs typeface="Times New Roman"/>
              </a:rPr>
              <a:t>AC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identifiers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from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ECI;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district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codes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(Census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2011)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used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clusters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14037" y="1431758"/>
            <a:ext cx="481330" cy="187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70" b="1">
                <a:latin typeface="Times New Roman"/>
                <a:cs typeface="Times New Roman"/>
              </a:rPr>
              <a:t>Source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45982" y="1423202"/>
            <a:ext cx="1009015" cy="187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75" b="1">
                <a:latin typeface="Times New Roman"/>
                <a:cs typeface="Times New Roman"/>
              </a:rPr>
              <a:t>Defination/use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dirty="0" spc="5"/>
              <a:t> </a:t>
            </a:r>
            <a:r>
              <a:rPr dirty="0" spc="-10"/>
              <a:t>Description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49082"/>
            <a:ext cx="2774852" cy="16083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3901" y="351421"/>
            <a:ext cx="2847579" cy="16083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9071" y="1994412"/>
            <a:ext cx="2424430" cy="1173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120" marR="556260">
              <a:lnSpc>
                <a:spcPct val="102899"/>
              </a:lnSpc>
              <a:spcBef>
                <a:spcPts val="100"/>
              </a:spcBef>
            </a:pPr>
            <a:r>
              <a:rPr dirty="0" sz="850" b="1">
                <a:latin typeface="Times New Roman"/>
                <a:cs typeface="Times New Roman"/>
              </a:rPr>
              <a:t>Economic</a:t>
            </a:r>
            <a:r>
              <a:rPr dirty="0" sz="850" spc="6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Activity</a:t>
            </a:r>
            <a:r>
              <a:rPr dirty="0" sz="850" spc="6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Proxy:</a:t>
            </a:r>
            <a:r>
              <a:rPr dirty="0" sz="850" spc="70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Nightlights (VIIRS/DMSP)</a:t>
            </a:r>
            <a:endParaRPr sz="850">
              <a:latin typeface="Times New Roman"/>
              <a:cs typeface="Times New Roman"/>
            </a:endParaRPr>
          </a:p>
          <a:p>
            <a:pPr marL="12700" marR="33655" indent="69215">
              <a:lnSpc>
                <a:spcPts val="1050"/>
              </a:lnSpc>
              <a:spcBef>
                <a:spcPts val="665"/>
              </a:spcBef>
              <a:buChar char="•"/>
              <a:tabLst>
                <a:tab pos="81915" algn="l"/>
              </a:tabLst>
            </a:pPr>
            <a:r>
              <a:rPr dirty="0" sz="900" i="1">
                <a:latin typeface="Times New Roman"/>
                <a:cs typeface="Times New Roman"/>
              </a:rPr>
              <a:t>Nightlights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(VIIRS/DMSP,</a:t>
            </a:r>
            <a:r>
              <a:rPr dirty="0" sz="900" spc="25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2014)</a:t>
            </a:r>
            <a:r>
              <a:rPr dirty="0" sz="900" spc="25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used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as</a:t>
            </a:r>
            <a:r>
              <a:rPr dirty="0" sz="900" spc="25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a</a:t>
            </a:r>
            <a:r>
              <a:rPr dirty="0" sz="900" spc="25" i="1">
                <a:latin typeface="Times New Roman"/>
                <a:cs typeface="Times New Roman"/>
              </a:rPr>
              <a:t> </a:t>
            </a:r>
            <a:r>
              <a:rPr dirty="0" sz="900" spc="-20" i="1">
                <a:latin typeface="Times New Roman"/>
                <a:cs typeface="Times New Roman"/>
              </a:rPr>
              <a:t>proxy </a:t>
            </a:r>
            <a:r>
              <a:rPr dirty="0" sz="900" i="1">
                <a:latin typeface="Times New Roman"/>
                <a:cs typeface="Times New Roman"/>
              </a:rPr>
              <a:t>for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economic</a:t>
            </a:r>
            <a:r>
              <a:rPr dirty="0" sz="900" spc="25" i="1">
                <a:latin typeface="Times New Roman"/>
                <a:cs typeface="Times New Roman"/>
              </a:rPr>
              <a:t> </a:t>
            </a:r>
            <a:r>
              <a:rPr dirty="0" sz="900" spc="-10" i="1">
                <a:latin typeface="Times New Roman"/>
                <a:cs typeface="Times New Roman"/>
              </a:rPr>
              <a:t>activity.</a:t>
            </a:r>
            <a:endParaRPr sz="900">
              <a:latin typeface="Times New Roman"/>
              <a:cs typeface="Times New Roman"/>
            </a:endParaRPr>
          </a:p>
          <a:p>
            <a:pPr marL="111125" indent="-69215">
              <a:lnSpc>
                <a:spcPts val="1005"/>
              </a:lnSpc>
              <a:buChar char="•"/>
              <a:tabLst>
                <a:tab pos="111125" algn="l"/>
              </a:tabLst>
            </a:pPr>
            <a:r>
              <a:rPr dirty="0" sz="900" i="1">
                <a:latin typeface="Times New Roman"/>
                <a:cs typeface="Times New Roman"/>
              </a:rPr>
              <a:t>Higher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light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intensity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indicates</a:t>
            </a:r>
            <a:r>
              <a:rPr dirty="0" sz="900" spc="25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greater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spc="-10" i="1">
                <a:latin typeface="Times New Roman"/>
                <a:cs typeface="Times New Roman"/>
              </a:rPr>
              <a:t>economic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ts val="1050"/>
              </a:lnSpc>
            </a:pPr>
            <a:r>
              <a:rPr dirty="0" sz="900" spc="-10" i="1">
                <a:latin typeface="Times New Roman"/>
                <a:cs typeface="Times New Roman"/>
              </a:rPr>
              <a:t>activity.</a:t>
            </a:r>
            <a:endParaRPr sz="900">
              <a:latin typeface="Times New Roman"/>
              <a:cs typeface="Times New Roman"/>
            </a:endParaRPr>
          </a:p>
          <a:p>
            <a:pPr marL="12700" marR="254635" indent="98425">
              <a:lnSpc>
                <a:spcPts val="1050"/>
              </a:lnSpc>
              <a:spcBef>
                <a:spcPts val="45"/>
              </a:spcBef>
              <a:buChar char="•"/>
              <a:tabLst>
                <a:tab pos="111125" algn="l"/>
              </a:tabLst>
            </a:pPr>
            <a:r>
              <a:rPr dirty="0" sz="900" i="1">
                <a:latin typeface="Times New Roman"/>
                <a:cs typeface="Times New Roman"/>
              </a:rPr>
              <a:t>Used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to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analyze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economic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impacts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of</a:t>
            </a:r>
            <a:r>
              <a:rPr dirty="0" sz="900" spc="25" i="1">
                <a:latin typeface="Times New Roman"/>
                <a:cs typeface="Times New Roman"/>
              </a:rPr>
              <a:t> </a:t>
            </a:r>
            <a:r>
              <a:rPr dirty="0" sz="900" spc="-10" i="1">
                <a:latin typeface="Times New Roman"/>
                <a:cs typeface="Times New Roman"/>
              </a:rPr>
              <a:t>floods </a:t>
            </a:r>
            <a:r>
              <a:rPr dirty="0" sz="900" i="1">
                <a:latin typeface="Times New Roman"/>
                <a:cs typeface="Times New Roman"/>
              </a:rPr>
              <a:t>across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assembly</a:t>
            </a:r>
            <a:r>
              <a:rPr dirty="0" sz="900" spc="25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constituencies</a:t>
            </a:r>
            <a:r>
              <a:rPr dirty="0" sz="900" spc="25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in</a:t>
            </a:r>
            <a:r>
              <a:rPr dirty="0" sz="900" spc="25" i="1">
                <a:latin typeface="Times New Roman"/>
                <a:cs typeface="Times New Roman"/>
              </a:rPr>
              <a:t> </a:t>
            </a:r>
            <a:r>
              <a:rPr dirty="0" sz="900" spc="-10" i="1">
                <a:latin typeface="Times New Roman"/>
                <a:cs typeface="Times New Roman"/>
              </a:rPr>
              <a:t>Bihar.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10416" y="237639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26325" y="36629"/>
                </a:lnTo>
                <a:lnTo>
                  <a:pt x="23993" y="37595"/>
                </a:lnTo>
                <a:lnTo>
                  <a:pt x="21564" y="38079"/>
                </a:lnTo>
                <a:lnTo>
                  <a:pt x="19039" y="38079"/>
                </a:lnTo>
                <a:lnTo>
                  <a:pt x="16514" y="38079"/>
                </a:lnTo>
                <a:lnTo>
                  <a:pt x="14086" y="37595"/>
                </a:lnTo>
                <a:lnTo>
                  <a:pt x="11753" y="36629"/>
                </a:lnTo>
                <a:lnTo>
                  <a:pt x="9420" y="35663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32502" y="5576"/>
                </a:lnTo>
                <a:lnTo>
                  <a:pt x="34287" y="7361"/>
                </a:lnTo>
                <a:lnTo>
                  <a:pt x="35663" y="9420"/>
                </a:lnTo>
                <a:lnTo>
                  <a:pt x="36629" y="11753"/>
                </a:lnTo>
                <a:lnTo>
                  <a:pt x="37595" y="14086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10416" y="264294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26325" y="36629"/>
                </a:lnTo>
                <a:lnTo>
                  <a:pt x="23993" y="37595"/>
                </a:lnTo>
                <a:lnTo>
                  <a:pt x="21564" y="38079"/>
                </a:lnTo>
                <a:lnTo>
                  <a:pt x="19039" y="38079"/>
                </a:lnTo>
                <a:lnTo>
                  <a:pt x="16514" y="38079"/>
                </a:lnTo>
                <a:lnTo>
                  <a:pt x="14086" y="37595"/>
                </a:lnTo>
                <a:lnTo>
                  <a:pt x="11753" y="36629"/>
                </a:lnTo>
                <a:lnTo>
                  <a:pt x="9420" y="35663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483" y="14085"/>
                </a:lnTo>
                <a:lnTo>
                  <a:pt x="1449" y="11753"/>
                </a:lnTo>
                <a:lnTo>
                  <a:pt x="2415" y="9420"/>
                </a:lnTo>
                <a:lnTo>
                  <a:pt x="3791" y="7361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32502" y="5576"/>
                </a:lnTo>
                <a:lnTo>
                  <a:pt x="34287" y="7361"/>
                </a:lnTo>
                <a:lnTo>
                  <a:pt x="35663" y="9420"/>
                </a:lnTo>
                <a:lnTo>
                  <a:pt x="36629" y="11753"/>
                </a:lnTo>
                <a:lnTo>
                  <a:pt x="37595" y="14085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10416" y="2909501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38079" y="21564"/>
                </a:lnTo>
                <a:lnTo>
                  <a:pt x="37595" y="23992"/>
                </a:lnTo>
                <a:lnTo>
                  <a:pt x="36629" y="26325"/>
                </a:lnTo>
                <a:lnTo>
                  <a:pt x="35663" y="28658"/>
                </a:lnTo>
                <a:lnTo>
                  <a:pt x="26325" y="36629"/>
                </a:lnTo>
                <a:lnTo>
                  <a:pt x="23993" y="37595"/>
                </a:lnTo>
                <a:lnTo>
                  <a:pt x="21564" y="38078"/>
                </a:lnTo>
                <a:lnTo>
                  <a:pt x="19039" y="38079"/>
                </a:lnTo>
                <a:lnTo>
                  <a:pt x="16514" y="38078"/>
                </a:lnTo>
                <a:lnTo>
                  <a:pt x="14086" y="37595"/>
                </a:lnTo>
                <a:lnTo>
                  <a:pt x="11753" y="36629"/>
                </a:lnTo>
                <a:lnTo>
                  <a:pt x="9420" y="35663"/>
                </a:lnTo>
                <a:lnTo>
                  <a:pt x="1449" y="26325"/>
                </a:lnTo>
                <a:lnTo>
                  <a:pt x="483" y="23992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483" y="14085"/>
                </a:lnTo>
                <a:lnTo>
                  <a:pt x="1449" y="11753"/>
                </a:lnTo>
                <a:lnTo>
                  <a:pt x="2415" y="9420"/>
                </a:lnTo>
                <a:lnTo>
                  <a:pt x="3791" y="7361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32502" y="5576"/>
                </a:lnTo>
                <a:lnTo>
                  <a:pt x="34287" y="7361"/>
                </a:lnTo>
                <a:lnTo>
                  <a:pt x="35663" y="9420"/>
                </a:lnTo>
                <a:lnTo>
                  <a:pt x="36629" y="11753"/>
                </a:lnTo>
                <a:lnTo>
                  <a:pt x="37595" y="14085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901201" y="1980531"/>
            <a:ext cx="2524125" cy="114617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959485">
              <a:lnSpc>
                <a:spcPts val="1050"/>
              </a:lnSpc>
              <a:spcBef>
                <a:spcPts val="175"/>
              </a:spcBef>
            </a:pPr>
            <a:r>
              <a:rPr dirty="0" sz="900" spc="-10" b="1">
                <a:latin typeface="Times New Roman"/>
                <a:cs typeface="Times New Roman"/>
              </a:rPr>
              <a:t>Built-</a:t>
            </a:r>
            <a:r>
              <a:rPr dirty="0" sz="900" b="1">
                <a:latin typeface="Times New Roman"/>
                <a:cs typeface="Times New Roman"/>
              </a:rPr>
              <a:t>up</a:t>
            </a:r>
            <a:r>
              <a:rPr dirty="0" sz="900" spc="2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Area</a:t>
            </a:r>
            <a:r>
              <a:rPr dirty="0" sz="900" spc="2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Exposure:</a:t>
            </a:r>
            <a:r>
              <a:rPr dirty="0" sz="900" spc="20" b="1">
                <a:latin typeface="Times New Roman"/>
                <a:cs typeface="Times New Roman"/>
              </a:rPr>
              <a:t> </a:t>
            </a:r>
            <a:r>
              <a:rPr dirty="0" sz="900" spc="-20" b="1">
                <a:latin typeface="Times New Roman"/>
                <a:cs typeface="Times New Roman"/>
              </a:rPr>
              <a:t>NDBI </a:t>
            </a:r>
            <a:r>
              <a:rPr dirty="0" sz="900" spc="-10" b="1">
                <a:latin typeface="Times New Roman"/>
                <a:cs typeface="Times New Roman"/>
              </a:rPr>
              <a:t>(Landsat-</a:t>
            </a:r>
            <a:r>
              <a:rPr dirty="0" sz="900" spc="-25" b="1">
                <a:latin typeface="Times New Roman"/>
                <a:cs typeface="Times New Roman"/>
              </a:rPr>
              <a:t>8)</a:t>
            </a:r>
            <a:endParaRPr sz="900">
              <a:latin typeface="Times New Roman"/>
              <a:cs typeface="Times New Roman"/>
            </a:endParaRPr>
          </a:p>
          <a:p>
            <a:pPr marL="143510" marR="21590">
              <a:lnSpc>
                <a:spcPts val="1050"/>
              </a:lnSpc>
              <a:spcBef>
                <a:spcPts val="375"/>
              </a:spcBef>
            </a:pPr>
            <a:r>
              <a:rPr dirty="0" sz="900" i="1">
                <a:latin typeface="Times New Roman"/>
                <a:cs typeface="Times New Roman"/>
              </a:rPr>
              <a:t>The</a:t>
            </a:r>
            <a:r>
              <a:rPr dirty="0" sz="900" spc="25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Normalized</a:t>
            </a:r>
            <a:r>
              <a:rPr dirty="0" sz="900" spc="25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Difference</a:t>
            </a:r>
            <a:r>
              <a:rPr dirty="0" sz="900" spc="25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Built-up</a:t>
            </a:r>
            <a:r>
              <a:rPr dirty="0" sz="900" spc="25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Index</a:t>
            </a:r>
            <a:r>
              <a:rPr dirty="0" sz="900" spc="30" i="1">
                <a:latin typeface="Times New Roman"/>
                <a:cs typeface="Times New Roman"/>
              </a:rPr>
              <a:t> </a:t>
            </a:r>
            <a:r>
              <a:rPr dirty="0" sz="900" spc="-10" i="1">
                <a:latin typeface="Times New Roman"/>
                <a:cs typeface="Times New Roman"/>
              </a:rPr>
              <a:t>(NDBI) </a:t>
            </a:r>
            <a:r>
              <a:rPr dirty="0" sz="900" i="1">
                <a:latin typeface="Times New Roman"/>
                <a:cs typeface="Times New Roman"/>
              </a:rPr>
              <a:t>identifies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urban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and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built-up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spc="-10" i="1">
                <a:latin typeface="Times New Roman"/>
                <a:cs typeface="Times New Roman"/>
              </a:rPr>
              <a:t>areas.(2014)</a:t>
            </a:r>
            <a:endParaRPr sz="900">
              <a:latin typeface="Times New Roman"/>
              <a:cs typeface="Times New Roman"/>
            </a:endParaRPr>
          </a:p>
          <a:p>
            <a:pPr marL="143510">
              <a:lnSpc>
                <a:spcPts val="1005"/>
              </a:lnSpc>
            </a:pPr>
            <a:r>
              <a:rPr dirty="0" sz="900" i="1">
                <a:latin typeface="Times New Roman"/>
                <a:cs typeface="Times New Roman"/>
              </a:rPr>
              <a:t>This</a:t>
            </a:r>
            <a:r>
              <a:rPr dirty="0" sz="900" spc="15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helps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analyze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how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floods</a:t>
            </a:r>
            <a:r>
              <a:rPr dirty="0" sz="900" spc="15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affect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spc="-10" i="1">
                <a:latin typeface="Times New Roman"/>
                <a:cs typeface="Times New Roman"/>
              </a:rPr>
              <a:t>infrastructure</a:t>
            </a:r>
            <a:endParaRPr sz="900">
              <a:latin typeface="Times New Roman"/>
              <a:cs typeface="Times New Roman"/>
            </a:endParaRPr>
          </a:p>
          <a:p>
            <a:pPr marL="143510">
              <a:lnSpc>
                <a:spcPts val="1050"/>
              </a:lnSpc>
            </a:pPr>
            <a:r>
              <a:rPr dirty="0" sz="900" i="1">
                <a:latin typeface="Times New Roman"/>
                <a:cs typeface="Times New Roman"/>
              </a:rPr>
              <a:t>and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urban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spc="-10" i="1">
                <a:latin typeface="Times New Roman"/>
                <a:cs typeface="Times New Roman"/>
              </a:rPr>
              <a:t>development.</a:t>
            </a:r>
            <a:endParaRPr sz="900">
              <a:latin typeface="Times New Roman"/>
              <a:cs typeface="Times New Roman"/>
            </a:endParaRPr>
          </a:p>
          <a:p>
            <a:pPr marL="143510" marR="99060">
              <a:lnSpc>
                <a:spcPts val="1050"/>
              </a:lnSpc>
              <a:spcBef>
                <a:spcPts val="45"/>
              </a:spcBef>
            </a:pPr>
            <a:r>
              <a:rPr dirty="0" sz="900" i="1">
                <a:latin typeface="Times New Roman"/>
                <a:cs typeface="Times New Roman"/>
              </a:rPr>
              <a:t>Built-up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density</a:t>
            </a:r>
            <a:r>
              <a:rPr dirty="0" sz="900" spc="25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indicates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areas</a:t>
            </a:r>
            <a:r>
              <a:rPr dirty="0" sz="900" spc="25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where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spc="-10" i="1">
                <a:latin typeface="Times New Roman"/>
                <a:cs typeface="Times New Roman"/>
              </a:rPr>
              <a:t>economic </a:t>
            </a:r>
            <a:r>
              <a:rPr dirty="0" sz="900" i="1">
                <a:latin typeface="Times New Roman"/>
                <a:cs typeface="Times New Roman"/>
              </a:rPr>
              <a:t>losses</a:t>
            </a:r>
            <a:r>
              <a:rPr dirty="0" sz="900" spc="5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may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be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higher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during</a:t>
            </a:r>
            <a:r>
              <a:rPr dirty="0" sz="900" spc="20" i="1">
                <a:latin typeface="Times New Roman"/>
                <a:cs typeface="Times New Roman"/>
              </a:rPr>
              <a:t> </a:t>
            </a:r>
            <a:r>
              <a:rPr dirty="0" sz="900" spc="-10" i="1">
                <a:latin typeface="Times New Roman"/>
                <a:cs typeface="Times New Roman"/>
              </a:rPr>
              <a:t>floods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dirty="0" spc="5"/>
              <a:t> </a:t>
            </a:r>
            <a:r>
              <a:rPr dirty="0" spc="-10"/>
              <a:t>Description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42" y="351421"/>
            <a:ext cx="2727924" cy="172073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2542" y="351421"/>
            <a:ext cx="2476419" cy="172072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04373" y="245179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26325" y="36629"/>
                </a:lnTo>
                <a:lnTo>
                  <a:pt x="23993" y="37595"/>
                </a:lnTo>
                <a:lnTo>
                  <a:pt x="21564" y="38079"/>
                </a:lnTo>
                <a:lnTo>
                  <a:pt x="19039" y="38079"/>
                </a:lnTo>
                <a:lnTo>
                  <a:pt x="16514" y="38079"/>
                </a:lnTo>
                <a:lnTo>
                  <a:pt x="14086" y="37595"/>
                </a:lnTo>
                <a:lnTo>
                  <a:pt x="11753" y="36629"/>
                </a:lnTo>
                <a:lnTo>
                  <a:pt x="9420" y="35663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23993" y="483"/>
                </a:lnTo>
                <a:lnTo>
                  <a:pt x="26325" y="1449"/>
                </a:lnTo>
                <a:lnTo>
                  <a:pt x="28658" y="2415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4373" y="2604106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19039" y="38079"/>
                </a:lnTo>
                <a:lnTo>
                  <a:pt x="16514" y="38079"/>
                </a:lnTo>
                <a:lnTo>
                  <a:pt x="5576" y="32502"/>
                </a:lnTo>
                <a:lnTo>
                  <a:pt x="3791" y="30717"/>
                </a:lnTo>
                <a:lnTo>
                  <a:pt x="2415" y="28658"/>
                </a:lnTo>
                <a:lnTo>
                  <a:pt x="1449" y="26325"/>
                </a:lnTo>
                <a:lnTo>
                  <a:pt x="483" y="23992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483" y="14085"/>
                </a:lnTo>
                <a:lnTo>
                  <a:pt x="1449" y="11753"/>
                </a:lnTo>
                <a:lnTo>
                  <a:pt x="2415" y="9420"/>
                </a:lnTo>
                <a:lnTo>
                  <a:pt x="3791" y="7361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32502" y="5576"/>
                </a:lnTo>
                <a:lnTo>
                  <a:pt x="34287" y="7361"/>
                </a:lnTo>
                <a:lnTo>
                  <a:pt x="35663" y="9420"/>
                </a:lnTo>
                <a:lnTo>
                  <a:pt x="36629" y="11753"/>
                </a:lnTo>
                <a:lnTo>
                  <a:pt x="37595" y="14085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4373" y="2756422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079" y="19039"/>
                </a:moveTo>
                <a:lnTo>
                  <a:pt x="19039" y="38079"/>
                </a:lnTo>
                <a:lnTo>
                  <a:pt x="16514" y="38079"/>
                </a:lnTo>
                <a:lnTo>
                  <a:pt x="5576" y="32502"/>
                </a:lnTo>
                <a:lnTo>
                  <a:pt x="3791" y="30717"/>
                </a:lnTo>
                <a:lnTo>
                  <a:pt x="2415" y="28658"/>
                </a:lnTo>
                <a:lnTo>
                  <a:pt x="1449" y="26325"/>
                </a:lnTo>
                <a:lnTo>
                  <a:pt x="483" y="23992"/>
                </a:lnTo>
                <a:lnTo>
                  <a:pt x="0" y="21564"/>
                </a:lnTo>
                <a:lnTo>
                  <a:pt x="0" y="19039"/>
                </a:lnTo>
                <a:lnTo>
                  <a:pt x="0" y="16514"/>
                </a:lnTo>
                <a:lnTo>
                  <a:pt x="483" y="14085"/>
                </a:lnTo>
                <a:lnTo>
                  <a:pt x="1449" y="11753"/>
                </a:lnTo>
                <a:lnTo>
                  <a:pt x="2415" y="9420"/>
                </a:lnTo>
                <a:lnTo>
                  <a:pt x="3791" y="7361"/>
                </a:lnTo>
                <a:lnTo>
                  <a:pt x="5576" y="5576"/>
                </a:lnTo>
                <a:lnTo>
                  <a:pt x="7361" y="3791"/>
                </a:lnTo>
                <a:lnTo>
                  <a:pt x="9420" y="2415"/>
                </a:lnTo>
                <a:lnTo>
                  <a:pt x="11753" y="1449"/>
                </a:lnTo>
                <a:lnTo>
                  <a:pt x="14086" y="483"/>
                </a:lnTo>
                <a:lnTo>
                  <a:pt x="16514" y="0"/>
                </a:lnTo>
                <a:lnTo>
                  <a:pt x="19039" y="0"/>
                </a:lnTo>
                <a:lnTo>
                  <a:pt x="21564" y="0"/>
                </a:lnTo>
                <a:lnTo>
                  <a:pt x="32502" y="5576"/>
                </a:lnTo>
                <a:lnTo>
                  <a:pt x="34287" y="7361"/>
                </a:lnTo>
                <a:lnTo>
                  <a:pt x="35663" y="9420"/>
                </a:lnTo>
                <a:lnTo>
                  <a:pt x="36629" y="11753"/>
                </a:lnTo>
                <a:lnTo>
                  <a:pt x="37595" y="14085"/>
                </a:lnTo>
                <a:lnTo>
                  <a:pt x="38079" y="16514"/>
                </a:lnTo>
                <a:lnTo>
                  <a:pt x="38079" y="19039"/>
                </a:lnTo>
                <a:close/>
              </a:path>
            </a:pathLst>
          </a:custGeom>
          <a:ln w="9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36254" y="2055051"/>
            <a:ext cx="4854575" cy="94932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441959">
              <a:lnSpc>
                <a:spcPct val="100000"/>
              </a:lnSpc>
              <a:spcBef>
                <a:spcPts val="750"/>
              </a:spcBef>
              <a:tabLst>
                <a:tab pos="3034665" algn="l"/>
              </a:tabLst>
            </a:pPr>
            <a:r>
              <a:rPr dirty="0" sz="950" b="1">
                <a:latin typeface="Times New Roman"/>
                <a:cs typeface="Times New Roman"/>
              </a:rPr>
              <a:t>Flood Exposure</a:t>
            </a:r>
            <a:r>
              <a:rPr dirty="0" sz="950" spc="-5" b="1">
                <a:latin typeface="Times New Roman"/>
                <a:cs typeface="Times New Roman"/>
              </a:rPr>
              <a:t> </a:t>
            </a:r>
            <a:r>
              <a:rPr dirty="0" sz="950" b="1">
                <a:latin typeface="Times New Roman"/>
                <a:cs typeface="Times New Roman"/>
              </a:rPr>
              <a:t>– </a:t>
            </a:r>
            <a:r>
              <a:rPr dirty="0" sz="950" spc="-20" b="1">
                <a:latin typeface="Times New Roman"/>
                <a:cs typeface="Times New Roman"/>
              </a:rPr>
              <a:t>2014</a:t>
            </a:r>
            <a:r>
              <a:rPr dirty="0" sz="950" b="1">
                <a:latin typeface="Times New Roman"/>
                <a:cs typeface="Times New Roman"/>
              </a:rPr>
              <a:t>	</a:t>
            </a:r>
            <a:r>
              <a:rPr dirty="0" baseline="3086" sz="1350" b="1">
                <a:latin typeface="Times New Roman"/>
                <a:cs typeface="Times New Roman"/>
              </a:rPr>
              <a:t>Flood</a:t>
            </a:r>
            <a:r>
              <a:rPr dirty="0" baseline="3086" sz="1350" spc="67" b="1">
                <a:latin typeface="Times New Roman"/>
                <a:cs typeface="Times New Roman"/>
              </a:rPr>
              <a:t> </a:t>
            </a:r>
            <a:r>
              <a:rPr dirty="0" baseline="3086" sz="1350" b="1">
                <a:latin typeface="Times New Roman"/>
                <a:cs typeface="Times New Roman"/>
              </a:rPr>
              <a:t>Exposure</a:t>
            </a:r>
            <a:r>
              <a:rPr dirty="0" baseline="3086" sz="1350" spc="75" b="1">
                <a:latin typeface="Times New Roman"/>
                <a:cs typeface="Times New Roman"/>
              </a:rPr>
              <a:t> </a:t>
            </a:r>
            <a:r>
              <a:rPr dirty="0" baseline="3086" sz="1350" b="1">
                <a:latin typeface="Times New Roman"/>
                <a:cs typeface="Times New Roman"/>
              </a:rPr>
              <a:t>–</a:t>
            </a:r>
            <a:r>
              <a:rPr dirty="0" baseline="3086" sz="1350" spc="75" b="1">
                <a:latin typeface="Times New Roman"/>
                <a:cs typeface="Times New Roman"/>
              </a:rPr>
              <a:t> </a:t>
            </a:r>
            <a:r>
              <a:rPr dirty="0" baseline="3086" sz="1350" spc="-30" b="1">
                <a:latin typeface="Times New Roman"/>
                <a:cs typeface="Times New Roman"/>
              </a:rPr>
              <a:t>2017</a:t>
            </a:r>
            <a:endParaRPr baseline="3086" sz="1350">
              <a:latin typeface="Times New Roman"/>
              <a:cs typeface="Times New Roman"/>
            </a:endParaRPr>
          </a:p>
          <a:p>
            <a:pPr marL="12700" marR="1151890">
              <a:lnSpc>
                <a:spcPct val="100000"/>
              </a:lnSpc>
              <a:spcBef>
                <a:spcPts val="680"/>
              </a:spcBef>
            </a:pPr>
            <a:r>
              <a:rPr dirty="0" sz="1000" i="1">
                <a:latin typeface="Times New Roman"/>
                <a:cs typeface="Times New Roman"/>
              </a:rPr>
              <a:t>Flood</a:t>
            </a:r>
            <a:r>
              <a:rPr dirty="0" sz="1000" spc="-2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exposure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derived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from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spc="-10" i="1">
                <a:latin typeface="Times New Roman"/>
                <a:cs typeface="Times New Roman"/>
              </a:rPr>
              <a:t>EC-</a:t>
            </a:r>
            <a:r>
              <a:rPr dirty="0" sz="1000" i="1">
                <a:latin typeface="Times New Roman"/>
                <a:cs typeface="Times New Roman"/>
              </a:rPr>
              <a:t>JRC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Global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Surface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Water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spc="-10" i="1">
                <a:latin typeface="Times New Roman"/>
                <a:cs typeface="Times New Roman"/>
              </a:rPr>
              <a:t>Dataset. </a:t>
            </a:r>
            <a:r>
              <a:rPr dirty="0" sz="1000" i="1">
                <a:latin typeface="Times New Roman"/>
                <a:cs typeface="Times New Roman"/>
              </a:rPr>
              <a:t>The</a:t>
            </a:r>
            <a:r>
              <a:rPr dirty="0" sz="1000" spc="-2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maps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highlight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seasonal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and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permanent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water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bodies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across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spc="-10" i="1">
                <a:latin typeface="Times New Roman"/>
                <a:cs typeface="Times New Roman"/>
              </a:rPr>
              <a:t>Bihar.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ts val="1200"/>
              </a:lnSpc>
              <a:spcBef>
                <a:spcPts val="40"/>
              </a:spcBef>
            </a:pPr>
            <a:r>
              <a:rPr dirty="0" sz="1000" i="1">
                <a:latin typeface="Times New Roman"/>
                <a:cs typeface="Times New Roman"/>
              </a:rPr>
              <a:t>Similar</a:t>
            </a:r>
            <a:r>
              <a:rPr dirty="0" sz="1000" spc="-2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flood</a:t>
            </a:r>
            <a:r>
              <a:rPr dirty="0" sz="1000" spc="-2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patterns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are</a:t>
            </a:r>
            <a:r>
              <a:rPr dirty="0" sz="1000" spc="-2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observed</a:t>
            </a:r>
            <a:r>
              <a:rPr dirty="0" sz="1000" spc="-2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in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West</a:t>
            </a:r>
            <a:r>
              <a:rPr dirty="0" sz="1000" spc="-2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Bengal,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Jharkhand,</a:t>
            </a:r>
            <a:r>
              <a:rPr dirty="0" sz="1000" spc="-2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and</a:t>
            </a:r>
            <a:r>
              <a:rPr dirty="0" sz="1000" spc="-2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Odisha,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suggesting</a:t>
            </a:r>
            <a:r>
              <a:rPr dirty="0" sz="1000" spc="-25" i="1">
                <a:latin typeface="Times New Roman"/>
                <a:cs typeface="Times New Roman"/>
              </a:rPr>
              <a:t> </a:t>
            </a:r>
            <a:r>
              <a:rPr dirty="0" sz="1000" spc="-10" i="1">
                <a:latin typeface="Times New Roman"/>
                <a:cs typeface="Times New Roman"/>
              </a:rPr>
              <a:t>scope </a:t>
            </a:r>
            <a:r>
              <a:rPr dirty="0" sz="1000" i="1">
                <a:latin typeface="Times New Roman"/>
                <a:cs typeface="Times New Roman"/>
              </a:rPr>
              <a:t>for</a:t>
            </a:r>
            <a:r>
              <a:rPr dirty="0" sz="1000" spc="-2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future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regional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analysis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across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Eastern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spc="-10" i="1">
                <a:latin typeface="Times New Roman"/>
                <a:cs typeface="Times New Roman"/>
              </a:rPr>
              <a:t>India.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1340" y="934428"/>
            <a:ext cx="4855845" cy="12065"/>
          </a:xfrm>
          <a:custGeom>
            <a:avLst/>
            <a:gdLst/>
            <a:ahLst/>
            <a:cxnLst/>
            <a:rect l="l" t="t" r="r" b="b"/>
            <a:pathLst>
              <a:path w="4855845" h="12065">
                <a:moveTo>
                  <a:pt x="4855295" y="11513"/>
                </a:moveTo>
                <a:lnTo>
                  <a:pt x="0" y="11513"/>
                </a:lnTo>
                <a:lnTo>
                  <a:pt x="0" y="0"/>
                </a:lnTo>
                <a:lnTo>
                  <a:pt x="4855295" y="0"/>
                </a:lnTo>
                <a:lnTo>
                  <a:pt x="4855295" y="11513"/>
                </a:lnTo>
                <a:close/>
              </a:path>
            </a:pathLst>
          </a:custGeom>
          <a:solidFill>
            <a:srgbClr val="23373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677" y="1040760"/>
            <a:ext cx="4864597" cy="183731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Summary</a:t>
            </a:r>
            <a:r>
              <a:rPr dirty="0" spc="35"/>
              <a:t> </a:t>
            </a:r>
            <a:r>
              <a:rPr dirty="0"/>
              <a:t>Statistics</a:t>
            </a:r>
            <a:r>
              <a:rPr dirty="0" spc="35"/>
              <a:t> </a:t>
            </a:r>
            <a:r>
              <a:rPr dirty="0"/>
              <a:t>—</a:t>
            </a:r>
            <a:r>
              <a:rPr dirty="0" spc="40"/>
              <a:t> </a:t>
            </a:r>
            <a:r>
              <a:rPr dirty="0" spc="-10"/>
              <a:t>Variables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8640" y="466982"/>
            <a:ext cx="5147945" cy="340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800"/>
              </a:lnSpc>
              <a:spcBef>
                <a:spcPts val="95"/>
              </a:spcBef>
            </a:pPr>
            <a:r>
              <a:rPr dirty="0" baseline="5847" sz="1425">
                <a:latin typeface="Times New Roman"/>
                <a:cs typeface="Times New Roman"/>
              </a:rPr>
              <a:t>Sample:</a:t>
            </a:r>
            <a:r>
              <a:rPr dirty="0" baseline="5847" sz="1425" spc="22">
                <a:latin typeface="Times New Roman"/>
                <a:cs typeface="Times New Roman"/>
              </a:rPr>
              <a:t> </a:t>
            </a:r>
            <a:r>
              <a:rPr dirty="0" baseline="5847" sz="1425">
                <a:latin typeface="Times New Roman"/>
                <a:cs typeface="Times New Roman"/>
              </a:rPr>
              <a:t>765</a:t>
            </a:r>
            <a:r>
              <a:rPr dirty="0" baseline="5847" sz="1425" spc="30">
                <a:latin typeface="Times New Roman"/>
                <a:cs typeface="Times New Roman"/>
              </a:rPr>
              <a:t> </a:t>
            </a:r>
            <a:r>
              <a:rPr dirty="0" baseline="5847" sz="1425">
                <a:latin typeface="Times New Roman"/>
                <a:cs typeface="Times New Roman"/>
              </a:rPr>
              <a:t>ACs</a:t>
            </a:r>
            <a:r>
              <a:rPr dirty="0" baseline="5847" sz="1425" spc="397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×</a:t>
            </a:r>
            <a:r>
              <a:rPr dirty="0" sz="950" spc="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6</a:t>
            </a:r>
            <a:r>
              <a:rPr dirty="0" sz="950" spc="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years</a:t>
            </a:r>
            <a:r>
              <a:rPr dirty="0" sz="950" spc="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(2014–2019)</a:t>
            </a:r>
            <a:r>
              <a:rPr dirty="0" sz="950" spc="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=</a:t>
            </a:r>
            <a:r>
              <a:rPr dirty="0" sz="950" spc="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4,674</a:t>
            </a:r>
            <a:r>
              <a:rPr dirty="0" sz="950" spc="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AC-year</a:t>
            </a:r>
            <a:r>
              <a:rPr dirty="0" sz="950" spc="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observations</a:t>
            </a:r>
            <a:r>
              <a:rPr dirty="0" sz="950" spc="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across</a:t>
            </a:r>
            <a:r>
              <a:rPr dirty="0" sz="950" spc="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108</a:t>
            </a:r>
            <a:r>
              <a:rPr dirty="0" sz="950" spc="1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districts.</a:t>
            </a:r>
            <a:r>
              <a:rPr dirty="0" sz="950" spc="2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Estimation </a:t>
            </a:r>
            <a:r>
              <a:rPr dirty="0" baseline="2923" sz="1425">
                <a:latin typeface="Times New Roman"/>
                <a:cs typeface="Times New Roman"/>
              </a:rPr>
              <a:t>sample</a:t>
            </a:r>
            <a:r>
              <a:rPr dirty="0" baseline="2923" sz="1425" spc="22">
                <a:latin typeface="Times New Roman"/>
                <a:cs typeface="Times New Roman"/>
              </a:rPr>
              <a:t> </a:t>
            </a:r>
            <a:r>
              <a:rPr dirty="0" baseline="2923" sz="1425" i="1">
                <a:latin typeface="Times New Roman"/>
                <a:cs typeface="Times New Roman"/>
              </a:rPr>
              <a:t>N</a:t>
            </a:r>
            <a:r>
              <a:rPr dirty="0" baseline="2923" sz="1425" spc="195" i="1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≈</a:t>
            </a:r>
            <a:r>
              <a:rPr dirty="0" sz="950" spc="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3,890</a:t>
            </a:r>
            <a:r>
              <a:rPr dirty="0" sz="950" spc="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after</a:t>
            </a:r>
            <a:r>
              <a:rPr dirty="0" sz="950" spc="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lag</a:t>
            </a:r>
            <a:r>
              <a:rPr dirty="0" sz="950" spc="25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construction</a:t>
            </a:r>
            <a:r>
              <a:rPr dirty="0" sz="950" spc="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(2014</a:t>
            </a:r>
            <a:r>
              <a:rPr dirty="0" sz="950" spc="20">
                <a:latin typeface="Times New Roman"/>
                <a:cs typeface="Times New Roman"/>
              </a:rPr>
              <a:t> </a:t>
            </a:r>
            <a:r>
              <a:rPr dirty="0" sz="950" spc="-10">
                <a:latin typeface="Times New Roman"/>
                <a:cs typeface="Times New Roman"/>
              </a:rPr>
              <a:t>dropped).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609" y="598367"/>
            <a:ext cx="546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State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42" y="40791"/>
            <a:ext cx="271272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b="1">
                <a:solidFill>
                  <a:srgbClr val="FAFAFA"/>
                </a:solidFill>
                <a:latin typeface="Trebuchet MS"/>
                <a:cs typeface="Trebuchet MS"/>
              </a:rPr>
              <a:t>Summary</a:t>
            </a:r>
            <a:r>
              <a:rPr dirty="0" sz="1200" spc="10" b="1">
                <a:solidFill>
                  <a:srgbClr val="FAFAFA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AFAFA"/>
                </a:solidFill>
                <a:latin typeface="Trebuchet MS"/>
                <a:cs typeface="Trebuchet MS"/>
              </a:rPr>
              <a:t>Statistics</a:t>
            </a:r>
            <a:r>
              <a:rPr dirty="0" sz="1200" spc="15" b="1">
                <a:solidFill>
                  <a:srgbClr val="FAFAFA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AFAFA"/>
                </a:solidFill>
                <a:latin typeface="Trebuchet MS"/>
                <a:cs typeface="Trebuchet MS"/>
              </a:rPr>
              <a:t>—</a:t>
            </a:r>
            <a:r>
              <a:rPr dirty="0" sz="1200" spc="10" b="1">
                <a:solidFill>
                  <a:srgbClr val="FAFAFA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AFAFA"/>
                </a:solidFill>
                <a:latin typeface="Trebuchet MS"/>
                <a:cs typeface="Trebuchet MS"/>
              </a:rPr>
              <a:t>Flood</a:t>
            </a:r>
            <a:r>
              <a:rPr dirty="0" sz="1200" spc="15" b="1">
                <a:solidFill>
                  <a:srgbClr val="FAFAFA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FAFAFA"/>
                </a:solidFill>
                <a:latin typeface="Trebuchet MS"/>
                <a:cs typeface="Trebuchet MS"/>
              </a:rPr>
              <a:t>Exposure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-12699" y="2129240"/>
            <a:ext cx="5649595" cy="999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Takeaways</a:t>
            </a:r>
            <a:endParaRPr sz="1000">
              <a:latin typeface="Times New Roman"/>
              <a:cs typeface="Times New Roman"/>
            </a:endParaRPr>
          </a:p>
          <a:p>
            <a:pPr marL="269875" indent="-74930">
              <a:lnSpc>
                <a:spcPct val="100000"/>
              </a:lnSpc>
              <a:spcBef>
                <a:spcPts val="1019"/>
              </a:spcBef>
              <a:buChar char="•"/>
              <a:tabLst>
                <a:tab pos="269875" algn="l"/>
              </a:tabLst>
            </a:pPr>
            <a:r>
              <a:rPr dirty="0" sz="1000" spc="-10">
                <a:latin typeface="Times New Roman"/>
                <a:cs typeface="Times New Roman"/>
              </a:rPr>
              <a:t>Substantial</a:t>
            </a:r>
            <a:r>
              <a:rPr dirty="0" sz="1000" spc="-20">
                <a:latin typeface="Times New Roman"/>
                <a:cs typeface="Times New Roman"/>
              </a:rPr>
              <a:t> cross-</a:t>
            </a:r>
            <a:r>
              <a:rPr dirty="0" sz="1000">
                <a:latin typeface="Times New Roman"/>
                <a:cs typeface="Times New Roman"/>
              </a:rPr>
              <a:t>state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variation: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Jharkhand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AC-shares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are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highest,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Bihar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lowest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among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20">
                <a:latin typeface="Times New Roman"/>
                <a:cs typeface="Times New Roman"/>
              </a:rPr>
              <a:t> four</a:t>
            </a:r>
            <a:endParaRPr sz="1000">
              <a:latin typeface="Times New Roman"/>
              <a:cs typeface="Times New Roman"/>
            </a:endParaRPr>
          </a:p>
          <a:p>
            <a:pPr marL="269875" indent="-74930">
              <a:lnSpc>
                <a:spcPct val="100000"/>
              </a:lnSpc>
              <a:spcBef>
                <a:spcPts val="225"/>
              </a:spcBef>
              <a:buChar char="•"/>
              <a:tabLst>
                <a:tab pos="269875" algn="l"/>
              </a:tabLst>
            </a:pPr>
            <a:r>
              <a:rPr dirty="0" sz="1000">
                <a:latin typeface="Times New Roman"/>
                <a:cs typeface="Times New Roman"/>
              </a:rPr>
              <a:t>2014is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outlier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(incomplete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JRC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seasonal-</a:t>
            </a:r>
            <a:r>
              <a:rPr dirty="0" sz="1000">
                <a:latin typeface="Times New Roman"/>
                <a:cs typeface="Times New Roman"/>
              </a:rPr>
              <a:t>water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coverage);dropped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from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estimation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via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lag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construction</a:t>
            </a:r>
            <a:endParaRPr sz="1000">
              <a:latin typeface="Times New Roman"/>
              <a:cs typeface="Times New Roman"/>
            </a:endParaRPr>
          </a:p>
          <a:p>
            <a:pPr marL="269875" marR="5080" indent="-74930">
              <a:lnSpc>
                <a:spcPct val="116500"/>
              </a:lnSpc>
              <a:spcBef>
                <a:spcPts val="25"/>
              </a:spcBef>
              <a:buChar char="•"/>
              <a:tabLst>
                <a:tab pos="299720" algn="l"/>
              </a:tabLst>
            </a:pPr>
            <a:r>
              <a:rPr dirty="0" sz="1000" spc="-20">
                <a:latin typeface="Times New Roman"/>
                <a:cs typeface="Times New Roman"/>
              </a:rPr>
              <a:t>Year-on-</a:t>
            </a:r>
            <a:r>
              <a:rPr dirty="0" sz="1000">
                <a:latin typeface="Times New Roman"/>
                <a:cs typeface="Times New Roman"/>
              </a:rPr>
              <a:t>year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exposure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other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wises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table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around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0.41–</a:t>
            </a:r>
            <a:r>
              <a:rPr dirty="0" sz="1000" spc="-20">
                <a:latin typeface="Times New Roman"/>
                <a:cs typeface="Times New Roman"/>
              </a:rPr>
              <a:t>0.47—</a:t>
            </a:r>
            <a:r>
              <a:rPr dirty="0" sz="1000" spc="-10">
                <a:latin typeface="Times New Roman"/>
                <a:cs typeface="Times New Roman"/>
              </a:rPr>
              <a:t>supports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use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year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absorb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common 	shocks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59897" y="618574"/>
            <a:ext cx="4946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Year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1077"/>
            <a:ext cx="2827368" cy="18182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1312" y="621077"/>
            <a:ext cx="2779770" cy="178971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Summary</a:t>
            </a:r>
            <a:r>
              <a:rPr dirty="0" spc="60"/>
              <a:t> </a:t>
            </a:r>
            <a:r>
              <a:rPr dirty="0" spc="-10"/>
              <a:t>Statistics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53083" y="2456337"/>
            <a:ext cx="248348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4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Figure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1.2: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Average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night-</a:t>
            </a:r>
            <a:r>
              <a:rPr dirty="0" sz="1000">
                <a:latin typeface="Times New Roman"/>
                <a:cs typeface="Times New Roman"/>
              </a:rPr>
              <a:t>time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lights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radiance across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Assembly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Constituencies,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2014–</a:t>
            </a:r>
            <a:r>
              <a:rPr dirty="0" sz="1000" spc="-20">
                <a:latin typeface="Times New Roman"/>
                <a:cs typeface="Times New Roman"/>
              </a:rPr>
              <a:t>2019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942" y="2456337"/>
            <a:ext cx="244221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4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Figure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1.1: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Median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night-</a:t>
            </a:r>
            <a:r>
              <a:rPr dirty="0" sz="1000">
                <a:latin typeface="Times New Roman"/>
                <a:cs typeface="Times New Roman"/>
              </a:rPr>
              <a:t>time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lights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radiance across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Assembly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Constituencies,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2014–</a:t>
            </a:r>
            <a:r>
              <a:rPr dirty="0" sz="1000" spc="-20">
                <a:latin typeface="Times New Roman"/>
                <a:cs typeface="Times New Roman"/>
              </a:rPr>
              <a:t>2019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12353"/>
            <a:ext cx="5756275" cy="1849120"/>
            <a:chOff x="0" y="512353"/>
            <a:chExt cx="5756275" cy="1849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1312" y="514228"/>
              <a:ext cx="2874967" cy="184683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12353"/>
              <a:ext cx="2851679" cy="1846833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Summary</a:t>
            </a:r>
            <a:r>
              <a:rPr dirty="0" spc="60"/>
              <a:t> </a:t>
            </a:r>
            <a:r>
              <a:rPr dirty="0" spc="-10"/>
              <a:t>Statistics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87681" y="2394259"/>
            <a:ext cx="2472055" cy="537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Figure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2.2: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Average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proportion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land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with </a:t>
            </a:r>
            <a:r>
              <a:rPr dirty="0" sz="1000" spc="-10">
                <a:latin typeface="Times New Roman"/>
                <a:cs typeface="Times New Roman"/>
              </a:rPr>
              <a:t>flooding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across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Assembly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Constituencies,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2014–2019.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942" y="2394109"/>
            <a:ext cx="247142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4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Figure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2.1: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Median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proportion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land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with </a:t>
            </a:r>
            <a:r>
              <a:rPr dirty="0" sz="1000" spc="-10">
                <a:latin typeface="Times New Roman"/>
                <a:cs typeface="Times New Roman"/>
              </a:rPr>
              <a:t>flooding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across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Assembly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Constituencies,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2014–2019.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80962"/>
            <a:ext cx="2813076" cy="17706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1312" y="601086"/>
            <a:ext cx="2881312" cy="185635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Summary</a:t>
            </a:r>
            <a:r>
              <a:rPr dirty="0" spc="60"/>
              <a:t> </a:t>
            </a:r>
            <a:r>
              <a:rPr dirty="0" spc="-10"/>
              <a:t>Statistics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53083" y="2456337"/>
            <a:ext cx="243649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4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Figure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3.2: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Average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Normalized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Difference Built-</a:t>
            </a:r>
            <a:r>
              <a:rPr dirty="0" sz="1000">
                <a:latin typeface="Times New Roman"/>
                <a:cs typeface="Times New Roman"/>
              </a:rPr>
              <a:t>up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Index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across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Assembly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Constituencies, 2014–2019.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942" y="2456337"/>
            <a:ext cx="263779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4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Figure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3.1: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Median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Normalized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Difference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Built-</a:t>
            </a:r>
            <a:r>
              <a:rPr dirty="0" sz="1000">
                <a:latin typeface="Times New Roman"/>
                <a:cs typeface="Times New Roman"/>
              </a:rPr>
              <a:t>up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Index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across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Assembly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Constituencies,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2014–2019.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8395" y="573734"/>
            <a:ext cx="2874967" cy="18468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12" y="651439"/>
            <a:ext cx="2760730" cy="177067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Summary</a:t>
            </a:r>
            <a:r>
              <a:rPr dirty="0" spc="60"/>
              <a:t> </a:t>
            </a:r>
            <a:r>
              <a:rPr dirty="0" spc="-10"/>
              <a:t>Statistics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32083" y="2456337"/>
            <a:ext cx="256857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4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Figure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3.2: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Average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Normalized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Difference Vegetation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Index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across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Assembly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Constituencies, 2014–2019.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942" y="2456337"/>
            <a:ext cx="256857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4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Figure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3.1: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Median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Normalized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Difference Vegetation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Index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across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Assembly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Constituencies, 2014–2019.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76158" y="48593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9"/>
                </a:moveTo>
                <a:lnTo>
                  <a:pt x="16514" y="38079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58" y="1000001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58" y="740152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9"/>
                </a:moveTo>
                <a:lnTo>
                  <a:pt x="16514" y="38079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58" y="1696922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9"/>
                </a:moveTo>
                <a:lnTo>
                  <a:pt x="16514" y="38079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58" y="2976898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9"/>
                </a:moveTo>
                <a:lnTo>
                  <a:pt x="16514" y="38079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0724" y="403454"/>
            <a:ext cx="5572760" cy="2668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494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Estimator.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OLS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fixed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effects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(α</a:t>
            </a:r>
            <a:r>
              <a:rPr dirty="0" baseline="-13888" sz="900" i="1">
                <a:latin typeface="Times New Roman"/>
                <a:cs typeface="Times New Roman"/>
              </a:rPr>
              <a:t>i</a:t>
            </a:r>
            <a:r>
              <a:rPr dirty="0" sz="1000">
                <a:latin typeface="Times New Roman"/>
                <a:cs typeface="Times New Roman"/>
              </a:rPr>
              <a:t>)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year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fixed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effects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(γ</a:t>
            </a:r>
            <a:r>
              <a:rPr dirty="0" baseline="-13888" sz="900" i="1">
                <a:latin typeface="Times New Roman"/>
                <a:cs typeface="Times New Roman"/>
              </a:rPr>
              <a:t>t</a:t>
            </a:r>
            <a:r>
              <a:rPr dirty="0" baseline="-13888" sz="900" spc="-37" i="1">
                <a:latin typeface="Times New Roman"/>
                <a:cs typeface="Times New Roman"/>
              </a:rPr>
              <a:t> </a:t>
            </a:r>
            <a:r>
              <a:rPr dirty="0" sz="1000" spc="-50" i="1">
                <a:latin typeface="Times New Roman"/>
                <a:cs typeface="Times New Roman"/>
              </a:rPr>
              <a:t>)</a:t>
            </a:r>
            <a:endParaRPr sz="1000">
              <a:latin typeface="Times New Roman"/>
              <a:cs typeface="Times New Roman"/>
            </a:endParaRPr>
          </a:p>
          <a:p>
            <a:pPr marL="154940">
              <a:lnSpc>
                <a:spcPct val="100000"/>
              </a:lnSpc>
              <a:spcBef>
                <a:spcPts val="800"/>
              </a:spcBef>
            </a:pPr>
            <a:r>
              <a:rPr dirty="0" sz="1000">
                <a:latin typeface="Times New Roman"/>
                <a:cs typeface="Times New Roman"/>
              </a:rPr>
              <a:t>Standard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errors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clustered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by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district.</a:t>
            </a:r>
            <a:endParaRPr sz="1000">
              <a:latin typeface="Times New Roman"/>
              <a:cs typeface="Times New Roman"/>
            </a:endParaRPr>
          </a:p>
          <a:p>
            <a:pPr marL="154940">
              <a:lnSpc>
                <a:spcPct val="100000"/>
              </a:lnSpc>
              <a:spcBef>
                <a:spcPts val="844"/>
              </a:spcBef>
            </a:pPr>
            <a:r>
              <a:rPr dirty="0" sz="1000">
                <a:latin typeface="Times New Roman"/>
                <a:cs typeface="Times New Roman"/>
              </a:rPr>
              <a:t>Estimation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strategy.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Each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equation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estimated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twice:</a:t>
            </a:r>
            <a:endParaRPr sz="1000">
              <a:latin typeface="Times New Roman"/>
              <a:cs typeface="Times New Roman"/>
            </a:endParaRPr>
          </a:p>
          <a:p>
            <a:pPr marL="202565" indent="-126364">
              <a:lnSpc>
                <a:spcPct val="100000"/>
              </a:lnSpc>
              <a:spcBef>
                <a:spcPts val="720"/>
              </a:spcBef>
              <a:buFont typeface="Times New Roman"/>
              <a:buAutoNum type="arabicPeriod"/>
              <a:tabLst>
                <a:tab pos="202565" algn="l"/>
              </a:tabLst>
            </a:pPr>
            <a:r>
              <a:rPr dirty="0" sz="1000" spc="-10" i="1">
                <a:latin typeface="Times New Roman"/>
                <a:cs typeface="Times New Roman"/>
              </a:rPr>
              <a:t>Pooled</a:t>
            </a:r>
            <a:r>
              <a:rPr dirty="0" sz="1000" spc="-10">
                <a:latin typeface="Times New Roman"/>
                <a:cs typeface="Times New Roman"/>
              </a:rPr>
              <a:t>—</a:t>
            </a:r>
            <a:r>
              <a:rPr dirty="0" sz="1000">
                <a:latin typeface="Times New Roman"/>
                <a:cs typeface="Times New Roman"/>
              </a:rPr>
              <a:t>all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four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states,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all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years</a:t>
            </a:r>
            <a:endParaRPr sz="1000">
              <a:latin typeface="Times New Roman"/>
              <a:cs typeface="Times New Roman"/>
            </a:endParaRPr>
          </a:p>
          <a:p>
            <a:pPr marL="202565" indent="-126364">
              <a:lnSpc>
                <a:spcPct val="100000"/>
              </a:lnSpc>
              <a:spcBef>
                <a:spcPts val="225"/>
              </a:spcBef>
              <a:buFont typeface="Times New Roman"/>
              <a:buAutoNum type="arabicPeriod"/>
              <a:tabLst>
                <a:tab pos="202565" algn="l"/>
              </a:tabLst>
            </a:pPr>
            <a:r>
              <a:rPr dirty="0" sz="1000" spc="-10" i="1">
                <a:latin typeface="Times New Roman"/>
                <a:cs typeface="Times New Roman"/>
              </a:rPr>
              <a:t>State-by-state</a:t>
            </a:r>
            <a:r>
              <a:rPr dirty="0" sz="1000" spc="-10">
                <a:latin typeface="Times New Roman"/>
                <a:cs typeface="Times New Roman"/>
              </a:rPr>
              <a:t>—Bihar,Jharkhand,Odisha,WestBengal</a:t>
            </a:r>
            <a:r>
              <a:rPr dirty="0" sz="1000" spc="2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separately</a:t>
            </a:r>
            <a:endParaRPr sz="1000">
              <a:latin typeface="Times New Roman"/>
              <a:cs typeface="Times New Roman"/>
            </a:endParaRPr>
          </a:p>
          <a:p>
            <a:pPr marL="192405" marR="1963420" indent="-38100">
              <a:lnSpc>
                <a:spcPts val="2320"/>
              </a:lnSpc>
              <a:spcBef>
                <a:spcPts val="85"/>
              </a:spcBef>
            </a:pPr>
            <a:r>
              <a:rPr dirty="0" sz="1000">
                <a:latin typeface="Times New Roman"/>
                <a:cs typeface="Times New Roman"/>
              </a:rPr>
              <a:t>Both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equations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are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run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mean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median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AC-</a:t>
            </a:r>
            <a:r>
              <a:rPr dirty="0" sz="1000">
                <a:latin typeface="Times New Roman"/>
                <a:cs typeface="Times New Roman"/>
              </a:rPr>
              <a:t>level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aggregations. </a:t>
            </a:r>
            <a:r>
              <a:rPr dirty="0" sz="1000">
                <a:latin typeface="Times New Roman"/>
                <a:cs typeface="Times New Roman"/>
              </a:rPr>
              <a:t>Equation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1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-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Night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Lights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(economic activity)</a:t>
            </a:r>
            <a:endParaRPr sz="1000">
              <a:latin typeface="Times New Roman"/>
              <a:cs typeface="Times New Roman"/>
            </a:endParaRPr>
          </a:p>
          <a:p>
            <a:pPr marL="562610">
              <a:lnSpc>
                <a:spcPct val="100000"/>
              </a:lnSpc>
              <a:spcBef>
                <a:spcPts val="365"/>
              </a:spcBef>
            </a:pPr>
            <a:r>
              <a:rPr dirty="0" sz="1100" b="1">
                <a:latin typeface="Times New Roman"/>
                <a:cs typeface="Times New Roman"/>
              </a:rPr>
              <a:t>∆log</a:t>
            </a:r>
            <a:r>
              <a:rPr dirty="0" sz="1100" b="1" i="1">
                <a:latin typeface="Times New Roman"/>
                <a:cs typeface="Times New Roman"/>
              </a:rPr>
              <a:t>NL</a:t>
            </a:r>
            <a:r>
              <a:rPr dirty="0" baseline="-12820" sz="975" b="1" i="1">
                <a:latin typeface="Times New Roman"/>
                <a:cs typeface="Times New Roman"/>
              </a:rPr>
              <a:t>it</a:t>
            </a:r>
            <a:r>
              <a:rPr dirty="0" baseline="-12820" sz="975" spc="127" b="1" i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=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β</a:t>
            </a:r>
            <a:r>
              <a:rPr dirty="0" baseline="-12820" sz="975" spc="-15" b="1">
                <a:latin typeface="Times New Roman"/>
                <a:cs typeface="Times New Roman"/>
              </a:rPr>
              <a:t>1</a:t>
            </a:r>
            <a:r>
              <a:rPr dirty="0" sz="1100" spc="-10" b="1">
                <a:latin typeface="Times New Roman"/>
                <a:cs typeface="Times New Roman"/>
              </a:rPr>
              <a:t>Flood</a:t>
            </a:r>
            <a:r>
              <a:rPr dirty="0" baseline="-12820" sz="975" spc="-15" b="1" i="1">
                <a:latin typeface="Times New Roman"/>
                <a:cs typeface="Times New Roman"/>
              </a:rPr>
              <a:t>it</a:t>
            </a:r>
            <a:r>
              <a:rPr dirty="0" sz="1100" spc="-10" b="1">
                <a:latin typeface="Times New Roman"/>
                <a:cs typeface="Times New Roman"/>
              </a:rPr>
              <a:t>+β</a:t>
            </a:r>
            <a:r>
              <a:rPr dirty="0" baseline="-12820" sz="975" spc="-15" b="1">
                <a:latin typeface="Times New Roman"/>
                <a:cs typeface="Times New Roman"/>
              </a:rPr>
              <a:t>2</a:t>
            </a:r>
            <a:r>
              <a:rPr dirty="0" sz="1100" spc="-10" b="1" i="1">
                <a:latin typeface="Times New Roman"/>
                <a:cs typeface="Times New Roman"/>
              </a:rPr>
              <a:t>NDVI</a:t>
            </a:r>
            <a:r>
              <a:rPr dirty="0" baseline="-12820" sz="975" spc="-15" b="1" i="1">
                <a:latin typeface="Times New Roman"/>
                <a:cs typeface="Times New Roman"/>
              </a:rPr>
              <a:t>i</a:t>
            </a:r>
            <a:r>
              <a:rPr dirty="0" baseline="-12820" sz="975" spc="-15" b="1">
                <a:latin typeface="Times New Roman"/>
                <a:cs typeface="Times New Roman"/>
              </a:rPr>
              <a:t>,</a:t>
            </a:r>
            <a:r>
              <a:rPr dirty="0" baseline="-12820" sz="975" spc="-15" b="1" i="1">
                <a:latin typeface="Times New Roman"/>
                <a:cs typeface="Times New Roman"/>
              </a:rPr>
              <a:t>t</a:t>
            </a:r>
            <a:r>
              <a:rPr dirty="0" baseline="-12820" sz="975" spc="-15" b="1">
                <a:latin typeface="Times New Roman"/>
                <a:cs typeface="Times New Roman"/>
              </a:rPr>
              <a:t>−1</a:t>
            </a:r>
            <a:r>
              <a:rPr dirty="0" sz="1100" spc="-10" b="1">
                <a:latin typeface="Times New Roman"/>
                <a:cs typeface="Times New Roman"/>
              </a:rPr>
              <a:t>+β</a:t>
            </a:r>
            <a:r>
              <a:rPr dirty="0" baseline="-12820" sz="975" spc="-15" b="1">
                <a:latin typeface="Times New Roman"/>
                <a:cs typeface="Times New Roman"/>
              </a:rPr>
              <a:t>3</a:t>
            </a:r>
            <a:r>
              <a:rPr dirty="0" sz="1100" spc="-10" b="1" i="1">
                <a:latin typeface="Times New Roman"/>
                <a:cs typeface="Times New Roman"/>
              </a:rPr>
              <a:t>NDBI</a:t>
            </a:r>
            <a:r>
              <a:rPr dirty="0" baseline="-12820" sz="975" spc="-15" b="1" i="1">
                <a:latin typeface="Times New Roman"/>
                <a:cs typeface="Times New Roman"/>
              </a:rPr>
              <a:t>i</a:t>
            </a:r>
            <a:r>
              <a:rPr dirty="0" baseline="-12820" sz="975" spc="-15" b="1">
                <a:latin typeface="Times New Roman"/>
                <a:cs typeface="Times New Roman"/>
              </a:rPr>
              <a:t>,</a:t>
            </a:r>
            <a:r>
              <a:rPr dirty="0" baseline="-12820" sz="975" spc="-15" b="1" i="1">
                <a:latin typeface="Times New Roman"/>
                <a:cs typeface="Times New Roman"/>
              </a:rPr>
              <a:t>t</a:t>
            </a:r>
            <a:r>
              <a:rPr dirty="0" baseline="-12820" sz="975" spc="-15" b="1">
                <a:latin typeface="Times New Roman"/>
                <a:cs typeface="Times New Roman"/>
              </a:rPr>
              <a:t>−1</a:t>
            </a:r>
            <a:r>
              <a:rPr dirty="0" sz="1100" spc="-10" b="1">
                <a:latin typeface="Times New Roman"/>
                <a:cs typeface="Times New Roman"/>
              </a:rPr>
              <a:t>+α</a:t>
            </a:r>
            <a:r>
              <a:rPr dirty="0" baseline="-12820" sz="975" spc="-15" b="1" i="1">
                <a:latin typeface="Times New Roman"/>
                <a:cs typeface="Times New Roman"/>
              </a:rPr>
              <a:t>i</a:t>
            </a:r>
            <a:r>
              <a:rPr dirty="0" sz="1100" spc="-10" b="1">
                <a:latin typeface="Times New Roman"/>
                <a:cs typeface="Times New Roman"/>
              </a:rPr>
              <a:t>+γ</a:t>
            </a:r>
            <a:r>
              <a:rPr dirty="0" baseline="-12820" sz="975" spc="-15" b="1" i="1">
                <a:latin typeface="Times New Roman"/>
                <a:cs typeface="Times New Roman"/>
              </a:rPr>
              <a:t>t</a:t>
            </a:r>
            <a:r>
              <a:rPr dirty="0" sz="1100" spc="-10" b="1">
                <a:latin typeface="Times New Roman"/>
                <a:cs typeface="Times New Roman"/>
              </a:rPr>
              <a:t>+ε</a:t>
            </a:r>
            <a:r>
              <a:rPr dirty="0" baseline="-12820" sz="975" spc="-15" b="1" i="1">
                <a:latin typeface="Times New Roman"/>
                <a:cs typeface="Times New Roman"/>
              </a:rPr>
              <a:t>it</a:t>
            </a:r>
            <a:endParaRPr baseline="-12820" sz="975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  <a:spcBef>
                <a:spcPts val="595"/>
              </a:spcBef>
            </a:pPr>
            <a:r>
              <a:rPr dirty="0" sz="1000">
                <a:latin typeface="Times New Roman"/>
                <a:cs typeface="Times New Roman"/>
              </a:rPr>
              <a:t>Equation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—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NDBI</a:t>
            </a:r>
            <a:r>
              <a:rPr dirty="0" sz="1000" spc="-10">
                <a:latin typeface="Times New Roman"/>
                <a:cs typeface="Times New Roman"/>
              </a:rPr>
              <a:t> (built-</a:t>
            </a:r>
            <a:r>
              <a:rPr dirty="0" sz="1000">
                <a:latin typeface="Times New Roman"/>
                <a:cs typeface="Times New Roman"/>
              </a:rPr>
              <a:t>up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land)</a:t>
            </a:r>
            <a:endParaRPr sz="1000">
              <a:latin typeface="Times New Roman"/>
              <a:cs typeface="Times New Roman"/>
            </a:endParaRPr>
          </a:p>
          <a:p>
            <a:pPr marL="480059">
              <a:lnSpc>
                <a:spcPct val="100000"/>
              </a:lnSpc>
              <a:spcBef>
                <a:spcPts val="445"/>
              </a:spcBef>
            </a:pPr>
            <a:r>
              <a:rPr dirty="0" sz="1100" b="1" i="1">
                <a:latin typeface="Times New Roman"/>
                <a:cs typeface="Times New Roman"/>
              </a:rPr>
              <a:t>NDBI</a:t>
            </a:r>
            <a:r>
              <a:rPr dirty="0" baseline="-12820" sz="975" b="1" i="1">
                <a:latin typeface="Times New Roman"/>
                <a:cs typeface="Times New Roman"/>
              </a:rPr>
              <a:t>it</a:t>
            </a:r>
            <a:r>
              <a:rPr dirty="0" baseline="-12820" sz="975" spc="142" b="1" i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=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β</a:t>
            </a:r>
            <a:r>
              <a:rPr dirty="0" baseline="-12820" sz="975" spc="-15" b="1">
                <a:latin typeface="Times New Roman"/>
                <a:cs typeface="Times New Roman"/>
              </a:rPr>
              <a:t>1</a:t>
            </a:r>
            <a:r>
              <a:rPr dirty="0" sz="1100" spc="-10" b="1">
                <a:latin typeface="Times New Roman"/>
                <a:cs typeface="Times New Roman"/>
              </a:rPr>
              <a:t>Flood</a:t>
            </a:r>
            <a:r>
              <a:rPr dirty="0" baseline="-12820" sz="975" spc="-15" b="1" i="1">
                <a:latin typeface="Times New Roman"/>
                <a:cs typeface="Times New Roman"/>
              </a:rPr>
              <a:t>it</a:t>
            </a:r>
            <a:r>
              <a:rPr dirty="0" sz="1100" spc="-10" b="1">
                <a:latin typeface="Times New Roman"/>
                <a:cs typeface="Times New Roman"/>
              </a:rPr>
              <a:t>+β</a:t>
            </a:r>
            <a:r>
              <a:rPr dirty="0" baseline="-12820" sz="975" spc="-15" b="1">
                <a:latin typeface="Times New Roman"/>
                <a:cs typeface="Times New Roman"/>
              </a:rPr>
              <a:t>2</a:t>
            </a:r>
            <a:r>
              <a:rPr dirty="0" sz="1100" spc="-10" b="1" i="1">
                <a:latin typeface="Times New Roman"/>
                <a:cs typeface="Times New Roman"/>
              </a:rPr>
              <a:t>NDVI</a:t>
            </a:r>
            <a:r>
              <a:rPr dirty="0" baseline="-12820" sz="975" spc="-15" b="1" i="1">
                <a:latin typeface="Times New Roman"/>
                <a:cs typeface="Times New Roman"/>
              </a:rPr>
              <a:t>i</a:t>
            </a:r>
            <a:r>
              <a:rPr dirty="0" baseline="-12820" sz="975" spc="-15" b="1">
                <a:latin typeface="Times New Roman"/>
                <a:cs typeface="Times New Roman"/>
              </a:rPr>
              <a:t>,</a:t>
            </a:r>
            <a:r>
              <a:rPr dirty="0" baseline="-12820" sz="975" spc="-15" b="1" i="1">
                <a:latin typeface="Times New Roman"/>
                <a:cs typeface="Times New Roman"/>
              </a:rPr>
              <a:t>t</a:t>
            </a:r>
            <a:r>
              <a:rPr dirty="0" baseline="-12820" sz="975" spc="-15" b="1">
                <a:latin typeface="Times New Roman"/>
                <a:cs typeface="Times New Roman"/>
              </a:rPr>
              <a:t>−1</a:t>
            </a:r>
            <a:r>
              <a:rPr dirty="0" sz="1100" spc="-10" b="1">
                <a:latin typeface="Times New Roman"/>
                <a:cs typeface="Times New Roman"/>
              </a:rPr>
              <a:t>+β</a:t>
            </a:r>
            <a:r>
              <a:rPr dirty="0" baseline="-12820" sz="975" spc="-15" b="1">
                <a:latin typeface="Times New Roman"/>
                <a:cs typeface="Times New Roman"/>
              </a:rPr>
              <a:t>3</a:t>
            </a:r>
            <a:r>
              <a:rPr dirty="0" sz="1100" spc="-10" b="1" i="1">
                <a:latin typeface="Times New Roman"/>
                <a:cs typeface="Times New Roman"/>
              </a:rPr>
              <a:t>NL</a:t>
            </a:r>
            <a:r>
              <a:rPr dirty="0" baseline="-12820" sz="975" spc="-15" b="1" i="1">
                <a:latin typeface="Times New Roman"/>
                <a:cs typeface="Times New Roman"/>
              </a:rPr>
              <a:t>i</a:t>
            </a:r>
            <a:r>
              <a:rPr dirty="0" baseline="-12820" sz="975" spc="-15" b="1">
                <a:latin typeface="Times New Roman"/>
                <a:cs typeface="Times New Roman"/>
              </a:rPr>
              <a:t>,</a:t>
            </a:r>
            <a:r>
              <a:rPr dirty="0" baseline="-12820" sz="975" spc="-15" b="1" i="1">
                <a:latin typeface="Times New Roman"/>
                <a:cs typeface="Times New Roman"/>
              </a:rPr>
              <a:t>t</a:t>
            </a:r>
            <a:r>
              <a:rPr dirty="0" baseline="-12820" sz="975" spc="-15" b="1">
                <a:latin typeface="Times New Roman"/>
                <a:cs typeface="Times New Roman"/>
              </a:rPr>
              <a:t>−1</a:t>
            </a:r>
            <a:r>
              <a:rPr dirty="0" sz="1100" spc="-10" b="1">
                <a:latin typeface="Times New Roman"/>
                <a:cs typeface="Times New Roman"/>
              </a:rPr>
              <a:t>+β</a:t>
            </a:r>
            <a:r>
              <a:rPr dirty="0" baseline="-12820" sz="975" spc="-15" b="1">
                <a:latin typeface="Times New Roman"/>
                <a:cs typeface="Times New Roman"/>
              </a:rPr>
              <a:t>4</a:t>
            </a:r>
            <a:r>
              <a:rPr dirty="0" sz="1100" spc="-10" b="1" i="1">
                <a:latin typeface="Times New Roman"/>
                <a:cs typeface="Times New Roman"/>
              </a:rPr>
              <a:t>NDBI</a:t>
            </a:r>
            <a:r>
              <a:rPr dirty="0" baseline="-12820" sz="975" spc="-15" b="1" i="1">
                <a:latin typeface="Times New Roman"/>
                <a:cs typeface="Times New Roman"/>
              </a:rPr>
              <a:t>i</a:t>
            </a:r>
            <a:r>
              <a:rPr dirty="0" baseline="-12820" sz="975" spc="-15" b="1">
                <a:latin typeface="Times New Roman"/>
                <a:cs typeface="Times New Roman"/>
              </a:rPr>
              <a:t>,</a:t>
            </a:r>
            <a:r>
              <a:rPr dirty="0" baseline="-12820" sz="975" spc="-15" b="1" i="1">
                <a:latin typeface="Times New Roman"/>
                <a:cs typeface="Times New Roman"/>
              </a:rPr>
              <a:t>t</a:t>
            </a:r>
            <a:r>
              <a:rPr dirty="0" baseline="-12820" sz="975" spc="-15" b="1">
                <a:latin typeface="Times New Roman"/>
                <a:cs typeface="Times New Roman"/>
              </a:rPr>
              <a:t>−1</a:t>
            </a:r>
            <a:r>
              <a:rPr dirty="0" sz="1100" spc="-10" b="1">
                <a:latin typeface="Times New Roman"/>
                <a:cs typeface="Times New Roman"/>
              </a:rPr>
              <a:t>+α</a:t>
            </a:r>
            <a:r>
              <a:rPr dirty="0" baseline="-12820" sz="975" spc="-15" b="1" i="1">
                <a:latin typeface="Times New Roman"/>
                <a:cs typeface="Times New Roman"/>
              </a:rPr>
              <a:t>i</a:t>
            </a:r>
            <a:r>
              <a:rPr dirty="0" sz="1100" spc="-10" b="1">
                <a:latin typeface="Times New Roman"/>
                <a:cs typeface="Times New Roman"/>
              </a:rPr>
              <a:t>+γ</a:t>
            </a:r>
            <a:r>
              <a:rPr dirty="0" baseline="-12820" sz="975" spc="-15" b="1" i="1">
                <a:latin typeface="Times New Roman"/>
                <a:cs typeface="Times New Roman"/>
              </a:rPr>
              <a:t>t</a:t>
            </a:r>
            <a:r>
              <a:rPr dirty="0" sz="1100" spc="-10" b="1">
                <a:latin typeface="Times New Roman"/>
                <a:cs typeface="Times New Roman"/>
              </a:rPr>
              <a:t>+ε</a:t>
            </a:r>
            <a:r>
              <a:rPr dirty="0" baseline="-12820" sz="975" spc="-15" b="1" i="1">
                <a:latin typeface="Times New Roman"/>
                <a:cs typeface="Times New Roman"/>
              </a:rPr>
              <a:t>it</a:t>
            </a:r>
            <a:endParaRPr baseline="-12820" sz="975">
              <a:latin typeface="Times New Roman"/>
              <a:cs typeface="Times New Roman"/>
            </a:endParaRPr>
          </a:p>
          <a:p>
            <a:pPr marL="154940">
              <a:lnSpc>
                <a:spcPct val="100000"/>
              </a:lnSpc>
              <a:spcBef>
                <a:spcPts val="1050"/>
              </a:spcBef>
            </a:pPr>
            <a:r>
              <a:rPr dirty="0" sz="1000" spc="-10">
                <a:latin typeface="Times New Roman"/>
                <a:cs typeface="Times New Roman"/>
              </a:rPr>
              <a:t>Coefficient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interest: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β</a:t>
            </a:r>
            <a:r>
              <a:rPr dirty="0" baseline="-13888" sz="900">
                <a:latin typeface="Times New Roman"/>
                <a:cs typeface="Times New Roman"/>
              </a:rPr>
              <a:t>1</a:t>
            </a:r>
            <a:r>
              <a:rPr dirty="0" baseline="-13888" sz="900" spc="142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—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contemporaneous </a:t>
            </a:r>
            <a:r>
              <a:rPr dirty="0" sz="1000">
                <a:latin typeface="Times New Roman"/>
                <a:cs typeface="Times New Roman"/>
              </a:rPr>
              <a:t>effect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flood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exposure</a:t>
            </a:r>
            <a:r>
              <a:rPr dirty="0" sz="1000" spc="-10">
                <a:latin typeface="Times New Roman"/>
                <a:cs typeface="Times New Roman"/>
              </a:rPr>
              <a:t> (Seasonal_Ratio)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10">
                <a:latin typeface="Times New Roman"/>
                <a:cs typeface="Times New Roman"/>
              </a:rPr>
              <a:t> outcome.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392" y="811513"/>
            <a:ext cx="5102591" cy="187539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Results</a:t>
            </a:r>
            <a:r>
              <a:rPr dirty="0" spc="-30"/>
              <a:t> </a:t>
            </a:r>
            <a:r>
              <a:rPr dirty="0"/>
              <a:t>—</a:t>
            </a:r>
            <a:r>
              <a:rPr dirty="0" spc="-25"/>
              <a:t> </a:t>
            </a:r>
            <a:r>
              <a:rPr dirty="0"/>
              <a:t>Night</a:t>
            </a:r>
            <a:r>
              <a:rPr dirty="0" spc="-25"/>
              <a:t> </a:t>
            </a:r>
            <a:r>
              <a:rPr dirty="0"/>
              <a:t>Lights</a:t>
            </a:r>
            <a:r>
              <a:rPr dirty="0" spc="-25"/>
              <a:t> </a:t>
            </a:r>
            <a:r>
              <a:rPr dirty="0"/>
              <a:t>(Median</a:t>
            </a:r>
            <a:r>
              <a:rPr dirty="0" spc="-25"/>
              <a:t> </a:t>
            </a:r>
            <a:r>
              <a:rPr dirty="0" spc="-10"/>
              <a:t>model)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5570" y="2684261"/>
            <a:ext cx="356171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318385" algn="l"/>
              </a:tabLst>
            </a:pPr>
            <a:r>
              <a:rPr dirty="0" sz="650" spc="70">
                <a:latin typeface="Times New Roman"/>
                <a:cs typeface="Times New Roman"/>
              </a:rPr>
              <a:t>Cluster-</a:t>
            </a:r>
            <a:r>
              <a:rPr dirty="0" sz="650" spc="-80">
                <a:latin typeface="Times New Roman"/>
                <a:cs typeface="Times New Roman"/>
              </a:rPr>
              <a:t> </a:t>
            </a:r>
            <a:r>
              <a:rPr dirty="0" sz="650" spc="70">
                <a:latin typeface="Times New Roman"/>
                <a:cs typeface="Times New Roman"/>
              </a:rPr>
              <a:t>robust</a:t>
            </a:r>
            <a:r>
              <a:rPr dirty="0" sz="650" spc="200">
                <a:latin typeface="Times New Roman"/>
                <a:cs typeface="Times New Roman"/>
              </a:rPr>
              <a:t> </a:t>
            </a:r>
            <a:r>
              <a:rPr dirty="0" sz="650" spc="55">
                <a:latin typeface="Times New Roman"/>
                <a:cs typeface="Times New Roman"/>
              </a:rPr>
              <a:t>SEs</a:t>
            </a:r>
            <a:r>
              <a:rPr dirty="0" sz="650" spc="20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(</a:t>
            </a:r>
            <a:r>
              <a:rPr dirty="0" sz="650" spc="-75">
                <a:latin typeface="Times New Roman"/>
                <a:cs typeface="Times New Roman"/>
              </a:rPr>
              <a:t> </a:t>
            </a:r>
            <a:r>
              <a:rPr dirty="0" sz="650" spc="75">
                <a:latin typeface="Times New Roman"/>
                <a:cs typeface="Times New Roman"/>
              </a:rPr>
              <a:t>district)</a:t>
            </a:r>
            <a:r>
              <a:rPr dirty="0" sz="650" spc="195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in</a:t>
            </a:r>
            <a:r>
              <a:rPr dirty="0" sz="650" spc="200">
                <a:latin typeface="Times New Roman"/>
                <a:cs typeface="Times New Roman"/>
              </a:rPr>
              <a:t> </a:t>
            </a:r>
            <a:r>
              <a:rPr dirty="0" sz="650" spc="65">
                <a:latin typeface="Times New Roman"/>
                <a:cs typeface="Times New Roman"/>
              </a:rPr>
              <a:t>parentheses.</a:t>
            </a:r>
            <a:r>
              <a:rPr dirty="0" sz="650">
                <a:latin typeface="Times New Roman"/>
                <a:cs typeface="Times New Roman"/>
              </a:rPr>
              <a:t>	</a:t>
            </a:r>
            <a:r>
              <a:rPr dirty="0" baseline="4273" sz="975" spc="-284">
                <a:latin typeface="Lucida Sans Unicode"/>
                <a:cs typeface="Lucida Sans Unicode"/>
              </a:rPr>
              <a:t>∗</a:t>
            </a:r>
            <a:r>
              <a:rPr dirty="0" baseline="4273" sz="975" spc="-135">
                <a:latin typeface="Lucida Sans Unicode"/>
                <a:cs typeface="Lucida Sans Unicode"/>
              </a:rPr>
              <a:t> </a:t>
            </a:r>
            <a:r>
              <a:rPr dirty="0" baseline="4273" sz="975" spc="-284">
                <a:latin typeface="Lucida Sans Unicode"/>
                <a:cs typeface="Lucida Sans Unicode"/>
              </a:rPr>
              <a:t>∗</a:t>
            </a:r>
            <a:r>
              <a:rPr dirty="0" baseline="4273" sz="975" spc="-135">
                <a:latin typeface="Lucida Sans Unicode"/>
                <a:cs typeface="Lucida Sans Unicode"/>
              </a:rPr>
              <a:t> </a:t>
            </a:r>
            <a:r>
              <a:rPr dirty="0" baseline="4273" sz="975" spc="-284">
                <a:latin typeface="Lucida Sans Unicode"/>
                <a:cs typeface="Lucida Sans Unicode"/>
              </a:rPr>
              <a:t>∗</a:t>
            </a:r>
            <a:r>
              <a:rPr dirty="0" baseline="4273" sz="975" spc="179">
                <a:latin typeface="Lucida Sans Unicode"/>
                <a:cs typeface="Lucida Sans Unicode"/>
              </a:rPr>
              <a:t> </a:t>
            </a:r>
            <a:r>
              <a:rPr dirty="0" baseline="8547" sz="975" i="1">
                <a:latin typeface="Times New Roman"/>
                <a:cs typeface="Times New Roman"/>
              </a:rPr>
              <a:t>p</a:t>
            </a:r>
            <a:r>
              <a:rPr dirty="0" baseline="8547" sz="975" spc="-67" i="1">
                <a:latin typeface="Times New Roman"/>
                <a:cs typeface="Times New Roman"/>
              </a:rPr>
              <a:t> </a:t>
            </a:r>
            <a:r>
              <a:rPr dirty="0" baseline="8547" sz="975">
                <a:latin typeface="Times New Roman"/>
                <a:cs typeface="Times New Roman"/>
              </a:rPr>
              <a:t>&lt;</a:t>
            </a:r>
            <a:r>
              <a:rPr dirty="0" baseline="8547" sz="975" spc="315">
                <a:latin typeface="Times New Roman"/>
                <a:cs typeface="Times New Roman"/>
              </a:rPr>
              <a:t> </a:t>
            </a:r>
            <a:r>
              <a:rPr dirty="0" baseline="8547" sz="975">
                <a:latin typeface="Times New Roman"/>
                <a:cs typeface="Times New Roman"/>
              </a:rPr>
              <a:t>0</a:t>
            </a:r>
            <a:r>
              <a:rPr dirty="0" baseline="8547" sz="975" spc="-127">
                <a:latin typeface="Times New Roman"/>
                <a:cs typeface="Times New Roman"/>
              </a:rPr>
              <a:t> </a:t>
            </a:r>
            <a:r>
              <a:rPr dirty="0" baseline="8547" sz="975" spc="-209">
                <a:latin typeface="Times New Roman"/>
                <a:cs typeface="Times New Roman"/>
              </a:rPr>
              <a:t>0</a:t>
            </a:r>
            <a:r>
              <a:rPr dirty="0" baseline="17094" sz="975" spc="-209">
                <a:latin typeface="Times New Roman"/>
                <a:cs typeface="Times New Roman"/>
              </a:rPr>
              <a:t>.</a:t>
            </a:r>
            <a:r>
              <a:rPr dirty="0" baseline="17094" sz="975" spc="30">
                <a:latin typeface="Times New Roman"/>
                <a:cs typeface="Times New Roman"/>
              </a:rPr>
              <a:t> </a:t>
            </a:r>
            <a:r>
              <a:rPr dirty="0" baseline="8547" sz="975">
                <a:latin typeface="Times New Roman"/>
                <a:cs typeface="Times New Roman"/>
              </a:rPr>
              <a:t>1</a:t>
            </a:r>
            <a:r>
              <a:rPr dirty="0" baseline="8547" sz="975" spc="-127">
                <a:latin typeface="Times New Roman"/>
                <a:cs typeface="Times New Roman"/>
              </a:rPr>
              <a:t> </a:t>
            </a:r>
            <a:r>
              <a:rPr dirty="0" baseline="8547" sz="975">
                <a:latin typeface="Times New Roman"/>
                <a:cs typeface="Times New Roman"/>
              </a:rPr>
              <a:t>,</a:t>
            </a:r>
            <a:r>
              <a:rPr dirty="0" baseline="8547" sz="975" spc="450">
                <a:latin typeface="Times New Roman"/>
                <a:cs typeface="Times New Roman"/>
              </a:rPr>
              <a:t>  </a:t>
            </a:r>
            <a:r>
              <a:rPr dirty="0" baseline="3968" sz="1050" spc="-330">
                <a:latin typeface="Lucida Sans Unicode"/>
                <a:cs typeface="Lucida Sans Unicode"/>
              </a:rPr>
              <a:t>∗</a:t>
            </a:r>
            <a:r>
              <a:rPr dirty="0" baseline="3968" sz="1050" spc="-150">
                <a:latin typeface="Lucida Sans Unicode"/>
                <a:cs typeface="Lucida Sans Unicode"/>
              </a:rPr>
              <a:t> </a:t>
            </a:r>
            <a:r>
              <a:rPr dirty="0" baseline="3968" sz="1050">
                <a:latin typeface="Lucida Sans Unicode"/>
                <a:cs typeface="Lucida Sans Unicode"/>
              </a:rPr>
              <a:t>∗</a:t>
            </a:r>
            <a:r>
              <a:rPr dirty="0" baseline="3968" sz="1050" spc="547">
                <a:latin typeface="Lucida Sans Unicode"/>
                <a:cs typeface="Lucida Sans Unicode"/>
              </a:rPr>
              <a:t> </a:t>
            </a:r>
            <a:r>
              <a:rPr dirty="0" baseline="8547" sz="975" i="1">
                <a:latin typeface="Times New Roman"/>
                <a:cs typeface="Times New Roman"/>
              </a:rPr>
              <a:t>p</a:t>
            </a:r>
            <a:r>
              <a:rPr dirty="0" baseline="8547" sz="975" spc="-15" i="1">
                <a:latin typeface="Times New Roman"/>
                <a:cs typeface="Times New Roman"/>
              </a:rPr>
              <a:t> </a:t>
            </a:r>
            <a:r>
              <a:rPr dirty="0" baseline="8547" sz="975">
                <a:latin typeface="Times New Roman"/>
                <a:cs typeface="Times New Roman"/>
              </a:rPr>
              <a:t>&lt;</a:t>
            </a:r>
            <a:r>
              <a:rPr dirty="0" baseline="8547" sz="975" spc="330">
                <a:latin typeface="Times New Roman"/>
                <a:cs typeface="Times New Roman"/>
              </a:rPr>
              <a:t> </a:t>
            </a:r>
            <a:r>
              <a:rPr dirty="0" baseline="8547" sz="975">
                <a:latin typeface="Times New Roman"/>
                <a:cs typeface="Times New Roman"/>
              </a:rPr>
              <a:t>0</a:t>
            </a:r>
            <a:r>
              <a:rPr dirty="0" baseline="17094" sz="975">
                <a:latin typeface="Times New Roman"/>
                <a:cs typeface="Times New Roman"/>
              </a:rPr>
              <a:t>.</a:t>
            </a:r>
            <a:r>
              <a:rPr dirty="0" baseline="8547" sz="975">
                <a:latin typeface="Times New Roman"/>
                <a:cs typeface="Times New Roman"/>
              </a:rPr>
              <a:t>05</a:t>
            </a:r>
            <a:r>
              <a:rPr dirty="0" baseline="8547" sz="975" spc="-127">
                <a:latin typeface="Times New Roman"/>
                <a:cs typeface="Times New Roman"/>
              </a:rPr>
              <a:t> </a:t>
            </a:r>
            <a:r>
              <a:rPr dirty="0" baseline="8547" sz="975" spc="-75">
                <a:latin typeface="Times New Roman"/>
                <a:cs typeface="Times New Roman"/>
              </a:rPr>
              <a:t>,</a:t>
            </a:r>
            <a:endParaRPr baseline="8547" sz="975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96433" y="2675752"/>
            <a:ext cx="52451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4273" sz="975" spc="-284">
                <a:latin typeface="Lucida Sans Unicode"/>
                <a:cs typeface="Lucida Sans Unicode"/>
              </a:rPr>
              <a:t>∗</a:t>
            </a:r>
            <a:r>
              <a:rPr dirty="0" baseline="-4273" sz="975" spc="89">
                <a:latin typeface="Lucida Sans Unicode"/>
                <a:cs typeface="Lucida Sans Unicode"/>
              </a:rPr>
              <a:t> </a:t>
            </a:r>
            <a:r>
              <a:rPr dirty="0" baseline="-4273" sz="975" i="1">
                <a:latin typeface="Times New Roman"/>
                <a:cs typeface="Times New Roman"/>
              </a:rPr>
              <a:t>p</a:t>
            </a:r>
            <a:r>
              <a:rPr dirty="0" baseline="-4273" sz="975" spc="150" i="1">
                <a:latin typeface="Times New Roman"/>
                <a:cs typeface="Times New Roman"/>
              </a:rPr>
              <a:t> </a:t>
            </a:r>
            <a:r>
              <a:rPr dirty="0" baseline="-4273" sz="975">
                <a:latin typeface="Times New Roman"/>
                <a:cs typeface="Times New Roman"/>
              </a:rPr>
              <a:t>&lt;</a:t>
            </a:r>
            <a:r>
              <a:rPr dirty="0" baseline="-4273" sz="975" spc="63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0</a:t>
            </a:r>
            <a:r>
              <a:rPr dirty="0" sz="650" spc="-80">
                <a:latin typeface="Times New Roman"/>
                <a:cs typeface="Times New Roman"/>
              </a:rPr>
              <a:t> </a:t>
            </a:r>
            <a:r>
              <a:rPr dirty="0" sz="650" spc="-140">
                <a:latin typeface="Times New Roman"/>
                <a:cs typeface="Times New Roman"/>
              </a:rPr>
              <a:t>1</a:t>
            </a:r>
            <a:r>
              <a:rPr dirty="0" baseline="-8547" sz="975" spc="-209">
                <a:latin typeface="Times New Roman"/>
                <a:cs typeface="Times New Roman"/>
              </a:rPr>
              <a:t>.</a:t>
            </a:r>
            <a:r>
              <a:rPr dirty="0" baseline="-8547" sz="975" spc="37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0</a:t>
            </a:r>
            <a:r>
              <a:rPr dirty="0" sz="650" spc="-85">
                <a:latin typeface="Times New Roman"/>
                <a:cs typeface="Times New Roman"/>
              </a:rPr>
              <a:t> </a:t>
            </a:r>
            <a:r>
              <a:rPr dirty="0" sz="650" spc="-50">
                <a:latin typeface="Times New Roman"/>
                <a:cs typeface="Times New Roman"/>
              </a:rPr>
              <a:t>.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0970" y="527640"/>
            <a:ext cx="10693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Dependentvariable</a:t>
            </a:r>
            <a:r>
              <a:rPr dirty="0" sz="1000" spc="225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7689" y="527640"/>
            <a:ext cx="17557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∆logNL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(median radiance growth)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6692" y="2872862"/>
            <a:ext cx="5026660" cy="329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100"/>
              </a:spcBef>
            </a:pPr>
            <a:r>
              <a:rPr dirty="0" sz="900" spc="-10" b="1">
                <a:latin typeface="Times New Roman"/>
                <a:cs typeface="Times New Roman"/>
              </a:rPr>
              <a:t>Reading:</a:t>
            </a:r>
            <a:r>
              <a:rPr dirty="0" sz="900" spc="-30" b="1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Pooled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flood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effect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small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indistinguishable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from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zero.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West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Bengal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shows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significant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negative effect(β1=−0.322,p&lt;0.05):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a10-</a:t>
            </a:r>
            <a:r>
              <a:rPr dirty="0" sz="900">
                <a:latin typeface="Times New Roman"/>
                <a:cs typeface="Times New Roman"/>
              </a:rPr>
              <a:t>pp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rise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flood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share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lowers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∆logNL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55">
                <a:latin typeface="Times New Roman"/>
                <a:cs typeface="Times New Roman"/>
              </a:rPr>
              <a:t>by</a:t>
            </a:r>
            <a:r>
              <a:rPr dirty="0" sz="900" spc="-55">
                <a:latin typeface="Lucida Sans Unicode"/>
                <a:cs typeface="Lucida Sans Unicode"/>
              </a:rPr>
              <a:t>∼</a:t>
            </a:r>
            <a:r>
              <a:rPr dirty="0" sz="900" spc="-55">
                <a:latin typeface="Times New Roman"/>
                <a:cs typeface="Times New Roman"/>
              </a:rPr>
              <a:t>3.2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log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points.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59450" cy="3237230"/>
          </a:xfrm>
          <a:custGeom>
            <a:avLst/>
            <a:gdLst/>
            <a:ahLst/>
            <a:cxnLst/>
            <a:rect l="l" t="t" r="r" b="b"/>
            <a:pathLst>
              <a:path w="5759450" h="3237230">
                <a:moveTo>
                  <a:pt x="5759455" y="3236718"/>
                </a:moveTo>
                <a:lnTo>
                  <a:pt x="0" y="3236718"/>
                </a:lnTo>
                <a:lnTo>
                  <a:pt x="0" y="0"/>
                </a:lnTo>
                <a:lnTo>
                  <a:pt x="5759455" y="0"/>
                </a:lnTo>
                <a:lnTo>
                  <a:pt x="5759455" y="3236718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5677535" cy="351790"/>
          </a:xfrm>
          <a:custGeom>
            <a:avLst/>
            <a:gdLst/>
            <a:ahLst/>
            <a:cxnLst/>
            <a:rect l="l" t="t" r="r" b="b"/>
            <a:pathLst>
              <a:path w="5677535" h="351790">
                <a:moveTo>
                  <a:pt x="5677089" y="351342"/>
                </a:moveTo>
                <a:lnTo>
                  <a:pt x="0" y="351342"/>
                </a:lnTo>
                <a:lnTo>
                  <a:pt x="0" y="0"/>
                </a:lnTo>
                <a:lnTo>
                  <a:pt x="5677089" y="0"/>
                </a:lnTo>
                <a:lnTo>
                  <a:pt x="5677089" y="351342"/>
                </a:lnTo>
                <a:close/>
              </a:path>
            </a:pathLst>
          </a:custGeom>
          <a:solidFill>
            <a:srgbClr val="23373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595" y="763715"/>
            <a:ext cx="4550445" cy="1950993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Results</a:t>
            </a:r>
            <a:r>
              <a:rPr dirty="0" spc="-25"/>
              <a:t> </a:t>
            </a:r>
            <a:r>
              <a:rPr dirty="0"/>
              <a:t>—</a:t>
            </a:r>
            <a:r>
              <a:rPr dirty="0" spc="-25"/>
              <a:t> </a:t>
            </a:r>
            <a:r>
              <a:rPr dirty="0"/>
              <a:t>Night</a:t>
            </a:r>
            <a:r>
              <a:rPr dirty="0" spc="-25"/>
              <a:t> </a:t>
            </a:r>
            <a:r>
              <a:rPr dirty="0"/>
              <a:t>Lights</a:t>
            </a:r>
            <a:r>
              <a:rPr dirty="0" spc="-20"/>
              <a:t> </a:t>
            </a:r>
            <a:r>
              <a:rPr dirty="0"/>
              <a:t>(Mean</a:t>
            </a:r>
            <a:r>
              <a:rPr dirty="0" spc="-25"/>
              <a:t> </a:t>
            </a:r>
            <a:r>
              <a:rPr dirty="0" spc="-10"/>
              <a:t>model)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0895" y="2879627"/>
            <a:ext cx="5061585" cy="329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100"/>
              </a:spcBef>
            </a:pPr>
            <a:r>
              <a:rPr dirty="0" sz="900" spc="-10" b="1">
                <a:latin typeface="Times New Roman"/>
                <a:cs typeface="Times New Roman"/>
              </a:rPr>
              <a:t>Reading:</a:t>
            </a:r>
            <a:r>
              <a:rPr dirty="0" sz="900" spc="-25" b="1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With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mean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radiance,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the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flood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effect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strengthens.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West</a:t>
            </a:r>
            <a:r>
              <a:rPr dirty="0" sz="900" spc="-25" b="1">
                <a:latin typeface="Times New Roman"/>
                <a:cs typeface="Times New Roman"/>
              </a:rPr>
              <a:t> </a:t>
            </a:r>
            <a:r>
              <a:rPr dirty="0" sz="900" spc="-10" b="1">
                <a:latin typeface="Times New Roman"/>
                <a:cs typeface="Times New Roman"/>
              </a:rPr>
              <a:t>Bengal</a:t>
            </a:r>
            <a:r>
              <a:rPr dirty="0" sz="900" spc="-20" b="1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again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negative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significant;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 b="1">
                <a:latin typeface="Times New Roman"/>
                <a:cs typeface="Times New Roman"/>
              </a:rPr>
              <a:t>Bihar </a:t>
            </a:r>
            <a:r>
              <a:rPr dirty="0" sz="900">
                <a:latin typeface="Times New Roman"/>
                <a:cs typeface="Times New Roman"/>
              </a:rPr>
              <a:t>turns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marginally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negative; </a:t>
            </a:r>
            <a:r>
              <a:rPr dirty="0" sz="900" spc="-10" b="1">
                <a:latin typeface="Times New Roman"/>
                <a:cs typeface="Times New Roman"/>
              </a:rPr>
              <a:t>Jharkhand</a:t>
            </a:r>
            <a:r>
              <a:rPr dirty="0" sz="900" spc="-15" b="1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flips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positive (small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sample,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N</a:t>
            </a:r>
            <a:r>
              <a:rPr dirty="0" sz="900" spc="-10" i="1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=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475).</a:t>
            </a:r>
            <a:r>
              <a:rPr dirty="0" sz="900" spc="-10">
                <a:latin typeface="Times New Roman"/>
                <a:cs typeface="Times New Roman"/>
              </a:rPr>
              <a:t> Odisha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insignificant.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5495" y="2749846"/>
            <a:ext cx="366839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385695" algn="l"/>
              </a:tabLst>
            </a:pPr>
            <a:r>
              <a:rPr dirty="0" sz="700" spc="70">
                <a:latin typeface="Times New Roman"/>
                <a:cs typeface="Times New Roman"/>
              </a:rPr>
              <a:t>Cluster-</a:t>
            </a:r>
            <a:r>
              <a:rPr dirty="0" sz="700" spc="-90">
                <a:latin typeface="Times New Roman"/>
                <a:cs typeface="Times New Roman"/>
              </a:rPr>
              <a:t> </a:t>
            </a:r>
            <a:r>
              <a:rPr dirty="0" sz="700" spc="65">
                <a:latin typeface="Times New Roman"/>
                <a:cs typeface="Times New Roman"/>
              </a:rPr>
              <a:t>robust</a:t>
            </a:r>
            <a:r>
              <a:rPr dirty="0" sz="700" spc="180">
                <a:latin typeface="Times New Roman"/>
                <a:cs typeface="Times New Roman"/>
              </a:rPr>
              <a:t> </a:t>
            </a:r>
            <a:r>
              <a:rPr dirty="0" sz="700" spc="55">
                <a:latin typeface="Times New Roman"/>
                <a:cs typeface="Times New Roman"/>
              </a:rPr>
              <a:t>SEs</a:t>
            </a:r>
            <a:r>
              <a:rPr dirty="0" sz="700" spc="18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(</a:t>
            </a:r>
            <a:r>
              <a:rPr dirty="0" sz="700" spc="-8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d</a:t>
            </a:r>
            <a:r>
              <a:rPr dirty="0" sz="700" spc="-9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i</a:t>
            </a:r>
            <a:r>
              <a:rPr dirty="0" sz="700" spc="-8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s</a:t>
            </a:r>
            <a:r>
              <a:rPr dirty="0" sz="700" spc="-9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t</a:t>
            </a:r>
            <a:r>
              <a:rPr dirty="0" sz="700" spc="-8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r</a:t>
            </a:r>
            <a:r>
              <a:rPr dirty="0" sz="700" spc="-9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i</a:t>
            </a:r>
            <a:r>
              <a:rPr dirty="0" sz="700" spc="-8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c</a:t>
            </a:r>
            <a:r>
              <a:rPr dirty="0" sz="700" spc="-9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t</a:t>
            </a:r>
            <a:r>
              <a:rPr dirty="0" sz="700" spc="-8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)</a:t>
            </a:r>
            <a:r>
              <a:rPr dirty="0" sz="700" spc="18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i</a:t>
            </a:r>
            <a:r>
              <a:rPr dirty="0" sz="700" spc="-8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n</a:t>
            </a:r>
            <a:r>
              <a:rPr dirty="0" sz="700" spc="180">
                <a:latin typeface="Times New Roman"/>
                <a:cs typeface="Times New Roman"/>
              </a:rPr>
              <a:t> </a:t>
            </a:r>
            <a:r>
              <a:rPr dirty="0" sz="700" spc="65">
                <a:latin typeface="Times New Roman"/>
                <a:cs typeface="Times New Roman"/>
              </a:rPr>
              <a:t>parentheses.</a:t>
            </a:r>
            <a:r>
              <a:rPr dirty="0" sz="700">
                <a:latin typeface="Times New Roman"/>
                <a:cs typeface="Times New Roman"/>
              </a:rPr>
              <a:t>	</a:t>
            </a:r>
            <a:r>
              <a:rPr dirty="0" baseline="3968" sz="1050" spc="-330">
                <a:latin typeface="Lucida Sans Unicode"/>
                <a:cs typeface="Lucida Sans Unicode"/>
              </a:rPr>
              <a:t>∗</a:t>
            </a:r>
            <a:r>
              <a:rPr dirty="0" baseline="3968" sz="1050" spc="-150">
                <a:latin typeface="Lucida Sans Unicode"/>
                <a:cs typeface="Lucida Sans Unicode"/>
              </a:rPr>
              <a:t> </a:t>
            </a:r>
            <a:r>
              <a:rPr dirty="0" baseline="3968" sz="1050" spc="-330">
                <a:latin typeface="Lucida Sans Unicode"/>
                <a:cs typeface="Lucida Sans Unicode"/>
              </a:rPr>
              <a:t>∗</a:t>
            </a:r>
            <a:r>
              <a:rPr dirty="0" baseline="3968" sz="1050" spc="-150">
                <a:latin typeface="Lucida Sans Unicode"/>
                <a:cs typeface="Lucida Sans Unicode"/>
              </a:rPr>
              <a:t> </a:t>
            </a:r>
            <a:r>
              <a:rPr dirty="0" baseline="3968" sz="1050" spc="-330">
                <a:latin typeface="Lucida Sans Unicode"/>
                <a:cs typeface="Lucida Sans Unicode"/>
              </a:rPr>
              <a:t>∗</a:t>
            </a:r>
            <a:r>
              <a:rPr dirty="0" baseline="3968" sz="1050" spc="120">
                <a:latin typeface="Lucida Sans Unicode"/>
                <a:cs typeface="Lucida Sans Unicode"/>
              </a:rPr>
              <a:t> </a:t>
            </a:r>
            <a:r>
              <a:rPr dirty="0" baseline="7936" sz="1050" i="1">
                <a:latin typeface="Times New Roman"/>
                <a:cs typeface="Times New Roman"/>
              </a:rPr>
              <a:t>p</a:t>
            </a:r>
            <a:r>
              <a:rPr dirty="0" baseline="7936" sz="1050" spc="-67" i="1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&lt;</a:t>
            </a:r>
            <a:r>
              <a:rPr dirty="0" baseline="7936" sz="1050" spc="270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0</a:t>
            </a:r>
            <a:r>
              <a:rPr dirty="0" baseline="7936" sz="1050" spc="-135">
                <a:latin typeface="Times New Roman"/>
                <a:cs typeface="Times New Roman"/>
              </a:rPr>
              <a:t> </a:t>
            </a:r>
            <a:r>
              <a:rPr dirty="0" baseline="7936" sz="1050" spc="-225">
                <a:latin typeface="Times New Roman"/>
                <a:cs typeface="Times New Roman"/>
              </a:rPr>
              <a:t>0</a:t>
            </a:r>
            <a:r>
              <a:rPr dirty="0" baseline="15873" sz="1050" spc="-225">
                <a:latin typeface="Times New Roman"/>
                <a:cs typeface="Times New Roman"/>
              </a:rPr>
              <a:t>.</a:t>
            </a:r>
            <a:r>
              <a:rPr dirty="0" baseline="15873" sz="1050" spc="44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1</a:t>
            </a:r>
            <a:r>
              <a:rPr dirty="0" baseline="7936" sz="1050" spc="-135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,</a:t>
            </a:r>
            <a:r>
              <a:rPr dirty="0" baseline="7936" sz="1050" spc="419">
                <a:latin typeface="Times New Roman"/>
                <a:cs typeface="Times New Roman"/>
              </a:rPr>
              <a:t>  </a:t>
            </a:r>
            <a:r>
              <a:rPr dirty="0" baseline="3703" sz="1125" spc="-352">
                <a:latin typeface="Lucida Sans Unicode"/>
                <a:cs typeface="Lucida Sans Unicode"/>
              </a:rPr>
              <a:t>∗</a:t>
            </a:r>
            <a:r>
              <a:rPr dirty="0" baseline="3703" sz="1125" spc="-157">
                <a:latin typeface="Lucida Sans Unicode"/>
                <a:cs typeface="Lucida Sans Unicode"/>
              </a:rPr>
              <a:t> </a:t>
            </a:r>
            <a:r>
              <a:rPr dirty="0" baseline="3703" sz="1125" spc="-44">
                <a:latin typeface="Lucida Sans Unicode"/>
                <a:cs typeface="Lucida Sans Unicode"/>
              </a:rPr>
              <a:t>∗</a:t>
            </a:r>
            <a:r>
              <a:rPr dirty="0" baseline="3703" sz="1125" spc="487">
                <a:latin typeface="Lucida Sans Unicode"/>
                <a:cs typeface="Lucida Sans Unicode"/>
              </a:rPr>
              <a:t> </a:t>
            </a:r>
            <a:r>
              <a:rPr dirty="0" baseline="7936" sz="1050" i="1">
                <a:latin typeface="Times New Roman"/>
                <a:cs typeface="Times New Roman"/>
              </a:rPr>
              <a:t>p</a:t>
            </a:r>
            <a:r>
              <a:rPr dirty="0" baseline="7936" sz="1050" spc="-22" i="1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&lt;</a:t>
            </a:r>
            <a:r>
              <a:rPr dirty="0" baseline="7936" sz="1050" spc="300">
                <a:latin typeface="Times New Roman"/>
                <a:cs typeface="Times New Roman"/>
              </a:rPr>
              <a:t> </a:t>
            </a:r>
            <a:r>
              <a:rPr dirty="0" baseline="7936" sz="1050" spc="-15">
                <a:latin typeface="Times New Roman"/>
                <a:cs typeface="Times New Roman"/>
              </a:rPr>
              <a:t>0</a:t>
            </a:r>
            <a:r>
              <a:rPr dirty="0" baseline="15873" sz="1050" spc="-15">
                <a:latin typeface="Times New Roman"/>
                <a:cs typeface="Times New Roman"/>
              </a:rPr>
              <a:t>.</a:t>
            </a:r>
            <a:r>
              <a:rPr dirty="0" baseline="7936" sz="1050" spc="-15">
                <a:latin typeface="Times New Roman"/>
                <a:cs typeface="Times New Roman"/>
              </a:rPr>
              <a:t>05</a:t>
            </a:r>
            <a:r>
              <a:rPr dirty="0" baseline="7936" sz="1050" spc="-135">
                <a:latin typeface="Times New Roman"/>
                <a:cs typeface="Times New Roman"/>
              </a:rPr>
              <a:t> </a:t>
            </a:r>
            <a:r>
              <a:rPr dirty="0" baseline="7936" sz="1050" spc="-75">
                <a:latin typeface="Times New Roman"/>
                <a:cs typeface="Times New Roman"/>
              </a:rPr>
              <a:t>,</a:t>
            </a:r>
            <a:endParaRPr baseline="7936"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92348" y="2742991"/>
            <a:ext cx="54292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968" sz="1050" spc="-330">
                <a:latin typeface="Lucida Sans Unicode"/>
                <a:cs typeface="Lucida Sans Unicode"/>
              </a:rPr>
              <a:t>∗</a:t>
            </a:r>
            <a:r>
              <a:rPr dirty="0" baseline="-3968" sz="1050" spc="82">
                <a:latin typeface="Lucida Sans Unicode"/>
                <a:cs typeface="Lucida Sans Unicode"/>
              </a:rPr>
              <a:t> </a:t>
            </a:r>
            <a:r>
              <a:rPr dirty="0" baseline="-3968" sz="1050" i="1">
                <a:latin typeface="Times New Roman"/>
                <a:cs typeface="Times New Roman"/>
              </a:rPr>
              <a:t>p</a:t>
            </a:r>
            <a:r>
              <a:rPr dirty="0" baseline="-3968" sz="1050" spc="142" i="1">
                <a:latin typeface="Times New Roman"/>
                <a:cs typeface="Times New Roman"/>
              </a:rPr>
              <a:t> </a:t>
            </a:r>
            <a:r>
              <a:rPr dirty="0" baseline="-3968" sz="1050">
                <a:latin typeface="Times New Roman"/>
                <a:cs typeface="Times New Roman"/>
              </a:rPr>
              <a:t>&lt;</a:t>
            </a:r>
            <a:r>
              <a:rPr dirty="0" baseline="-3968" sz="1050" spc="54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0</a:t>
            </a:r>
            <a:r>
              <a:rPr dirty="0" sz="700" spc="-90">
                <a:latin typeface="Times New Roman"/>
                <a:cs typeface="Times New Roman"/>
              </a:rPr>
              <a:t> </a:t>
            </a:r>
            <a:r>
              <a:rPr dirty="0" sz="700" spc="-150">
                <a:latin typeface="Times New Roman"/>
                <a:cs typeface="Times New Roman"/>
              </a:rPr>
              <a:t>1</a:t>
            </a:r>
            <a:r>
              <a:rPr dirty="0" baseline="-7936" sz="1050" spc="-225">
                <a:latin typeface="Times New Roman"/>
                <a:cs typeface="Times New Roman"/>
              </a:rPr>
              <a:t>.</a:t>
            </a:r>
            <a:r>
              <a:rPr dirty="0" baseline="-7936" sz="1050" spc="44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0</a:t>
            </a:r>
            <a:r>
              <a:rPr dirty="0" sz="700" spc="-90">
                <a:latin typeface="Times New Roman"/>
                <a:cs typeface="Times New Roman"/>
              </a:rPr>
              <a:t> </a:t>
            </a:r>
            <a:r>
              <a:rPr dirty="0" sz="700" spc="-50">
                <a:latin typeface="Times New Roman"/>
                <a:cs typeface="Times New Roman"/>
              </a:rPr>
              <a:t>.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0895" y="520763"/>
            <a:ext cx="11004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Dependent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variable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68702" y="520763"/>
            <a:ext cx="16579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∆logNL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(mean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radiance growth)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8"/>
            <a:ext cx="5756910" cy="351790"/>
          </a:xfrm>
          <a:custGeom>
            <a:avLst/>
            <a:gdLst/>
            <a:ahLst/>
            <a:cxnLst/>
            <a:rect l="l" t="t" r="r" b="b"/>
            <a:pathLst>
              <a:path w="5756910" h="351790">
                <a:moveTo>
                  <a:pt x="5756812" y="351393"/>
                </a:moveTo>
                <a:lnTo>
                  <a:pt x="0" y="351393"/>
                </a:lnTo>
                <a:lnTo>
                  <a:pt x="0" y="0"/>
                </a:lnTo>
                <a:lnTo>
                  <a:pt x="5756812" y="0"/>
                </a:lnTo>
                <a:lnTo>
                  <a:pt x="5756812" y="351393"/>
                </a:lnTo>
                <a:close/>
              </a:path>
            </a:pathLst>
          </a:custGeom>
          <a:solidFill>
            <a:srgbClr val="23373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670" y="809659"/>
            <a:ext cx="4712281" cy="183917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Results</a:t>
            </a:r>
            <a:r>
              <a:rPr dirty="0" spc="-25"/>
              <a:t> </a:t>
            </a:r>
            <a:r>
              <a:rPr dirty="0"/>
              <a:t>—</a:t>
            </a:r>
            <a:r>
              <a:rPr dirty="0" spc="-20"/>
              <a:t> </a:t>
            </a:r>
            <a:r>
              <a:rPr dirty="0" spc="85"/>
              <a:t>NDBI</a:t>
            </a:r>
            <a:r>
              <a:rPr dirty="0" spc="-25"/>
              <a:t> </a:t>
            </a:r>
            <a:r>
              <a:rPr dirty="0"/>
              <a:t>(Median</a:t>
            </a:r>
            <a:r>
              <a:rPr dirty="0" spc="-20"/>
              <a:t> </a:t>
            </a:r>
            <a:r>
              <a:rPr dirty="0" spc="-10"/>
              <a:t>model)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0970" y="2840119"/>
            <a:ext cx="4852035" cy="324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8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23373B"/>
                </a:solidFill>
                <a:latin typeface="Times New Roman"/>
                <a:cs typeface="Times New Roman"/>
              </a:rPr>
              <a:t>Reading:</a:t>
            </a:r>
            <a:r>
              <a:rPr dirty="0" sz="900" spc="-30" b="1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373B"/>
                </a:solidFill>
                <a:latin typeface="Times New Roman"/>
                <a:cs typeface="Times New Roman"/>
              </a:rPr>
              <a:t>Pooled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373B"/>
                </a:solidFill>
                <a:latin typeface="Times New Roman"/>
                <a:cs typeface="Times New Roman"/>
              </a:rPr>
              <a:t>flood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373B"/>
                </a:solidFill>
                <a:latin typeface="Times New Roman"/>
                <a:cs typeface="Times New Roman"/>
              </a:rPr>
              <a:t>effect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373B"/>
                </a:solidFill>
                <a:latin typeface="Times New Roman"/>
                <a:cs typeface="Times New Roman"/>
              </a:rPr>
              <a:t>on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373B"/>
                </a:solidFill>
                <a:latin typeface="Times New Roman"/>
                <a:cs typeface="Times New Roman"/>
              </a:rPr>
              <a:t>built-</a:t>
            </a:r>
            <a:r>
              <a:rPr dirty="0" sz="900">
                <a:solidFill>
                  <a:srgbClr val="23373B"/>
                </a:solidFill>
                <a:latin typeface="Times New Roman"/>
                <a:cs typeface="Times New Roman"/>
              </a:rPr>
              <a:t>up</a:t>
            </a:r>
            <a:r>
              <a:rPr dirty="0" sz="900" spc="-30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373B"/>
                </a:solidFill>
                <a:latin typeface="Times New Roman"/>
                <a:cs typeface="Times New Roman"/>
              </a:rPr>
              <a:t>index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373B"/>
                </a:solidFill>
                <a:latin typeface="Times New Roman"/>
                <a:cs typeface="Times New Roman"/>
              </a:rPr>
              <a:t>small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373B"/>
                </a:solidFill>
                <a:latin typeface="Times New Roman"/>
                <a:cs typeface="Times New Roman"/>
              </a:rPr>
              <a:t>and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373B"/>
                </a:solidFill>
                <a:latin typeface="Times New Roman"/>
                <a:cs typeface="Times New Roman"/>
              </a:rPr>
              <a:t>insignificant.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 b="1">
                <a:solidFill>
                  <a:srgbClr val="23373B"/>
                </a:solidFill>
                <a:latin typeface="Times New Roman"/>
                <a:cs typeface="Times New Roman"/>
              </a:rPr>
              <a:t>Bihar</a:t>
            </a:r>
            <a:r>
              <a:rPr dirty="0" sz="900" spc="-30" b="1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373B"/>
                </a:solidFill>
                <a:latin typeface="Times New Roman"/>
                <a:cs typeface="Times New Roman"/>
              </a:rPr>
              <a:t>shows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373B"/>
                </a:solidFill>
                <a:latin typeface="Times New Roman"/>
                <a:cs typeface="Times New Roman"/>
              </a:rPr>
              <a:t>a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373B"/>
                </a:solidFill>
                <a:latin typeface="Times New Roman"/>
                <a:cs typeface="Times New Roman"/>
              </a:rPr>
              <a:t>significant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373B"/>
                </a:solidFill>
                <a:latin typeface="Times New Roman"/>
                <a:cs typeface="Times New Roman"/>
              </a:rPr>
              <a:t>negative </a:t>
            </a:r>
            <a:r>
              <a:rPr dirty="0" baseline="6172" sz="1350">
                <a:solidFill>
                  <a:srgbClr val="23373B"/>
                </a:solidFill>
                <a:latin typeface="Times New Roman"/>
                <a:cs typeface="Times New Roman"/>
              </a:rPr>
              <a:t>effect</a:t>
            </a:r>
            <a:r>
              <a:rPr dirty="0" baseline="6172" sz="1350" spc="-44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baseline="6172" sz="1350">
                <a:solidFill>
                  <a:srgbClr val="23373B"/>
                </a:solidFill>
                <a:latin typeface="Times New Roman"/>
                <a:cs typeface="Times New Roman"/>
              </a:rPr>
              <a:t>(</a:t>
            </a:r>
            <a:r>
              <a:rPr dirty="0" sz="900">
                <a:solidFill>
                  <a:srgbClr val="23373B"/>
                </a:solidFill>
                <a:latin typeface="Times New Roman"/>
                <a:cs typeface="Times New Roman"/>
              </a:rPr>
              <a:t>−0.023,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373B"/>
                </a:solidFill>
                <a:latin typeface="Times New Roman"/>
                <a:cs typeface="Times New Roman"/>
              </a:rPr>
              <a:t>p</a:t>
            </a:r>
            <a:r>
              <a:rPr dirty="0" sz="900" spc="-30" i="1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373B"/>
                </a:solidFill>
                <a:latin typeface="Times New Roman"/>
                <a:cs typeface="Times New Roman"/>
              </a:rPr>
              <a:t>&lt;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373B"/>
                </a:solidFill>
                <a:latin typeface="Times New Roman"/>
                <a:cs typeface="Times New Roman"/>
              </a:rPr>
              <a:t>0.01);</a:t>
            </a:r>
            <a:r>
              <a:rPr dirty="0" sz="900" spc="-30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 spc="-10" b="1">
                <a:solidFill>
                  <a:srgbClr val="23373B"/>
                </a:solidFill>
                <a:latin typeface="Times New Roman"/>
                <a:cs typeface="Times New Roman"/>
              </a:rPr>
              <a:t>Odisha</a:t>
            </a:r>
            <a:r>
              <a:rPr dirty="0" sz="900" spc="-25" b="1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373B"/>
                </a:solidFill>
                <a:latin typeface="Times New Roman"/>
                <a:cs typeface="Times New Roman"/>
              </a:rPr>
              <a:t>a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373B"/>
                </a:solidFill>
                <a:latin typeface="Times New Roman"/>
                <a:cs typeface="Times New Roman"/>
              </a:rPr>
              <a:t>small</a:t>
            </a:r>
            <a:r>
              <a:rPr dirty="0" sz="900" spc="-30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373B"/>
                </a:solidFill>
                <a:latin typeface="Times New Roman"/>
                <a:cs typeface="Times New Roman"/>
              </a:rPr>
              <a:t>positive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373B"/>
                </a:solidFill>
                <a:latin typeface="Times New Roman"/>
                <a:cs typeface="Times New Roman"/>
              </a:rPr>
              <a:t>effect</a:t>
            </a:r>
            <a:r>
              <a:rPr dirty="0" sz="900" spc="-30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373B"/>
                </a:solidFill>
                <a:latin typeface="Times New Roman"/>
                <a:cs typeface="Times New Roman"/>
              </a:rPr>
              <a:t>(+0.019,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 i="1">
                <a:solidFill>
                  <a:srgbClr val="23373B"/>
                </a:solidFill>
                <a:latin typeface="Times New Roman"/>
                <a:cs typeface="Times New Roman"/>
              </a:rPr>
              <a:t>p</a:t>
            </a:r>
            <a:r>
              <a:rPr dirty="0" sz="900" spc="-30" i="1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23373B"/>
                </a:solidFill>
                <a:latin typeface="Times New Roman"/>
                <a:cs typeface="Times New Roman"/>
              </a:rPr>
              <a:t>&lt;</a:t>
            </a:r>
            <a:r>
              <a:rPr dirty="0" sz="900" spc="-25">
                <a:solidFill>
                  <a:srgbClr val="23373B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23373B"/>
                </a:solidFill>
                <a:latin typeface="Times New Roman"/>
                <a:cs typeface="Times New Roman"/>
              </a:rPr>
              <a:t>0.10).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53577" y="2689816"/>
            <a:ext cx="187960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80490" algn="l"/>
              </a:tabLst>
            </a:pPr>
            <a:r>
              <a:rPr dirty="0" baseline="-4273" sz="975" spc="-284">
                <a:latin typeface="Lucida Sans Unicode"/>
                <a:cs typeface="Lucida Sans Unicode"/>
              </a:rPr>
              <a:t>∗</a:t>
            </a:r>
            <a:r>
              <a:rPr dirty="0" baseline="-4273" sz="975" spc="-135">
                <a:latin typeface="Lucida Sans Unicode"/>
                <a:cs typeface="Lucida Sans Unicode"/>
              </a:rPr>
              <a:t> </a:t>
            </a:r>
            <a:r>
              <a:rPr dirty="0" baseline="-4273" sz="975" spc="-284">
                <a:latin typeface="Lucida Sans Unicode"/>
                <a:cs typeface="Lucida Sans Unicode"/>
              </a:rPr>
              <a:t>∗</a:t>
            </a:r>
            <a:r>
              <a:rPr dirty="0" baseline="-4273" sz="975" spc="-135">
                <a:latin typeface="Lucida Sans Unicode"/>
                <a:cs typeface="Lucida Sans Unicode"/>
              </a:rPr>
              <a:t> </a:t>
            </a:r>
            <a:r>
              <a:rPr dirty="0" baseline="-4273" sz="975" spc="-284">
                <a:latin typeface="Lucida Sans Unicode"/>
                <a:cs typeface="Lucida Sans Unicode"/>
              </a:rPr>
              <a:t>∗</a:t>
            </a:r>
            <a:r>
              <a:rPr dirty="0" baseline="-4273" sz="975" spc="179">
                <a:latin typeface="Lucida Sans Unicode"/>
                <a:cs typeface="Lucida Sans Unicode"/>
              </a:rPr>
              <a:t> </a:t>
            </a:r>
            <a:r>
              <a:rPr dirty="0" sz="650" i="1">
                <a:latin typeface="Times New Roman"/>
                <a:cs typeface="Times New Roman"/>
              </a:rPr>
              <a:t>p</a:t>
            </a:r>
            <a:r>
              <a:rPr dirty="0" sz="650" spc="-45" i="1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&lt;</a:t>
            </a:r>
            <a:r>
              <a:rPr dirty="0" sz="650" spc="21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0</a:t>
            </a:r>
            <a:r>
              <a:rPr dirty="0" sz="650" spc="-85">
                <a:latin typeface="Times New Roman"/>
                <a:cs typeface="Times New Roman"/>
              </a:rPr>
              <a:t> </a:t>
            </a:r>
            <a:r>
              <a:rPr dirty="0" sz="650" spc="-140">
                <a:latin typeface="Times New Roman"/>
                <a:cs typeface="Times New Roman"/>
              </a:rPr>
              <a:t>0</a:t>
            </a:r>
            <a:r>
              <a:rPr dirty="0" baseline="8547" sz="975" spc="-209">
                <a:latin typeface="Times New Roman"/>
                <a:cs typeface="Times New Roman"/>
              </a:rPr>
              <a:t>.</a:t>
            </a:r>
            <a:r>
              <a:rPr dirty="0" baseline="8547" sz="975" spc="3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85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,</a:t>
            </a:r>
            <a:r>
              <a:rPr dirty="0" sz="650" spc="300">
                <a:latin typeface="Times New Roman"/>
                <a:cs typeface="Times New Roman"/>
              </a:rPr>
              <a:t>  </a:t>
            </a:r>
            <a:r>
              <a:rPr dirty="0" baseline="-3968" sz="1050" spc="-330">
                <a:latin typeface="Lucida Sans Unicode"/>
                <a:cs typeface="Lucida Sans Unicode"/>
              </a:rPr>
              <a:t>∗</a:t>
            </a:r>
            <a:r>
              <a:rPr dirty="0" baseline="-3968" sz="1050" spc="-150">
                <a:latin typeface="Lucida Sans Unicode"/>
                <a:cs typeface="Lucida Sans Unicode"/>
              </a:rPr>
              <a:t> </a:t>
            </a:r>
            <a:r>
              <a:rPr dirty="0" baseline="-3968" sz="1050">
                <a:latin typeface="Lucida Sans Unicode"/>
                <a:cs typeface="Lucida Sans Unicode"/>
              </a:rPr>
              <a:t>∗</a:t>
            </a:r>
            <a:r>
              <a:rPr dirty="0" baseline="-3968" sz="1050" spc="547">
                <a:latin typeface="Lucida Sans Unicode"/>
                <a:cs typeface="Lucida Sans Unicode"/>
              </a:rPr>
              <a:t> </a:t>
            </a:r>
            <a:r>
              <a:rPr dirty="0" sz="650" i="1">
                <a:latin typeface="Times New Roman"/>
                <a:cs typeface="Times New Roman"/>
              </a:rPr>
              <a:t>p</a:t>
            </a:r>
            <a:r>
              <a:rPr dirty="0" sz="650" spc="-10" i="1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&lt;</a:t>
            </a:r>
            <a:r>
              <a:rPr dirty="0" sz="650" spc="22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0</a:t>
            </a:r>
            <a:r>
              <a:rPr dirty="0" baseline="8547" sz="975">
                <a:latin typeface="Times New Roman"/>
                <a:cs typeface="Times New Roman"/>
              </a:rPr>
              <a:t>.</a:t>
            </a:r>
            <a:r>
              <a:rPr dirty="0" sz="650">
                <a:latin typeface="Times New Roman"/>
                <a:cs typeface="Times New Roman"/>
              </a:rPr>
              <a:t>05</a:t>
            </a:r>
            <a:r>
              <a:rPr dirty="0" sz="650" spc="-85">
                <a:latin typeface="Times New Roman"/>
                <a:cs typeface="Times New Roman"/>
              </a:rPr>
              <a:t> </a:t>
            </a:r>
            <a:r>
              <a:rPr dirty="0" sz="650" spc="-50">
                <a:latin typeface="Times New Roman"/>
                <a:cs typeface="Times New Roman"/>
              </a:rPr>
              <a:t>,</a:t>
            </a:r>
            <a:r>
              <a:rPr dirty="0" sz="650">
                <a:latin typeface="Times New Roman"/>
                <a:cs typeface="Times New Roman"/>
              </a:rPr>
              <a:t>	</a:t>
            </a:r>
            <a:r>
              <a:rPr dirty="0" baseline="-4273" sz="975" spc="-284">
                <a:latin typeface="Lucida Sans Unicode"/>
                <a:cs typeface="Lucida Sans Unicode"/>
              </a:rPr>
              <a:t>∗</a:t>
            </a:r>
            <a:r>
              <a:rPr dirty="0" baseline="-4273" sz="975" spc="89">
                <a:latin typeface="Lucida Sans Unicode"/>
                <a:cs typeface="Lucida Sans Unicode"/>
              </a:rPr>
              <a:t> </a:t>
            </a:r>
            <a:r>
              <a:rPr dirty="0" baseline="-4273" sz="975" i="1">
                <a:latin typeface="Times New Roman"/>
                <a:cs typeface="Times New Roman"/>
              </a:rPr>
              <a:t>p</a:t>
            </a:r>
            <a:r>
              <a:rPr dirty="0" baseline="-4273" sz="975" spc="150" i="1">
                <a:latin typeface="Times New Roman"/>
                <a:cs typeface="Times New Roman"/>
              </a:rPr>
              <a:t> </a:t>
            </a:r>
            <a:r>
              <a:rPr dirty="0" baseline="-4273" sz="975">
                <a:latin typeface="Times New Roman"/>
                <a:cs typeface="Times New Roman"/>
              </a:rPr>
              <a:t>&lt;</a:t>
            </a:r>
            <a:r>
              <a:rPr dirty="0" baseline="-4273" sz="975" spc="63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0</a:t>
            </a:r>
            <a:r>
              <a:rPr dirty="0" sz="650" spc="-80">
                <a:latin typeface="Times New Roman"/>
                <a:cs typeface="Times New Roman"/>
              </a:rPr>
              <a:t> </a:t>
            </a:r>
            <a:r>
              <a:rPr dirty="0" sz="650" spc="-140">
                <a:latin typeface="Times New Roman"/>
                <a:cs typeface="Times New Roman"/>
              </a:rPr>
              <a:t>1</a:t>
            </a:r>
            <a:r>
              <a:rPr dirty="0" baseline="-8547" sz="975" spc="-209">
                <a:latin typeface="Times New Roman"/>
                <a:cs typeface="Times New Roman"/>
              </a:rPr>
              <a:t>.</a:t>
            </a:r>
            <a:r>
              <a:rPr dirty="0" baseline="-8547" sz="975" spc="37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0</a:t>
            </a:r>
            <a:r>
              <a:rPr dirty="0" sz="650" spc="-85">
                <a:latin typeface="Times New Roman"/>
                <a:cs typeface="Times New Roman"/>
              </a:rPr>
              <a:t> </a:t>
            </a:r>
            <a:r>
              <a:rPr dirty="0" sz="650" spc="-50">
                <a:latin typeface="Times New Roman"/>
                <a:cs typeface="Times New Roman"/>
              </a:rPr>
              <a:t>.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0970" y="2708514"/>
            <a:ext cx="1936114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spc="70">
                <a:latin typeface="Times New Roman"/>
                <a:cs typeface="Times New Roman"/>
              </a:rPr>
              <a:t>Cluster-</a:t>
            </a:r>
            <a:r>
              <a:rPr dirty="0" sz="650" spc="-80">
                <a:latin typeface="Times New Roman"/>
                <a:cs typeface="Times New Roman"/>
              </a:rPr>
              <a:t> </a:t>
            </a:r>
            <a:r>
              <a:rPr dirty="0" sz="650" spc="70">
                <a:latin typeface="Times New Roman"/>
                <a:cs typeface="Times New Roman"/>
              </a:rPr>
              <a:t>robust</a:t>
            </a:r>
            <a:r>
              <a:rPr dirty="0" sz="650" spc="200">
                <a:latin typeface="Times New Roman"/>
                <a:cs typeface="Times New Roman"/>
              </a:rPr>
              <a:t> </a:t>
            </a:r>
            <a:r>
              <a:rPr dirty="0" sz="650" spc="55">
                <a:latin typeface="Times New Roman"/>
                <a:cs typeface="Times New Roman"/>
              </a:rPr>
              <a:t>SEs</a:t>
            </a:r>
            <a:r>
              <a:rPr dirty="0" sz="650" spc="20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(</a:t>
            </a:r>
            <a:r>
              <a:rPr dirty="0" sz="650" spc="-75">
                <a:latin typeface="Times New Roman"/>
                <a:cs typeface="Times New Roman"/>
              </a:rPr>
              <a:t> </a:t>
            </a:r>
            <a:r>
              <a:rPr dirty="0" sz="650" spc="75">
                <a:latin typeface="Times New Roman"/>
                <a:cs typeface="Times New Roman"/>
              </a:rPr>
              <a:t>district)</a:t>
            </a:r>
            <a:r>
              <a:rPr dirty="0" sz="650" spc="195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in</a:t>
            </a:r>
            <a:r>
              <a:rPr dirty="0" sz="650" spc="200">
                <a:latin typeface="Times New Roman"/>
                <a:cs typeface="Times New Roman"/>
              </a:rPr>
              <a:t> </a:t>
            </a:r>
            <a:r>
              <a:rPr dirty="0" sz="650" spc="65">
                <a:latin typeface="Times New Roman"/>
                <a:cs typeface="Times New Roman"/>
              </a:rPr>
              <a:t>parentheses.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1027" y="479402"/>
            <a:ext cx="11004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Dependent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variable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8834" y="479402"/>
            <a:ext cx="34639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NDBIt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(built-</a:t>
            </a:r>
            <a:r>
              <a:rPr dirty="0" sz="1000">
                <a:latin typeface="Times New Roman"/>
                <a:cs typeface="Times New Roman"/>
              </a:rPr>
              <a:t>up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index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level);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β4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NDBIt−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1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subject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Nickellbias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077" y="795822"/>
            <a:ext cx="4674202" cy="185635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Results</a:t>
            </a:r>
            <a:r>
              <a:rPr dirty="0" spc="-20"/>
              <a:t> </a:t>
            </a:r>
            <a:r>
              <a:rPr dirty="0"/>
              <a:t>—</a:t>
            </a:r>
            <a:r>
              <a:rPr dirty="0" spc="-20"/>
              <a:t> </a:t>
            </a:r>
            <a:r>
              <a:rPr dirty="0" spc="85"/>
              <a:t>NDBI</a:t>
            </a:r>
            <a:r>
              <a:rPr dirty="0" spc="-20"/>
              <a:t> </a:t>
            </a:r>
            <a:r>
              <a:rPr dirty="0"/>
              <a:t>(Mean</a:t>
            </a:r>
            <a:r>
              <a:rPr dirty="0" spc="-20"/>
              <a:t> </a:t>
            </a:r>
            <a:r>
              <a:rPr dirty="0" spc="-10"/>
              <a:t>model)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5570" y="2869016"/>
            <a:ext cx="5248910" cy="290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045"/>
              </a:lnSpc>
              <a:spcBef>
                <a:spcPts val="95"/>
              </a:spcBef>
            </a:pPr>
            <a:r>
              <a:rPr dirty="0" sz="900" b="1">
                <a:latin typeface="Times New Roman"/>
                <a:cs typeface="Times New Roman"/>
              </a:rPr>
              <a:t>Reading:</a:t>
            </a:r>
            <a:r>
              <a:rPr dirty="0" sz="900" spc="45" b="1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Mean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median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NDBI</a:t>
            </a:r>
            <a:r>
              <a:rPr dirty="0" sz="900" spc="4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results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agree.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Bihar’s</a:t>
            </a:r>
            <a:r>
              <a:rPr dirty="0" sz="900" spc="50" b="1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flood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effect</a:t>
            </a:r>
            <a:r>
              <a:rPr dirty="0" sz="900" spc="4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remains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negative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highly</a:t>
            </a:r>
            <a:r>
              <a:rPr dirty="0" sz="900" spc="4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significant</a:t>
            </a:r>
            <a:endParaRPr sz="900">
              <a:latin typeface="Times New Roman"/>
              <a:cs typeface="Times New Roman"/>
            </a:endParaRPr>
          </a:p>
          <a:p>
            <a:pPr marL="38100">
              <a:lnSpc>
                <a:spcPts val="1045"/>
              </a:lnSpc>
            </a:pPr>
            <a:r>
              <a:rPr dirty="0" baseline="19841" sz="1050" spc="-15">
                <a:latin typeface="Times New Roman"/>
                <a:cs typeface="Times New Roman"/>
              </a:rPr>
              <a:t>(</a:t>
            </a:r>
            <a:r>
              <a:rPr dirty="0" baseline="19841" sz="1050" spc="-142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−0.021,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p</a:t>
            </a:r>
            <a:r>
              <a:rPr dirty="0" sz="900" spc="55" i="1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&lt;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0.01).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NL</a:t>
            </a:r>
            <a:r>
              <a:rPr dirty="0" baseline="-16666" sz="750" i="1">
                <a:latin typeface="Times New Roman"/>
                <a:cs typeface="Times New Roman"/>
              </a:rPr>
              <a:t>t</a:t>
            </a:r>
            <a:r>
              <a:rPr dirty="0" baseline="-16666" sz="750">
                <a:latin typeface="Times New Roman"/>
                <a:cs typeface="Times New Roman"/>
              </a:rPr>
              <a:t>−1</a:t>
            </a:r>
            <a:r>
              <a:rPr dirty="0" baseline="-16666" sz="750" spc="232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loads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positively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across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states.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0970" y="2757948"/>
            <a:ext cx="1936114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spc="70">
                <a:latin typeface="Times New Roman"/>
                <a:cs typeface="Times New Roman"/>
              </a:rPr>
              <a:t>Cluster-</a:t>
            </a:r>
            <a:r>
              <a:rPr dirty="0" sz="650" spc="-80">
                <a:latin typeface="Times New Roman"/>
                <a:cs typeface="Times New Roman"/>
              </a:rPr>
              <a:t> </a:t>
            </a:r>
            <a:r>
              <a:rPr dirty="0" sz="650" spc="70">
                <a:latin typeface="Times New Roman"/>
                <a:cs typeface="Times New Roman"/>
              </a:rPr>
              <a:t>robust</a:t>
            </a:r>
            <a:r>
              <a:rPr dirty="0" sz="650" spc="200">
                <a:latin typeface="Times New Roman"/>
                <a:cs typeface="Times New Roman"/>
              </a:rPr>
              <a:t> </a:t>
            </a:r>
            <a:r>
              <a:rPr dirty="0" sz="650" spc="55">
                <a:latin typeface="Times New Roman"/>
                <a:cs typeface="Times New Roman"/>
              </a:rPr>
              <a:t>SEs</a:t>
            </a:r>
            <a:r>
              <a:rPr dirty="0" sz="650" spc="20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(</a:t>
            </a:r>
            <a:r>
              <a:rPr dirty="0" sz="650" spc="-75">
                <a:latin typeface="Times New Roman"/>
                <a:cs typeface="Times New Roman"/>
              </a:rPr>
              <a:t> </a:t>
            </a:r>
            <a:r>
              <a:rPr dirty="0" sz="650" spc="75">
                <a:latin typeface="Times New Roman"/>
                <a:cs typeface="Times New Roman"/>
              </a:rPr>
              <a:t>district)</a:t>
            </a:r>
            <a:r>
              <a:rPr dirty="0" sz="650" spc="195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in</a:t>
            </a:r>
            <a:r>
              <a:rPr dirty="0" sz="650" spc="200">
                <a:latin typeface="Times New Roman"/>
                <a:cs typeface="Times New Roman"/>
              </a:rPr>
              <a:t> </a:t>
            </a:r>
            <a:r>
              <a:rPr dirty="0" sz="650" spc="65">
                <a:latin typeface="Times New Roman"/>
                <a:cs typeface="Times New Roman"/>
              </a:rPr>
              <a:t>parentheses.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53577" y="2739250"/>
            <a:ext cx="187960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80490" algn="l"/>
              </a:tabLst>
            </a:pPr>
            <a:r>
              <a:rPr dirty="0" baseline="-4273" sz="975" spc="-284">
                <a:latin typeface="Lucida Sans Unicode"/>
                <a:cs typeface="Lucida Sans Unicode"/>
              </a:rPr>
              <a:t>∗</a:t>
            </a:r>
            <a:r>
              <a:rPr dirty="0" baseline="-4273" sz="975" spc="-135">
                <a:latin typeface="Lucida Sans Unicode"/>
                <a:cs typeface="Lucida Sans Unicode"/>
              </a:rPr>
              <a:t> </a:t>
            </a:r>
            <a:r>
              <a:rPr dirty="0" baseline="-4273" sz="975" spc="-284">
                <a:latin typeface="Lucida Sans Unicode"/>
                <a:cs typeface="Lucida Sans Unicode"/>
              </a:rPr>
              <a:t>∗</a:t>
            </a:r>
            <a:r>
              <a:rPr dirty="0" baseline="-4273" sz="975" spc="-135">
                <a:latin typeface="Lucida Sans Unicode"/>
                <a:cs typeface="Lucida Sans Unicode"/>
              </a:rPr>
              <a:t> </a:t>
            </a:r>
            <a:r>
              <a:rPr dirty="0" baseline="-4273" sz="975" spc="-284">
                <a:latin typeface="Lucida Sans Unicode"/>
                <a:cs typeface="Lucida Sans Unicode"/>
              </a:rPr>
              <a:t>∗</a:t>
            </a:r>
            <a:r>
              <a:rPr dirty="0" baseline="-4273" sz="975" spc="179">
                <a:latin typeface="Lucida Sans Unicode"/>
                <a:cs typeface="Lucida Sans Unicode"/>
              </a:rPr>
              <a:t> </a:t>
            </a:r>
            <a:r>
              <a:rPr dirty="0" sz="650" i="1">
                <a:latin typeface="Times New Roman"/>
                <a:cs typeface="Times New Roman"/>
              </a:rPr>
              <a:t>p</a:t>
            </a:r>
            <a:r>
              <a:rPr dirty="0" sz="650" spc="-45" i="1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&lt;</a:t>
            </a:r>
            <a:r>
              <a:rPr dirty="0" sz="650" spc="21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0</a:t>
            </a:r>
            <a:r>
              <a:rPr dirty="0" sz="650" spc="-85">
                <a:latin typeface="Times New Roman"/>
                <a:cs typeface="Times New Roman"/>
              </a:rPr>
              <a:t> </a:t>
            </a:r>
            <a:r>
              <a:rPr dirty="0" sz="650" spc="-140">
                <a:latin typeface="Times New Roman"/>
                <a:cs typeface="Times New Roman"/>
              </a:rPr>
              <a:t>0</a:t>
            </a:r>
            <a:r>
              <a:rPr dirty="0" baseline="8547" sz="975" spc="-209">
                <a:latin typeface="Times New Roman"/>
                <a:cs typeface="Times New Roman"/>
              </a:rPr>
              <a:t>.</a:t>
            </a:r>
            <a:r>
              <a:rPr dirty="0" baseline="8547" sz="975" spc="3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85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,</a:t>
            </a:r>
            <a:r>
              <a:rPr dirty="0" sz="650" spc="300">
                <a:latin typeface="Times New Roman"/>
                <a:cs typeface="Times New Roman"/>
              </a:rPr>
              <a:t>  </a:t>
            </a:r>
            <a:r>
              <a:rPr dirty="0" baseline="-3968" sz="1050" spc="-330">
                <a:latin typeface="Lucida Sans Unicode"/>
                <a:cs typeface="Lucida Sans Unicode"/>
              </a:rPr>
              <a:t>∗</a:t>
            </a:r>
            <a:r>
              <a:rPr dirty="0" baseline="-3968" sz="1050" spc="-150">
                <a:latin typeface="Lucida Sans Unicode"/>
                <a:cs typeface="Lucida Sans Unicode"/>
              </a:rPr>
              <a:t> </a:t>
            </a:r>
            <a:r>
              <a:rPr dirty="0" baseline="-3968" sz="1050">
                <a:latin typeface="Lucida Sans Unicode"/>
                <a:cs typeface="Lucida Sans Unicode"/>
              </a:rPr>
              <a:t>∗</a:t>
            </a:r>
            <a:r>
              <a:rPr dirty="0" baseline="-3968" sz="1050" spc="547">
                <a:latin typeface="Lucida Sans Unicode"/>
                <a:cs typeface="Lucida Sans Unicode"/>
              </a:rPr>
              <a:t> </a:t>
            </a:r>
            <a:r>
              <a:rPr dirty="0" sz="650" i="1">
                <a:latin typeface="Times New Roman"/>
                <a:cs typeface="Times New Roman"/>
              </a:rPr>
              <a:t>p</a:t>
            </a:r>
            <a:r>
              <a:rPr dirty="0" sz="650" spc="-10" i="1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&lt;</a:t>
            </a:r>
            <a:r>
              <a:rPr dirty="0" sz="650" spc="22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0</a:t>
            </a:r>
            <a:r>
              <a:rPr dirty="0" baseline="8547" sz="975">
                <a:latin typeface="Times New Roman"/>
                <a:cs typeface="Times New Roman"/>
              </a:rPr>
              <a:t>.</a:t>
            </a:r>
            <a:r>
              <a:rPr dirty="0" sz="650">
                <a:latin typeface="Times New Roman"/>
                <a:cs typeface="Times New Roman"/>
              </a:rPr>
              <a:t>05</a:t>
            </a:r>
            <a:r>
              <a:rPr dirty="0" sz="650" spc="-85">
                <a:latin typeface="Times New Roman"/>
                <a:cs typeface="Times New Roman"/>
              </a:rPr>
              <a:t> </a:t>
            </a:r>
            <a:r>
              <a:rPr dirty="0" sz="650" spc="-50">
                <a:latin typeface="Times New Roman"/>
                <a:cs typeface="Times New Roman"/>
              </a:rPr>
              <a:t>,</a:t>
            </a:r>
            <a:r>
              <a:rPr dirty="0" sz="650">
                <a:latin typeface="Times New Roman"/>
                <a:cs typeface="Times New Roman"/>
              </a:rPr>
              <a:t>	</a:t>
            </a:r>
            <a:r>
              <a:rPr dirty="0" baseline="-4273" sz="975" spc="-284">
                <a:latin typeface="Lucida Sans Unicode"/>
                <a:cs typeface="Lucida Sans Unicode"/>
              </a:rPr>
              <a:t>∗</a:t>
            </a:r>
            <a:r>
              <a:rPr dirty="0" baseline="-4273" sz="975" spc="89">
                <a:latin typeface="Lucida Sans Unicode"/>
                <a:cs typeface="Lucida Sans Unicode"/>
              </a:rPr>
              <a:t> </a:t>
            </a:r>
            <a:r>
              <a:rPr dirty="0" baseline="-4273" sz="975" i="1">
                <a:latin typeface="Times New Roman"/>
                <a:cs typeface="Times New Roman"/>
              </a:rPr>
              <a:t>p</a:t>
            </a:r>
            <a:r>
              <a:rPr dirty="0" baseline="-4273" sz="975" spc="150" i="1">
                <a:latin typeface="Times New Roman"/>
                <a:cs typeface="Times New Roman"/>
              </a:rPr>
              <a:t> </a:t>
            </a:r>
            <a:r>
              <a:rPr dirty="0" baseline="-4273" sz="975">
                <a:latin typeface="Times New Roman"/>
                <a:cs typeface="Times New Roman"/>
              </a:rPr>
              <a:t>&lt;</a:t>
            </a:r>
            <a:r>
              <a:rPr dirty="0" baseline="-4273" sz="975" spc="630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0</a:t>
            </a:r>
            <a:r>
              <a:rPr dirty="0" sz="650" spc="-80">
                <a:latin typeface="Times New Roman"/>
                <a:cs typeface="Times New Roman"/>
              </a:rPr>
              <a:t> </a:t>
            </a:r>
            <a:r>
              <a:rPr dirty="0" sz="650" spc="-140">
                <a:latin typeface="Times New Roman"/>
                <a:cs typeface="Times New Roman"/>
              </a:rPr>
              <a:t>1</a:t>
            </a:r>
            <a:r>
              <a:rPr dirty="0" baseline="-8547" sz="975" spc="-209">
                <a:latin typeface="Times New Roman"/>
                <a:cs typeface="Times New Roman"/>
              </a:rPr>
              <a:t>.</a:t>
            </a:r>
            <a:r>
              <a:rPr dirty="0" baseline="-8547" sz="975" spc="37">
                <a:latin typeface="Times New Roman"/>
                <a:cs typeface="Times New Roman"/>
              </a:rPr>
              <a:t> </a:t>
            </a:r>
            <a:r>
              <a:rPr dirty="0" sz="650">
                <a:latin typeface="Times New Roman"/>
                <a:cs typeface="Times New Roman"/>
              </a:rPr>
              <a:t>0</a:t>
            </a:r>
            <a:r>
              <a:rPr dirty="0" sz="650" spc="-85">
                <a:latin typeface="Times New Roman"/>
                <a:cs typeface="Times New Roman"/>
              </a:rPr>
              <a:t> </a:t>
            </a:r>
            <a:r>
              <a:rPr dirty="0" sz="650" spc="-50">
                <a:latin typeface="Times New Roman"/>
                <a:cs typeface="Times New Roman"/>
              </a:rPr>
              <a:t>.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1783" y="524311"/>
            <a:ext cx="11004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Dependent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variable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09590" y="524311"/>
            <a:ext cx="34639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NDBIt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(built-</a:t>
            </a:r>
            <a:r>
              <a:rPr dirty="0" sz="1000">
                <a:latin typeface="Times New Roman"/>
                <a:cs typeface="Times New Roman"/>
              </a:rPr>
              <a:t>up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index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level);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β4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NDBIt−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1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subject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Nickellbias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/>
          <p:cNvSpPr/>
          <p:nvPr/>
        </p:nvSpPr>
        <p:spPr>
          <a:xfrm>
            <a:off x="305419" y="824862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9"/>
                </a:moveTo>
                <a:lnTo>
                  <a:pt x="16514" y="38079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5419" y="133892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5419" y="1852996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5419" y="2367063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16561" y="551948"/>
            <a:ext cx="5212715" cy="258381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250"/>
              </a:spcBef>
            </a:pPr>
            <a:r>
              <a:rPr dirty="0" sz="1000" b="1">
                <a:latin typeface="Times New Roman"/>
                <a:cs typeface="Times New Roman"/>
              </a:rPr>
              <a:t>Main</a:t>
            </a:r>
            <a:r>
              <a:rPr dirty="0" sz="1000" spc="32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Findings</a:t>
            </a:r>
            <a:endParaRPr sz="1000">
              <a:latin typeface="Times New Roman"/>
              <a:cs typeface="Times New Roman"/>
            </a:endParaRPr>
          </a:p>
          <a:p>
            <a:pPr marL="227965" marR="59690">
              <a:lnSpc>
                <a:spcPct val="112400"/>
              </a:lnSpc>
            </a:pPr>
            <a:r>
              <a:rPr dirty="0" sz="1000">
                <a:latin typeface="Times New Roman"/>
                <a:cs typeface="Times New Roman"/>
              </a:rPr>
              <a:t>Pooled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across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all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four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states,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flood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exposure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shows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no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statistically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significant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effect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night-</a:t>
            </a:r>
            <a:r>
              <a:rPr dirty="0" sz="1000">
                <a:latin typeface="Times New Roman"/>
                <a:cs typeface="Times New Roman"/>
              </a:rPr>
              <a:t>lights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growth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(Δ log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NL)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or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built-up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intensity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(NDBI)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—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pooled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coefficient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masks </a:t>
            </a:r>
            <a:r>
              <a:rPr dirty="0" sz="1000">
                <a:latin typeface="Times New Roman"/>
                <a:cs typeface="Times New Roman"/>
              </a:rPr>
              <a:t>substantial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state-level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heterogeneity.</a:t>
            </a:r>
            <a:endParaRPr sz="1000">
              <a:latin typeface="Times New Roman"/>
              <a:cs typeface="Times New Roman"/>
            </a:endParaRPr>
          </a:p>
          <a:p>
            <a:pPr marL="227965" marR="155575">
              <a:lnSpc>
                <a:spcPct val="112400"/>
              </a:lnSpc>
            </a:pPr>
            <a:r>
              <a:rPr dirty="0" sz="1000">
                <a:latin typeface="Times New Roman"/>
                <a:cs typeface="Times New Roman"/>
              </a:rPr>
              <a:t>West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Bengal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·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Flooding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significantly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reduces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night-lights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growth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(β</a:t>
            </a:r>
            <a:r>
              <a:rPr dirty="0" sz="1000" spc="-20">
                <a:latin typeface="Lucida Sans Unicode"/>
                <a:cs typeface="Lucida Sans Unicode"/>
              </a:rPr>
              <a:t>₁</a:t>
            </a:r>
            <a:r>
              <a:rPr dirty="0" sz="1000" spc="-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≈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−0.32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−0.39,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&lt;</a:t>
            </a:r>
            <a:r>
              <a:rPr dirty="0" sz="1000">
                <a:latin typeface="Times New Roman"/>
                <a:cs typeface="Times New Roman"/>
              </a:rPr>
              <a:t> 0.05)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—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strongest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most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consistent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evidence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economic-activity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contraction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across specifications.</a:t>
            </a:r>
            <a:endParaRPr sz="1000">
              <a:latin typeface="Times New Roman"/>
              <a:cs typeface="Times New Roman"/>
            </a:endParaRPr>
          </a:p>
          <a:p>
            <a:pPr marL="227965" marR="86360">
              <a:lnSpc>
                <a:spcPct val="112400"/>
              </a:lnSpc>
            </a:pPr>
            <a:r>
              <a:rPr dirty="0" sz="1000">
                <a:latin typeface="Times New Roman"/>
                <a:cs typeface="Times New Roman"/>
              </a:rPr>
              <a:t>Bihar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·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Flooding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significantly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reduces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built-up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index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(β</a:t>
            </a:r>
            <a:r>
              <a:rPr dirty="0" sz="1000" spc="-20">
                <a:latin typeface="Lucida Sans Unicode"/>
                <a:cs typeface="Lucida Sans Unicode"/>
              </a:rPr>
              <a:t>₁</a:t>
            </a:r>
            <a:r>
              <a:rPr dirty="0" sz="1000" spc="-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≈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−0.02,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&lt;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0.01)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shows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a</a:t>
            </a:r>
            <a:r>
              <a:rPr dirty="0" sz="1000">
                <a:latin typeface="Times New Roman"/>
                <a:cs typeface="Times New Roman"/>
              </a:rPr>
              <a:t> marginal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negative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night-lights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effect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—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consistent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structural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physical-damage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channel </a:t>
            </a:r>
            <a:r>
              <a:rPr dirty="0" sz="1000">
                <a:latin typeface="Times New Roman"/>
                <a:cs typeface="Times New Roman"/>
              </a:rPr>
              <a:t>rather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than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pure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activity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shock.</a:t>
            </a:r>
            <a:endParaRPr sz="1000">
              <a:latin typeface="Times New Roman"/>
              <a:cs typeface="Times New Roman"/>
            </a:endParaRPr>
          </a:p>
          <a:p>
            <a:pPr marL="227965" marR="5080">
              <a:lnSpc>
                <a:spcPct val="112400"/>
              </a:lnSpc>
            </a:pPr>
            <a:r>
              <a:rPr dirty="0" sz="1000">
                <a:latin typeface="Times New Roman"/>
                <a:cs typeface="Times New Roman"/>
              </a:rPr>
              <a:t>Jharkhand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Odisha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·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Flood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effects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are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noisy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or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counter-intuitive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across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both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outcomes,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likely </a:t>
            </a:r>
            <a:r>
              <a:rPr dirty="0" sz="1000">
                <a:latin typeface="Times New Roman"/>
                <a:cs typeface="Times New Roman"/>
              </a:rPr>
              <a:t>reflecting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small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AC-level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samples,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lower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flood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severity,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topographic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differences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from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the </a:t>
            </a:r>
            <a:r>
              <a:rPr dirty="0" sz="1000">
                <a:latin typeface="Times New Roman"/>
                <a:cs typeface="Times New Roman"/>
              </a:rPr>
              <a:t>Indo-Gangetic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plain.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00" spc="-5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/>
          <p:cNvSpPr/>
          <p:nvPr/>
        </p:nvSpPr>
        <p:spPr>
          <a:xfrm>
            <a:off x="285796" y="88244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9"/>
                </a:moveTo>
                <a:lnTo>
                  <a:pt x="16514" y="38079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5796" y="1396511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5796" y="1910578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9"/>
                </a:moveTo>
                <a:lnTo>
                  <a:pt x="16514" y="38079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5796" y="276735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96938" y="438175"/>
            <a:ext cx="5120640" cy="259588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000" spc="-5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000">
                <a:latin typeface="Times New Roman"/>
                <a:cs typeface="Times New Roman"/>
              </a:rPr>
              <a:t>W</a:t>
            </a:r>
            <a:r>
              <a:rPr dirty="0" sz="1000" b="1">
                <a:latin typeface="Times New Roman"/>
                <a:cs typeface="Times New Roman"/>
              </a:rPr>
              <a:t>hat</a:t>
            </a:r>
            <a:r>
              <a:rPr dirty="0" sz="1000" spc="4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This</a:t>
            </a:r>
            <a:r>
              <a:rPr dirty="0" sz="1000" spc="6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Implies</a:t>
            </a:r>
            <a:endParaRPr sz="1000">
              <a:latin typeface="Times New Roman"/>
              <a:cs typeface="Times New Roman"/>
            </a:endParaRPr>
          </a:p>
          <a:p>
            <a:pPr marL="227965" marR="125730">
              <a:lnSpc>
                <a:spcPct val="11240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flood-impact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channel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state-specific,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not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uniform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regional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phenomenon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—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pooling </a:t>
            </a:r>
            <a:r>
              <a:rPr dirty="0" sz="1000">
                <a:latin typeface="Times New Roman"/>
                <a:cs typeface="Times New Roman"/>
              </a:rPr>
              <a:t>four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states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into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single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regression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obscures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economically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meaningful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heterogeneous responses.</a:t>
            </a:r>
            <a:endParaRPr sz="1000">
              <a:latin typeface="Times New Roman"/>
              <a:cs typeface="Times New Roman"/>
            </a:endParaRPr>
          </a:p>
          <a:p>
            <a:pPr marL="227965" marR="19685" indent="76835">
              <a:lnSpc>
                <a:spcPct val="112400"/>
              </a:lnSpc>
              <a:buChar char="·"/>
              <a:tabLst>
                <a:tab pos="304800" algn="l"/>
              </a:tabLst>
            </a:pPr>
            <a:r>
              <a:rPr dirty="0" sz="1000">
                <a:latin typeface="Times New Roman"/>
                <a:cs typeface="Times New Roman"/>
              </a:rPr>
              <a:t>Night-lights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NDBI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capture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complementary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dimensions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of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flood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damage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—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NL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reflects </a:t>
            </a:r>
            <a:r>
              <a:rPr dirty="0" sz="1000">
                <a:latin typeface="Times New Roman"/>
                <a:cs typeface="Times New Roman"/>
              </a:rPr>
              <a:t>economic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flow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(activity,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electricity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use)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while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NDBI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reflects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physical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stock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(the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built environment).</a:t>
            </a:r>
            <a:endParaRPr sz="1000">
              <a:latin typeface="Times New Roman"/>
              <a:cs typeface="Times New Roman"/>
            </a:endParaRPr>
          </a:p>
          <a:p>
            <a:pPr marL="227965" marR="132080" indent="76835">
              <a:lnSpc>
                <a:spcPct val="112400"/>
              </a:lnSpc>
              <a:buChar char="·"/>
              <a:tabLst>
                <a:tab pos="304800" algn="l"/>
              </a:tabLst>
            </a:pPr>
            <a:r>
              <a:rPr dirty="0" sz="1000">
                <a:latin typeface="Times New Roman"/>
                <a:cs typeface="Times New Roman"/>
              </a:rPr>
              <a:t>Results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support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state-tailored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flood-resilience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adaptation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policy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rather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than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blanket </a:t>
            </a:r>
            <a:r>
              <a:rPr dirty="0" sz="1000">
                <a:latin typeface="Times New Roman"/>
                <a:cs typeface="Times New Roman"/>
              </a:rPr>
              <a:t>national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approach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—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Bihar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West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Bengal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warrant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priority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attention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given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significant findings.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-10" b="1">
                <a:latin typeface="Times New Roman"/>
                <a:cs typeface="Times New Roman"/>
              </a:rPr>
              <a:t>Caveat</a:t>
            </a:r>
            <a:endParaRPr sz="1000">
              <a:latin typeface="Times New Roman"/>
              <a:cs typeface="Times New Roman"/>
            </a:endParaRPr>
          </a:p>
          <a:p>
            <a:pPr marL="227965" marR="5080">
              <a:lnSpc>
                <a:spcPct val="112400"/>
              </a:lnSpc>
              <a:spcBef>
                <a:spcPts val="5"/>
              </a:spcBef>
            </a:pPr>
            <a:r>
              <a:rPr dirty="0" sz="1000">
                <a:latin typeface="Times New Roman"/>
                <a:cs typeface="Times New Roman"/>
              </a:rPr>
              <a:t>Short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panel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(T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=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5)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→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Nickell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bias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on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NDBI's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lagged-DV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coefficient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(~20%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downward);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the </a:t>
            </a:r>
            <a:r>
              <a:rPr dirty="0" sz="1000">
                <a:latin typeface="Times New Roman"/>
                <a:cs typeface="Times New Roman"/>
              </a:rPr>
              <a:t>flood</a:t>
            </a:r>
            <a:r>
              <a:rPr dirty="0" sz="1000" spc="5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coefficient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 spc="-35">
                <a:latin typeface="Times New Roman"/>
                <a:cs typeface="Times New Roman"/>
              </a:rPr>
              <a:t>β</a:t>
            </a:r>
            <a:r>
              <a:rPr dirty="0" sz="1000" spc="-35">
                <a:latin typeface="Lucida Sans Unicode"/>
                <a:cs typeface="Lucida Sans Unicode"/>
              </a:rPr>
              <a:t>₁</a:t>
            </a:r>
            <a:r>
              <a:rPr dirty="0" sz="1000" spc="-10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largely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unaffected.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Future</a:t>
            </a:r>
            <a:r>
              <a:rPr dirty="0" spc="-60"/>
              <a:t> </a:t>
            </a:r>
            <a:r>
              <a:rPr dirty="0" spc="-20"/>
              <a:t>Work</a:t>
            </a:r>
          </a:p>
        </p:txBody>
      </p:sp>
      <p:sp>
        <p:nvSpPr>
          <p:cNvPr id="3" name="object 3"/>
          <p:cNvSpPr/>
          <p:nvPr/>
        </p:nvSpPr>
        <p:spPr>
          <a:xfrm>
            <a:off x="199800" y="1079733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9"/>
                </a:moveTo>
                <a:lnTo>
                  <a:pt x="16514" y="38079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99800" y="1841313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9800" y="2450578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64" y="38078"/>
                </a:moveTo>
                <a:lnTo>
                  <a:pt x="16514" y="38078"/>
                </a:lnTo>
                <a:lnTo>
                  <a:pt x="14086" y="37595"/>
                </a:lnTo>
                <a:lnTo>
                  <a:pt x="0" y="21564"/>
                </a:lnTo>
                <a:lnTo>
                  <a:pt x="0" y="16514"/>
                </a:lnTo>
                <a:lnTo>
                  <a:pt x="16514" y="0"/>
                </a:lnTo>
                <a:lnTo>
                  <a:pt x="21564" y="0"/>
                </a:lnTo>
                <a:lnTo>
                  <a:pt x="38079" y="19039"/>
                </a:lnTo>
                <a:lnTo>
                  <a:pt x="38079" y="21564"/>
                </a:lnTo>
                <a:lnTo>
                  <a:pt x="21564" y="3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18634" y="692620"/>
            <a:ext cx="5177155" cy="20059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650" marR="103505" indent="-10858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120650" algn="l"/>
              </a:tabLst>
            </a:pPr>
            <a:r>
              <a:rPr dirty="0" sz="1000" b="1">
                <a:latin typeface="Times New Roman"/>
                <a:cs typeface="Times New Roman"/>
              </a:rPr>
              <a:t>How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does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flood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exposure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affect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road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connectivity,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and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can</a:t>
            </a:r>
            <a:r>
              <a:rPr dirty="0" sz="1000" spc="-10" b="1">
                <a:latin typeface="Times New Roman"/>
                <a:cs typeface="Times New Roman"/>
              </a:rPr>
              <a:t> better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roads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reduce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flood-related </a:t>
            </a:r>
            <a:r>
              <a:rPr dirty="0" sz="1000" b="1">
                <a:latin typeface="Times New Roman"/>
                <a:cs typeface="Times New Roman"/>
              </a:rPr>
              <a:t>economic</a:t>
            </a:r>
            <a:r>
              <a:rPr dirty="0" sz="1000" spc="-6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losses?</a:t>
            </a:r>
            <a:endParaRPr sz="1000">
              <a:latin typeface="Times New Roman"/>
              <a:cs typeface="Times New Roman"/>
            </a:endParaRPr>
          </a:p>
          <a:p>
            <a:pPr marL="120650" marR="265430">
              <a:lnSpc>
                <a:spcPts val="1200"/>
              </a:lnSpc>
              <a:spcBef>
                <a:spcPts val="35"/>
              </a:spcBef>
            </a:pPr>
            <a:r>
              <a:rPr dirty="0" sz="1000">
                <a:latin typeface="Times New Roman"/>
                <a:cs typeface="Times New Roman"/>
              </a:rPr>
              <a:t>Using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Geo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Sadak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road-</a:t>
            </a:r>
            <a:r>
              <a:rPr dirty="0" sz="1000">
                <a:latin typeface="Times New Roman"/>
                <a:cs typeface="Times New Roman"/>
              </a:rPr>
              <a:t>network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data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at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the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Assembly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Constituency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(AC)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level,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flood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×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road-</a:t>
            </a:r>
            <a:r>
              <a:rPr dirty="0" sz="1000">
                <a:latin typeface="Times New Roman"/>
                <a:cs typeface="Times New Roman"/>
              </a:rPr>
              <a:t>density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interaction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term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added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night-</a:t>
            </a:r>
            <a:r>
              <a:rPr dirty="0" sz="1000">
                <a:latin typeface="Times New Roman"/>
                <a:cs typeface="Times New Roman"/>
              </a:rPr>
              <a:t>lights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(VIIRS/DMSP)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fixed-effects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OLS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model.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Times New Roman"/>
              <a:cs typeface="Times New Roman"/>
            </a:endParaRPr>
          </a:p>
          <a:p>
            <a:pPr marL="120650" marR="324485" indent="-108585">
              <a:lnSpc>
                <a:spcPct val="100000"/>
              </a:lnSpc>
              <a:buAutoNum type="arabicPeriod" startAt="2"/>
              <a:tabLst>
                <a:tab pos="120650" algn="l"/>
              </a:tabLst>
            </a:pPr>
            <a:r>
              <a:rPr dirty="0" sz="1000">
                <a:latin typeface="Times New Roman"/>
                <a:cs typeface="Times New Roman"/>
              </a:rPr>
              <a:t>D</a:t>
            </a:r>
            <a:r>
              <a:rPr dirty="0" sz="1000" b="1">
                <a:latin typeface="Times New Roman"/>
                <a:cs typeface="Times New Roman"/>
              </a:rPr>
              <a:t>o</a:t>
            </a:r>
            <a:r>
              <a:rPr dirty="0" sz="1000" spc="-10" b="1">
                <a:latin typeface="Times New Roman"/>
                <a:cs typeface="Times New Roman"/>
              </a:rPr>
              <a:t> constituencies</a:t>
            </a:r>
            <a:r>
              <a:rPr dirty="0" sz="1000" spc="-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with</a:t>
            </a:r>
            <a:r>
              <a:rPr dirty="0" sz="1000" spc="-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better</a:t>
            </a:r>
            <a:r>
              <a:rPr dirty="0" sz="1000" spc="-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road</a:t>
            </a:r>
            <a:r>
              <a:rPr dirty="0" sz="1000" spc="-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infrastructure</a:t>
            </a:r>
            <a:r>
              <a:rPr dirty="0" sz="1000" spc="-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experience </a:t>
            </a:r>
            <a:r>
              <a:rPr dirty="0" sz="1000" b="1">
                <a:latin typeface="Times New Roman"/>
                <a:cs typeface="Times New Roman"/>
              </a:rPr>
              <a:t>lower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economic</a:t>
            </a:r>
            <a:r>
              <a:rPr dirty="0" sz="1000" spc="-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disruption </a:t>
            </a:r>
            <a:r>
              <a:rPr dirty="0" sz="1000" b="1">
                <a:latin typeface="Times New Roman"/>
                <a:cs typeface="Times New Roman"/>
              </a:rPr>
              <a:t>during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floods?</a:t>
            </a:r>
            <a:endParaRPr sz="1000">
              <a:latin typeface="Times New Roman"/>
              <a:cs typeface="Times New Roman"/>
            </a:endParaRPr>
          </a:p>
          <a:p>
            <a:pPr marL="120650" marR="463550">
              <a:lnSpc>
                <a:spcPts val="1200"/>
              </a:lnSpc>
              <a:spcBef>
                <a:spcPts val="40"/>
              </a:spcBef>
            </a:pPr>
            <a:r>
              <a:rPr dirty="0" sz="1000">
                <a:latin typeface="Times New Roman"/>
                <a:cs typeface="Times New Roman"/>
              </a:rPr>
              <a:t>This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will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tested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using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AC-</a:t>
            </a:r>
            <a:r>
              <a:rPr dirty="0" sz="1000">
                <a:latin typeface="Times New Roman"/>
                <a:cs typeface="Times New Roman"/>
              </a:rPr>
              <a:t>level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road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density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through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interaction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terms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or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sample-</a:t>
            </a:r>
            <a:r>
              <a:rPr dirty="0" sz="1000" spc="4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split regressions</a:t>
            </a:r>
            <a:r>
              <a:rPr dirty="0" sz="1000">
                <a:latin typeface="Times New Roman"/>
                <a:cs typeface="Times New Roman"/>
              </a:rPr>
              <a:t> within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night-</a:t>
            </a:r>
            <a:r>
              <a:rPr dirty="0" sz="1000">
                <a:latin typeface="Times New Roman"/>
                <a:cs typeface="Times New Roman"/>
              </a:rPr>
              <a:t>lights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fixed-effects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panel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framework.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Times New Roman"/>
              <a:cs typeface="Times New Roman"/>
            </a:endParaRPr>
          </a:p>
          <a:p>
            <a:pPr marL="120650" marR="5080" indent="-108585">
              <a:lnSpc>
                <a:spcPct val="100000"/>
              </a:lnSpc>
              <a:buAutoNum type="arabicPeriod" startAt="3"/>
              <a:tabLst>
                <a:tab pos="120650" algn="l"/>
              </a:tabLst>
            </a:pPr>
            <a:r>
              <a:rPr dirty="0" sz="1000">
                <a:latin typeface="Times New Roman"/>
                <a:cs typeface="Times New Roman"/>
              </a:rPr>
              <a:t>A</a:t>
            </a:r>
            <a:r>
              <a:rPr dirty="0" sz="1000" b="1">
                <a:latin typeface="Times New Roman"/>
                <a:cs typeface="Times New Roman"/>
              </a:rPr>
              <a:t>re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urbanised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or</a:t>
            </a:r>
            <a:r>
              <a:rPr dirty="0" sz="1000" spc="-3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built-</a:t>
            </a:r>
            <a:r>
              <a:rPr dirty="0" sz="1000" b="1">
                <a:latin typeface="Times New Roman"/>
                <a:cs typeface="Times New Roman"/>
              </a:rPr>
              <a:t>up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regions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more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economically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vulnerable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to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floods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than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rural</a:t>
            </a:r>
            <a:r>
              <a:rPr dirty="0" sz="1000" spc="-20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areas?</a:t>
            </a:r>
            <a:r>
              <a:rPr dirty="0" sz="1000" spc="500" b="1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A</a:t>
            </a:r>
            <a:r>
              <a:rPr dirty="0" sz="1000" spc="-6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heterogeneity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analysis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conducted </a:t>
            </a:r>
            <a:r>
              <a:rPr dirty="0" sz="1000">
                <a:latin typeface="Times New Roman"/>
                <a:cs typeface="Times New Roman"/>
              </a:rPr>
              <a:t>using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flood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×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baseline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NDBI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interaction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terms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or</a:t>
            </a:r>
            <a:r>
              <a:rPr dirty="0" sz="1000" spc="-10">
                <a:latin typeface="Times New Roman"/>
                <a:cs typeface="Times New Roman"/>
              </a:rPr>
              <a:t> urban-rural </a:t>
            </a:r>
            <a:r>
              <a:rPr dirty="0" sz="1000">
                <a:latin typeface="Times New Roman"/>
                <a:cs typeface="Times New Roman"/>
              </a:rPr>
              <a:t>AC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classifications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within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the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fixed-effects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night-</a:t>
            </a:r>
            <a:r>
              <a:rPr dirty="0" sz="1000">
                <a:latin typeface="Times New Roman"/>
                <a:cs typeface="Times New Roman"/>
              </a:rPr>
              <a:t>lights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regression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model.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93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942" y="393457"/>
            <a:ext cx="3587115" cy="2806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37515">
              <a:lnSpc>
                <a:spcPct val="112599"/>
              </a:lnSpc>
              <a:spcBef>
                <a:spcPts val="100"/>
              </a:spcBef>
            </a:pPr>
            <a:r>
              <a:rPr dirty="0" sz="900">
                <a:latin typeface="Times New Roman"/>
                <a:cs typeface="Times New Roman"/>
              </a:rPr>
              <a:t>Jain,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S.K.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et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al.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(2006).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Flood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inundation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mapping.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Natural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Hazards. Kale,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40">
                <a:latin typeface="Times New Roman"/>
                <a:cs typeface="Times New Roman"/>
              </a:rPr>
              <a:t>V.S.</a:t>
            </a:r>
            <a:r>
              <a:rPr dirty="0" sz="90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(2003).</a:t>
            </a:r>
            <a:r>
              <a:rPr dirty="0" sz="90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Monsoon</a:t>
            </a:r>
            <a:r>
              <a:rPr dirty="0" sz="90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floods</a:t>
            </a:r>
            <a:r>
              <a:rPr dirty="0" sz="900">
                <a:latin typeface="Times New Roman"/>
                <a:cs typeface="Times New Roman"/>
              </a:rPr>
              <a:t> on </a:t>
            </a:r>
            <a:r>
              <a:rPr dirty="0" sz="900" spc="-10">
                <a:latin typeface="Times New Roman"/>
                <a:cs typeface="Times New Roman"/>
              </a:rPr>
              <a:t>Indian</a:t>
            </a:r>
            <a:r>
              <a:rPr dirty="0" sz="90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rivers.</a:t>
            </a:r>
            <a:r>
              <a:rPr dirty="0" sz="90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Natural</a:t>
            </a:r>
            <a:r>
              <a:rPr dirty="0" sz="90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Hazards.</a:t>
            </a:r>
            <a:endParaRPr sz="900">
              <a:latin typeface="Times New Roman"/>
              <a:cs typeface="Times New Roman"/>
            </a:endParaRPr>
          </a:p>
          <a:p>
            <a:pPr marL="12700" marR="5080">
              <a:lnSpc>
                <a:spcPct val="112599"/>
              </a:lnSpc>
            </a:pPr>
            <a:r>
              <a:rPr dirty="0" sz="900" spc="-10">
                <a:latin typeface="Times New Roman"/>
                <a:cs typeface="Times New Roman"/>
              </a:rPr>
              <a:t>Nickell,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S.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(1981). Biases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dynamic models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with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fixed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effects.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Econometrica. Pekel,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20">
                <a:latin typeface="Times New Roman"/>
                <a:cs typeface="Times New Roman"/>
              </a:rPr>
              <a:t>J.F.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et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al.</a:t>
            </a:r>
            <a:r>
              <a:rPr dirty="0" sz="900" spc="-10">
                <a:latin typeface="Times New Roman"/>
                <a:cs typeface="Times New Roman"/>
              </a:rPr>
              <a:t> (2016).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Global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surface </a:t>
            </a:r>
            <a:r>
              <a:rPr dirty="0" sz="900">
                <a:latin typeface="Times New Roman"/>
                <a:cs typeface="Times New Roman"/>
              </a:rPr>
              <a:t>water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mapping.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Nature.</a:t>
            </a:r>
            <a:endParaRPr sz="900">
              <a:latin typeface="Times New Roman"/>
              <a:cs typeface="Times New Roman"/>
            </a:endParaRPr>
          </a:p>
          <a:p>
            <a:pPr marL="12700" marR="567690">
              <a:lnSpc>
                <a:spcPct val="112599"/>
              </a:lnSpc>
            </a:pPr>
            <a:r>
              <a:rPr dirty="0" sz="900" spc="-10">
                <a:latin typeface="Times New Roman"/>
                <a:cs typeface="Times New Roman"/>
              </a:rPr>
              <a:t>Sinha,</a:t>
            </a:r>
            <a:r>
              <a:rPr dirty="0" sz="900" spc="-4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R.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et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al.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(2008).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Flood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risk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Kosi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basin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using</a:t>
            </a:r>
            <a:r>
              <a:rPr dirty="0" sz="900" spc="-60">
                <a:latin typeface="Times New Roman"/>
                <a:cs typeface="Times New Roman"/>
              </a:rPr>
              <a:t> </a:t>
            </a:r>
            <a:r>
              <a:rPr dirty="0" sz="900" spc="-30">
                <a:latin typeface="Times New Roman"/>
                <a:cs typeface="Times New Roman"/>
              </a:rPr>
              <a:t>AHP.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JISRS. Census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of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India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(2011).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Office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of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the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Registrar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General,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20">
                <a:latin typeface="Times New Roman"/>
                <a:cs typeface="Times New Roman"/>
              </a:rPr>
              <a:t>GoI.</a:t>
            </a:r>
            <a:r>
              <a:rPr dirty="0" sz="900" spc="50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CWC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(2024).</a:t>
            </a:r>
            <a:r>
              <a:rPr dirty="0" sz="900" spc="-6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Annual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Flood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Damage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Report.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20">
                <a:latin typeface="Times New Roman"/>
                <a:cs typeface="Times New Roman"/>
              </a:rPr>
              <a:t>GoI.</a:t>
            </a:r>
            <a:endParaRPr sz="900">
              <a:latin typeface="Times New Roman"/>
              <a:cs typeface="Times New Roman"/>
            </a:endParaRPr>
          </a:p>
          <a:p>
            <a:pPr marL="12700" marR="610235">
              <a:lnSpc>
                <a:spcPct val="112599"/>
              </a:lnSpc>
            </a:pPr>
            <a:r>
              <a:rPr dirty="0" sz="900">
                <a:latin typeface="Times New Roman"/>
                <a:cs typeface="Times New Roman"/>
              </a:rPr>
              <a:t>ECI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(2008). Delimitation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Files</a:t>
            </a:r>
            <a:r>
              <a:rPr dirty="0" sz="900" spc="-10">
                <a:latin typeface="Times New Roman"/>
                <a:cs typeface="Times New Roman"/>
              </a:rPr>
              <a:t> for</a:t>
            </a:r>
            <a:r>
              <a:rPr dirty="0" sz="900" spc="-6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Assembly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Constituencies.</a:t>
            </a:r>
            <a:r>
              <a:rPr dirty="0" sz="900" spc="50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GoB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(2024).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State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Flood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Reports.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Dept.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of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Disaster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Management. </a:t>
            </a:r>
            <a:r>
              <a:rPr dirty="0" sz="900">
                <a:latin typeface="Times New Roman"/>
                <a:cs typeface="Times New Roman"/>
              </a:rPr>
              <a:t>MoSPI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(2024).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State-</a:t>
            </a:r>
            <a:r>
              <a:rPr dirty="0" sz="900">
                <a:latin typeface="Times New Roman"/>
                <a:cs typeface="Times New Roman"/>
              </a:rPr>
              <a:t>wise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Per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Capita</a:t>
            </a:r>
            <a:r>
              <a:rPr dirty="0" sz="900" spc="-25">
                <a:latin typeface="Times New Roman"/>
                <a:cs typeface="Times New Roman"/>
              </a:rPr>
              <a:t> NSDP.</a:t>
            </a:r>
            <a:r>
              <a:rPr dirty="0" sz="900" spc="-20">
                <a:latin typeface="Times New Roman"/>
                <a:cs typeface="Times New Roman"/>
              </a:rPr>
              <a:t> GoI.</a:t>
            </a:r>
            <a:endParaRPr sz="900">
              <a:latin typeface="Times New Roman"/>
              <a:cs typeface="Times New Roman"/>
            </a:endParaRPr>
          </a:p>
          <a:p>
            <a:pPr marL="12700" marR="820419">
              <a:lnSpc>
                <a:spcPct val="112599"/>
              </a:lnSpc>
            </a:pPr>
            <a:r>
              <a:rPr dirty="0" sz="900" spc="-20">
                <a:latin typeface="Times New Roman"/>
                <a:cs typeface="Times New Roman"/>
              </a:rPr>
              <a:t>NDMA</a:t>
            </a:r>
            <a:r>
              <a:rPr dirty="0" sz="900" spc="-5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(2024).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Flood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Frequency</a:t>
            </a:r>
            <a:r>
              <a:rPr dirty="0" sz="900">
                <a:latin typeface="Times New Roman"/>
                <a:cs typeface="Times New Roman"/>
              </a:rPr>
              <a:t> &amp;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Damage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Statistics.</a:t>
            </a:r>
            <a:r>
              <a:rPr dirty="0" sz="900">
                <a:latin typeface="Times New Roman"/>
                <a:cs typeface="Times New Roman"/>
              </a:rPr>
              <a:t> </a:t>
            </a:r>
            <a:r>
              <a:rPr dirty="0" sz="900" spc="-20">
                <a:latin typeface="Times New Roman"/>
                <a:cs typeface="Times New Roman"/>
              </a:rPr>
              <a:t>GoI. </a:t>
            </a:r>
            <a:r>
              <a:rPr dirty="0" sz="900">
                <a:latin typeface="Times New Roman"/>
                <a:cs typeface="Times New Roman"/>
              </a:rPr>
              <a:t>NIDM</a:t>
            </a:r>
            <a:r>
              <a:rPr dirty="0" sz="900" spc="-5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(2024).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Flood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Hazard</a:t>
            </a:r>
            <a:r>
              <a:rPr dirty="0" sz="900" spc="-6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Atlas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of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India.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 spc="-20">
                <a:latin typeface="Times New Roman"/>
                <a:cs typeface="Times New Roman"/>
              </a:rPr>
              <a:t>GoI. </a:t>
            </a:r>
            <a:r>
              <a:rPr dirty="0" sz="900" spc="-10">
                <a:latin typeface="Times New Roman"/>
                <a:cs typeface="Times New Roman"/>
              </a:rPr>
              <a:t>NRSC/ISRO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&amp;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20">
                <a:latin typeface="Times New Roman"/>
                <a:cs typeface="Times New Roman"/>
              </a:rPr>
              <a:t>NDMA</a:t>
            </a:r>
            <a:r>
              <a:rPr dirty="0" sz="900" spc="-6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(2010).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Flood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Hazard</a:t>
            </a:r>
            <a:r>
              <a:rPr dirty="0" sz="900" spc="-6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Atlas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of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Bihar. </a:t>
            </a:r>
            <a:r>
              <a:rPr dirty="0" sz="900">
                <a:latin typeface="Times New Roman"/>
                <a:cs typeface="Times New Roman"/>
              </a:rPr>
              <a:t>GEE</a:t>
            </a:r>
            <a:r>
              <a:rPr dirty="0" sz="900" spc="-10">
                <a:latin typeface="Times New Roman"/>
                <a:cs typeface="Times New Roman"/>
              </a:rPr>
              <a:t> (2024).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Landsat-</a:t>
            </a:r>
            <a:r>
              <a:rPr dirty="0" sz="900">
                <a:latin typeface="Times New Roman"/>
                <a:cs typeface="Times New Roman"/>
              </a:rPr>
              <a:t>8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Surface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Reflectance.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USGS/NASA.</a:t>
            </a:r>
            <a:endParaRPr sz="900">
              <a:latin typeface="Times New Roman"/>
              <a:cs typeface="Times New Roman"/>
            </a:endParaRPr>
          </a:p>
          <a:p>
            <a:pPr marL="12700" marR="539750">
              <a:lnSpc>
                <a:spcPct val="112599"/>
              </a:lnSpc>
            </a:pPr>
            <a:r>
              <a:rPr dirty="0" sz="900">
                <a:latin typeface="Times New Roman"/>
                <a:cs typeface="Times New Roman"/>
              </a:rPr>
              <a:t>JRC</a:t>
            </a:r>
            <a:r>
              <a:rPr dirty="0" sz="900" spc="-10">
                <a:latin typeface="Times New Roman"/>
                <a:cs typeface="Times New Roman"/>
              </a:rPr>
              <a:t> (2024).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Global Surface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20">
                <a:latin typeface="Times New Roman"/>
                <a:cs typeface="Times New Roman"/>
              </a:rPr>
              <a:t>Water</a:t>
            </a:r>
            <a:r>
              <a:rPr dirty="0" sz="900" spc="-10">
                <a:latin typeface="Times New Roman"/>
                <a:cs typeface="Times New Roman"/>
              </a:rPr>
              <a:t> Dataset.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European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Commission. </a:t>
            </a:r>
            <a:r>
              <a:rPr dirty="0" sz="900" spc="-20">
                <a:latin typeface="Times New Roman"/>
                <a:cs typeface="Times New Roman"/>
              </a:rPr>
              <a:t>MoRTH </a:t>
            </a:r>
            <a:r>
              <a:rPr dirty="0" sz="900" spc="-10">
                <a:latin typeface="Times New Roman"/>
                <a:cs typeface="Times New Roman"/>
              </a:rPr>
              <a:t>(2024).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Geo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Sadak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Road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Infrastructure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Database.</a:t>
            </a:r>
            <a:r>
              <a:rPr dirty="0" sz="900" spc="-20">
                <a:latin typeface="Times New Roman"/>
                <a:cs typeface="Times New Roman"/>
              </a:rPr>
              <a:t> GoI. </a:t>
            </a:r>
            <a:r>
              <a:rPr dirty="0" sz="900" spc="-10">
                <a:latin typeface="Times New Roman"/>
                <a:cs typeface="Times New Roman"/>
              </a:rPr>
              <a:t>NOAA/VIIRS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(2024). Day-</a:t>
            </a:r>
            <a:r>
              <a:rPr dirty="0" sz="900">
                <a:latin typeface="Times New Roman"/>
                <a:cs typeface="Times New Roman"/>
              </a:rPr>
              <a:t>Night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Band</a:t>
            </a:r>
            <a:r>
              <a:rPr dirty="0" sz="900" spc="-6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Annual Composites.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00" spc="-20">
                <a:latin typeface="Times New Roman"/>
                <a:cs typeface="Times New Roman"/>
              </a:rPr>
              <a:t>NOAA/DMSP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(2014).</a:t>
            </a:r>
            <a:r>
              <a:rPr dirty="0" sz="900" spc="1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Nighttime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Lights</a:t>
            </a:r>
            <a:r>
              <a:rPr dirty="0" sz="900" spc="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—</a:t>
            </a:r>
            <a:r>
              <a:rPr dirty="0" sz="900" spc="1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Operational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Linescan</a:t>
            </a:r>
            <a:r>
              <a:rPr dirty="0" sz="900" spc="1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System.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shreya</dc:creator>
  <cp:keywords>DAHJL9fYrMs,BAG0SJtateI,0</cp:keywords>
  <dc:title>final ppt</dc:title>
  <dcterms:created xsi:type="dcterms:W3CDTF">2026-05-11T06:29:31Z</dcterms:created>
  <dcterms:modified xsi:type="dcterms:W3CDTF">2026-05-11T06:29:31Z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2026-05-11T00:00:00Z</vt:filetime>
  </property>
  <property fmtid="{D5CDD505-2E9C-101B-9397-08002B2CF9AE}" pid="4" name="Creator">
    <vt:lpwstr>Canva</vt:lpwstr>
  </property>
  <property fmtid="{D5CDD505-2E9C-101B-9397-08002B2CF9AE}" pid="5" name="LastSaved">
    <vt:filetime>2026-05-11T00:00:00Z</vt:filetime>
  </property>
  <property fmtid="{D5CDD505-2E9C-101B-9397-08002B2CF9AE}" pid="6" name="Producer">
    <vt:lpwstr>Canva</vt:lpwstr>
  </property>
</Properties>
</file>